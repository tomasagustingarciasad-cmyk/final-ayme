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Lst>
  <p:sldSz cy="6858000" cx="12192000"/>
  <p:notesSz cx="6858000" cy="9144000"/>
  <p:embeddedFontLst>
    <p:embeddedFont>
      <p:font typeface="Playfair Display"/>
      <p:regular r:id="rId119"/>
      <p:bold r:id="rId120"/>
      <p:italic r:id="rId121"/>
      <p:boldItalic r:id="rId122"/>
    </p:embeddedFont>
    <p:embeddedFont>
      <p:font typeface="Lato"/>
      <p:regular r:id="rId123"/>
      <p:bold r:id="rId124"/>
      <p:italic r:id="rId125"/>
      <p:boldItalic r:id="rId126"/>
    </p:embeddedFont>
    <p:embeddedFont>
      <p:font typeface="Cambria Math"/>
      <p:regular r:id="rId1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28" roundtripDataSignature="AMtx7mjhetD7qqQnUjMPZVaJjBeVsTPM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9" Type="http://schemas.openxmlformats.org/officeDocument/2006/relationships/slide" Target="slides/slide105.xml"/><Relationship Id="rId108" Type="http://schemas.openxmlformats.org/officeDocument/2006/relationships/slide" Target="slides/slide104.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28" Type="http://customschemas.google.com/relationships/presentationmetadata" Target="metadata"/><Relationship Id="rId127" Type="http://schemas.openxmlformats.org/officeDocument/2006/relationships/font" Target="fonts/CambriaMath-regular.fntdata"/><Relationship Id="rId126" Type="http://schemas.openxmlformats.org/officeDocument/2006/relationships/font" Target="fonts/Lato-boldItalic.fntdata"/><Relationship Id="rId26" Type="http://schemas.openxmlformats.org/officeDocument/2006/relationships/slide" Target="slides/slide22.xml"/><Relationship Id="rId121" Type="http://schemas.openxmlformats.org/officeDocument/2006/relationships/font" Target="fonts/PlayfairDisplay-italic.fntdata"/><Relationship Id="rId25" Type="http://schemas.openxmlformats.org/officeDocument/2006/relationships/slide" Target="slides/slide21.xml"/><Relationship Id="rId120" Type="http://schemas.openxmlformats.org/officeDocument/2006/relationships/font" Target="fonts/PlayfairDisplay-bold.fntdata"/><Relationship Id="rId28" Type="http://schemas.openxmlformats.org/officeDocument/2006/relationships/slide" Target="slides/slide24.xml"/><Relationship Id="rId27" Type="http://schemas.openxmlformats.org/officeDocument/2006/relationships/slide" Target="slides/slide23.xml"/><Relationship Id="rId125" Type="http://schemas.openxmlformats.org/officeDocument/2006/relationships/font" Target="fonts/Lato-italic.fntdata"/><Relationship Id="rId29" Type="http://schemas.openxmlformats.org/officeDocument/2006/relationships/slide" Target="slides/slide25.xml"/><Relationship Id="rId124" Type="http://schemas.openxmlformats.org/officeDocument/2006/relationships/font" Target="fonts/Lato-bold.fntdata"/><Relationship Id="rId123" Type="http://schemas.openxmlformats.org/officeDocument/2006/relationships/font" Target="fonts/Lato-regular.fntdata"/><Relationship Id="rId122" Type="http://schemas.openxmlformats.org/officeDocument/2006/relationships/font" Target="fonts/PlayfairDisplay-boldItalic.fntdata"/><Relationship Id="rId95" Type="http://schemas.openxmlformats.org/officeDocument/2006/relationships/slide" Target="slides/slide91.xml"/><Relationship Id="rId94" Type="http://schemas.openxmlformats.org/officeDocument/2006/relationships/slide" Target="slides/slide90.xml"/><Relationship Id="rId97" Type="http://schemas.openxmlformats.org/officeDocument/2006/relationships/slide" Target="slides/slide93.xml"/><Relationship Id="rId96" Type="http://schemas.openxmlformats.org/officeDocument/2006/relationships/slide" Target="slides/slide92.xml"/><Relationship Id="rId11" Type="http://schemas.openxmlformats.org/officeDocument/2006/relationships/slide" Target="slides/slide7.xml"/><Relationship Id="rId99" Type="http://schemas.openxmlformats.org/officeDocument/2006/relationships/slide" Target="slides/slide95.xml"/><Relationship Id="rId10" Type="http://schemas.openxmlformats.org/officeDocument/2006/relationships/slide" Target="slides/slide6.xml"/><Relationship Id="rId98" Type="http://schemas.openxmlformats.org/officeDocument/2006/relationships/slide" Target="slides/slide94.xml"/><Relationship Id="rId13" Type="http://schemas.openxmlformats.org/officeDocument/2006/relationships/slide" Target="slides/slide9.xml"/><Relationship Id="rId12" Type="http://schemas.openxmlformats.org/officeDocument/2006/relationships/slide" Target="slides/slide8.xml"/><Relationship Id="rId91" Type="http://schemas.openxmlformats.org/officeDocument/2006/relationships/slide" Target="slides/slide87.xml"/><Relationship Id="rId90" Type="http://schemas.openxmlformats.org/officeDocument/2006/relationships/slide" Target="slides/slide86.xml"/><Relationship Id="rId93" Type="http://schemas.openxmlformats.org/officeDocument/2006/relationships/slide" Target="slides/slide89.xml"/><Relationship Id="rId92" Type="http://schemas.openxmlformats.org/officeDocument/2006/relationships/slide" Target="slides/slide88.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9" Type="http://schemas.openxmlformats.org/officeDocument/2006/relationships/font" Target="fonts/PlayfairDisplay-regular.fntdata"/><Relationship Id="rId15" Type="http://schemas.openxmlformats.org/officeDocument/2006/relationships/slide" Target="slides/slide11.xml"/><Relationship Id="rId110" Type="http://schemas.openxmlformats.org/officeDocument/2006/relationships/slide" Target="slides/slide106.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14" Type="http://schemas.openxmlformats.org/officeDocument/2006/relationships/slide" Target="slides/slide110.xml"/><Relationship Id="rId18" Type="http://schemas.openxmlformats.org/officeDocument/2006/relationships/slide" Target="slides/slide14.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84" Type="http://schemas.openxmlformats.org/officeDocument/2006/relationships/slide" Target="slides/slide80.xml"/><Relationship Id="rId83" Type="http://schemas.openxmlformats.org/officeDocument/2006/relationships/slide" Target="slides/slide79.xml"/><Relationship Id="rId86" Type="http://schemas.openxmlformats.org/officeDocument/2006/relationships/slide" Target="slides/slide82.xml"/><Relationship Id="rId85" Type="http://schemas.openxmlformats.org/officeDocument/2006/relationships/slide" Target="slides/slide81.xml"/><Relationship Id="rId88" Type="http://schemas.openxmlformats.org/officeDocument/2006/relationships/slide" Target="slides/slide84.xml"/><Relationship Id="rId87" Type="http://schemas.openxmlformats.org/officeDocument/2006/relationships/slide" Target="slides/slide83.xml"/><Relationship Id="rId89" Type="http://schemas.openxmlformats.org/officeDocument/2006/relationships/slide" Target="slides/slide85.xml"/><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75" Type="http://schemas.openxmlformats.org/officeDocument/2006/relationships/slide" Target="slides/slide71.xml"/><Relationship Id="rId74" Type="http://schemas.openxmlformats.org/officeDocument/2006/relationships/slide" Target="slides/slide70.xml"/><Relationship Id="rId77" Type="http://schemas.openxmlformats.org/officeDocument/2006/relationships/slide" Target="slides/slide73.xml"/><Relationship Id="rId76" Type="http://schemas.openxmlformats.org/officeDocument/2006/relationships/slide" Target="slides/slide72.xml"/><Relationship Id="rId79" Type="http://schemas.openxmlformats.org/officeDocument/2006/relationships/slide" Target="slides/slide75.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62" Type="http://schemas.openxmlformats.org/officeDocument/2006/relationships/slide" Target="slides/slide58.xml"/><Relationship Id="rId61" Type="http://schemas.openxmlformats.org/officeDocument/2006/relationships/slide" Target="slides/slide57.xml"/><Relationship Id="rId64" Type="http://schemas.openxmlformats.org/officeDocument/2006/relationships/slide" Target="slides/slide60.xml"/><Relationship Id="rId63" Type="http://schemas.openxmlformats.org/officeDocument/2006/relationships/slide" Target="slides/slide59.xml"/><Relationship Id="rId66" Type="http://schemas.openxmlformats.org/officeDocument/2006/relationships/slide" Target="slides/slide62.xml"/><Relationship Id="rId65" Type="http://schemas.openxmlformats.org/officeDocument/2006/relationships/slide" Target="slides/slide61.xml"/><Relationship Id="rId68" Type="http://schemas.openxmlformats.org/officeDocument/2006/relationships/slide" Target="slides/slide64.xml"/><Relationship Id="rId67" Type="http://schemas.openxmlformats.org/officeDocument/2006/relationships/slide" Target="slides/slide63.xml"/><Relationship Id="rId60" Type="http://schemas.openxmlformats.org/officeDocument/2006/relationships/slide" Target="slides/slide56.xml"/><Relationship Id="rId69" Type="http://schemas.openxmlformats.org/officeDocument/2006/relationships/slide" Target="slides/slide6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55" Type="http://schemas.openxmlformats.org/officeDocument/2006/relationships/slide" Target="slides/slide51.xml"/><Relationship Id="rId54" Type="http://schemas.openxmlformats.org/officeDocument/2006/relationships/slide" Target="slides/slide50.xml"/><Relationship Id="rId57" Type="http://schemas.openxmlformats.org/officeDocument/2006/relationships/slide" Target="slides/slide53.xml"/><Relationship Id="rId56" Type="http://schemas.openxmlformats.org/officeDocument/2006/relationships/slide" Target="slides/slide52.xml"/><Relationship Id="rId59" Type="http://schemas.openxmlformats.org/officeDocument/2006/relationships/slide" Target="slides/slide55.xml"/><Relationship Id="rId58"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446180b9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g3446180b99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388f479b5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388f479b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388f479b56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388f479b5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388f479b56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388f479b5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4155d50a00_0_2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4155d50a00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388f479b56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388f479b5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46a895f855_0_1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46a895f855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388f479b56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388f479b5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388f479b56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388f479b5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388f479b56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388f479b5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388f479b56_0_1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388f479b56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46a895f855_0_1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46a895f855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46a895f855_0_1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46a895f855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46a895f855_0_1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46a895f855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46a895f855_0_2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46a895f855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46a895f855_0_2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46a895f855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46a895f855_0_3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46a895f855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388f479b56_0_2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388f479b56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388f479b56_0_2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388f479b56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388f479b56_0_2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388f479b56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388f479b56_0_2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388f479b56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388f479b56_0_2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388f479b56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388f479b56_0_2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388f479b56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388f479b56_0_2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388f479b56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388f479b56_0_2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388f479b56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388f479b56_0_2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388f479b56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388f479b56_0_2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388f479b56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388f479b56_0_2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388f479b56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388f479b56_0_3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388f479b56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388f479b56_0_3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388f479b56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388f479b56_0_3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3388f479b56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4155d50a00_0_3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4155d50a00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388f479b56_0_3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388f479b56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388f479b56_0_3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3388f479b56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388f479b56_0_3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3388f479b56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388f479b56_0_3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388f479b56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388f479b56_0_3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388f479b56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388f479b56_0_3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3388f479b56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388f479b56_0_3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388f479b56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388f479b56_0_3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3388f479b56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388f479b56_0_4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388f479b56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388f479b56_0_4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3388f479b56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388f479b56_0_4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388f479b56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388f479b56_0_4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388f479b56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388f479b56_0_4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3388f479b56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46a895f855_0_4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346a895f855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388f479b56_0_4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3388f479b56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388f479b56_0_4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3388f479b56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388f479b56_0_4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3388f479b56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388f479b56_0_4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3388f479b56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43505fcc5c_1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343505fcc5c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388f479b56_0_4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10" name="Google Shape;810;g3388f479b56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46a895f855_0_5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346a895f855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46a895f855_0_5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346a895f855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4155d50a00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34155d50a0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4155d50a00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34155d50a0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4155d50a00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69" name="Google Shape;869;g34155d50a0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46a895f855_0_5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77" name="Google Shape;877;g346a895f855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46a895f855_0_5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46a895f855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46a895f855_0_5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g346a895f855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46a895f855_0_5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346a895f855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34155d50a00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22" name="Google Shape;922;g34155d50a00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4155d50a00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34155d50a00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4155d50a00_0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34155d50a00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4155d50a00_0_1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54" name="Google Shape;954;g34155d50a00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34155d50a00_0_1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63" name="Google Shape;963;g34155d50a00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4155d50a00_0_1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34155d50a00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4155d50a00_0_1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34155d50a00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4155d50a00_0_1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34155d50a00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34155d50a00_0_1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03" name="Google Shape;1003;g34155d50a00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46a895f855_0_6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346a895f855_0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46a895f855_0_6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346a895f855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46a895f855_0_6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346a895f855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4155d50a00_0_1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45" name="Google Shape;1045;g34155d50a00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34155d50a00_0_1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52" name="Google Shape;1052;g34155d50a00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34155d50a00_0_2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58" name="Google Shape;1058;g34155d50a00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4155d50a00_0_2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34155d50a00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4155d50a00_0_2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34155d50a00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4155d50a00_0_2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34155d50a00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34155d50a00_0_2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g34155d50a00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34155d50a00_0_2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34155d50a00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4155d50a00_0_2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01" name="Google Shape;1101;g34155d50a00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343505fcc5c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15" name="Google Shape;1115;g343505fcc5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43505fcc5c_1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21" name="Google Shape;1121;g343505fcc5c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343505fcc5c_1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27" name="Google Shape;1127;g343505fcc5c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g343505fcc5c_1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33" name="Google Shape;1133;g343505fcc5c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343505fcc5c_1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39" name="Google Shape;1139;g343505fcc5c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43505fcc5c_1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44" name="Google Shape;1144;g343505fcc5c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4155d50a00_0_2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51" name="Google Shape;1151;g34155d50a00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34155d50a00_0_2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57" name="Google Shape;1157;g34155d50a00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g34155d50a00_0_2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63" name="Google Shape;1163;g34155d50a00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34443f698b8_0_658"/>
          <p:cNvSpPr/>
          <p:nvPr/>
        </p:nvSpPr>
        <p:spPr>
          <a:xfrm>
            <a:off x="782294" y="0"/>
            <a:ext cx="10627500" cy="888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 name="Google Shape;11;g34443f698b8_0_658"/>
          <p:cNvSpPr/>
          <p:nvPr/>
        </p:nvSpPr>
        <p:spPr>
          <a:xfrm>
            <a:off x="782294" y="6769200"/>
            <a:ext cx="10627500" cy="88800"/>
          </a:xfrm>
          <a:prstGeom prst="rect">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12" name="Google Shape;12;g34443f698b8_0_658"/>
          <p:cNvCxnSpPr/>
          <p:nvPr/>
        </p:nvCxnSpPr>
        <p:spPr>
          <a:xfrm>
            <a:off x="977625" y="2980467"/>
            <a:ext cx="513600" cy="0"/>
          </a:xfrm>
          <a:prstGeom prst="straightConnector1">
            <a:avLst/>
          </a:prstGeom>
          <a:noFill/>
          <a:ln cap="flat" cmpd="sng" w="28575">
            <a:solidFill>
              <a:schemeClr val="dk1"/>
            </a:solidFill>
            <a:prstDash val="solid"/>
            <a:round/>
            <a:headEnd len="sm" w="sm" type="none"/>
            <a:tailEnd len="sm" w="sm" type="none"/>
          </a:ln>
        </p:spPr>
      </p:cxnSp>
      <p:sp>
        <p:nvSpPr>
          <p:cNvPr id="13" name="Google Shape;13;g34443f698b8_0_658"/>
          <p:cNvSpPr txBox="1"/>
          <p:nvPr>
            <p:ph type="ctrTitle"/>
          </p:nvPr>
        </p:nvSpPr>
        <p:spPr>
          <a:xfrm>
            <a:off x="840800" y="182400"/>
            <a:ext cx="10524000" cy="2471700"/>
          </a:xfrm>
          <a:prstGeom prst="rect">
            <a:avLst/>
          </a:prstGeom>
        </p:spPr>
        <p:txBody>
          <a:bodyPr anchorCtr="0" anchor="b" bIns="121900" lIns="121900" spcFirstLastPara="1" rIns="121900" wrap="square" tIns="121900">
            <a:normAutofit/>
          </a:bodyPr>
          <a:lstStyle>
            <a:lvl1pPr lvl="0">
              <a:spcBef>
                <a:spcPts val="130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14" name="Google Shape;14;g34443f698b8_0_658"/>
          <p:cNvSpPr txBox="1"/>
          <p:nvPr>
            <p:ph idx="1" type="subTitle"/>
          </p:nvPr>
        </p:nvSpPr>
        <p:spPr>
          <a:xfrm>
            <a:off x="840800" y="4304500"/>
            <a:ext cx="10524000" cy="1698900"/>
          </a:xfrm>
          <a:prstGeom prst="rect">
            <a:avLst/>
          </a:prstGeom>
        </p:spPr>
        <p:txBody>
          <a:bodyPr anchorCtr="0" anchor="b" bIns="121900" lIns="121900" spcFirstLastPara="1" rIns="121900" wrap="square" tIns="121900">
            <a:normAutofit/>
          </a:bodyPr>
          <a:lstStyle>
            <a:lvl1pPr lvl="0">
              <a:lnSpc>
                <a:spcPct val="100000"/>
              </a:lnSpc>
              <a:spcBef>
                <a:spcPts val="1300"/>
              </a:spcBef>
              <a:spcAft>
                <a:spcPts val="0"/>
              </a:spcAft>
              <a:buClr>
                <a:schemeClr val="accent6"/>
              </a:buClr>
              <a:buSzPts val="3200"/>
              <a:buNone/>
              <a:defRPr sz="3200">
                <a:solidFill>
                  <a:schemeClr val="accent6"/>
                </a:solidFill>
              </a:defRPr>
            </a:lvl1pPr>
            <a:lvl2pPr lvl="1">
              <a:lnSpc>
                <a:spcPct val="100000"/>
              </a:lnSpc>
              <a:spcBef>
                <a:spcPts val="0"/>
              </a:spcBef>
              <a:spcAft>
                <a:spcPts val="0"/>
              </a:spcAft>
              <a:buClr>
                <a:schemeClr val="accent6"/>
              </a:buClr>
              <a:buSzPts val="3200"/>
              <a:buNone/>
              <a:defRPr sz="3200">
                <a:solidFill>
                  <a:schemeClr val="accent6"/>
                </a:solidFill>
              </a:defRPr>
            </a:lvl2pPr>
            <a:lvl3pPr lvl="2">
              <a:lnSpc>
                <a:spcPct val="100000"/>
              </a:lnSpc>
              <a:spcBef>
                <a:spcPts val="0"/>
              </a:spcBef>
              <a:spcAft>
                <a:spcPts val="0"/>
              </a:spcAft>
              <a:buClr>
                <a:schemeClr val="accent6"/>
              </a:buClr>
              <a:buSzPts val="3200"/>
              <a:buNone/>
              <a:defRPr sz="3200">
                <a:solidFill>
                  <a:schemeClr val="accent6"/>
                </a:solidFill>
              </a:defRPr>
            </a:lvl3pPr>
            <a:lvl4pPr lvl="3">
              <a:lnSpc>
                <a:spcPct val="100000"/>
              </a:lnSpc>
              <a:spcBef>
                <a:spcPts val="0"/>
              </a:spcBef>
              <a:spcAft>
                <a:spcPts val="0"/>
              </a:spcAft>
              <a:buClr>
                <a:schemeClr val="accent6"/>
              </a:buClr>
              <a:buSzPts val="3200"/>
              <a:buNone/>
              <a:defRPr sz="3200">
                <a:solidFill>
                  <a:schemeClr val="accent6"/>
                </a:solidFill>
              </a:defRPr>
            </a:lvl4pPr>
            <a:lvl5pPr lvl="4">
              <a:lnSpc>
                <a:spcPct val="100000"/>
              </a:lnSpc>
              <a:spcBef>
                <a:spcPts val="0"/>
              </a:spcBef>
              <a:spcAft>
                <a:spcPts val="0"/>
              </a:spcAft>
              <a:buClr>
                <a:schemeClr val="accent6"/>
              </a:buClr>
              <a:buSzPts val="3200"/>
              <a:buNone/>
              <a:defRPr sz="3200">
                <a:solidFill>
                  <a:schemeClr val="accent6"/>
                </a:solidFill>
              </a:defRPr>
            </a:lvl5pPr>
            <a:lvl6pPr lvl="5">
              <a:lnSpc>
                <a:spcPct val="100000"/>
              </a:lnSpc>
              <a:spcBef>
                <a:spcPts val="0"/>
              </a:spcBef>
              <a:spcAft>
                <a:spcPts val="0"/>
              </a:spcAft>
              <a:buClr>
                <a:schemeClr val="accent6"/>
              </a:buClr>
              <a:buSzPts val="3200"/>
              <a:buNone/>
              <a:defRPr sz="3200">
                <a:solidFill>
                  <a:schemeClr val="accent6"/>
                </a:solidFill>
              </a:defRPr>
            </a:lvl6pPr>
            <a:lvl7pPr lvl="6">
              <a:lnSpc>
                <a:spcPct val="100000"/>
              </a:lnSpc>
              <a:spcBef>
                <a:spcPts val="0"/>
              </a:spcBef>
              <a:spcAft>
                <a:spcPts val="0"/>
              </a:spcAft>
              <a:buClr>
                <a:schemeClr val="accent6"/>
              </a:buClr>
              <a:buSzPts val="3200"/>
              <a:buNone/>
              <a:defRPr sz="3200">
                <a:solidFill>
                  <a:schemeClr val="accent6"/>
                </a:solidFill>
              </a:defRPr>
            </a:lvl7pPr>
            <a:lvl8pPr lvl="7">
              <a:lnSpc>
                <a:spcPct val="100000"/>
              </a:lnSpc>
              <a:spcBef>
                <a:spcPts val="0"/>
              </a:spcBef>
              <a:spcAft>
                <a:spcPts val="0"/>
              </a:spcAft>
              <a:buClr>
                <a:schemeClr val="accent6"/>
              </a:buClr>
              <a:buSzPts val="3200"/>
              <a:buNone/>
              <a:defRPr sz="3200">
                <a:solidFill>
                  <a:schemeClr val="accent6"/>
                </a:solidFill>
              </a:defRPr>
            </a:lvl8pPr>
            <a:lvl9pPr lvl="8">
              <a:lnSpc>
                <a:spcPct val="100000"/>
              </a:lnSpc>
              <a:spcBef>
                <a:spcPts val="0"/>
              </a:spcBef>
              <a:spcAft>
                <a:spcPts val="0"/>
              </a:spcAft>
              <a:buClr>
                <a:schemeClr val="accent6"/>
              </a:buClr>
              <a:buSzPts val="3200"/>
              <a:buNone/>
              <a:defRPr sz="3200">
                <a:solidFill>
                  <a:schemeClr val="accent6"/>
                </a:solidFill>
              </a:defRPr>
            </a:lvl9pPr>
          </a:lstStyle>
          <a:p/>
        </p:txBody>
      </p:sp>
      <p:sp>
        <p:nvSpPr>
          <p:cNvPr id="15" name="Google Shape;15;g34443f698b8_0_65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g34443f698b8_0_665"/>
          <p:cNvSpPr/>
          <p:nvPr/>
        </p:nvSpPr>
        <p:spPr>
          <a:xfrm>
            <a:off x="782294" y="6769200"/>
            <a:ext cx="10627500" cy="88800"/>
          </a:xfrm>
          <a:prstGeom prst="rect">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 name="Google Shape;18;g34443f698b8_0_665"/>
          <p:cNvSpPr/>
          <p:nvPr/>
        </p:nvSpPr>
        <p:spPr>
          <a:xfrm>
            <a:off x="782294" y="0"/>
            <a:ext cx="10627500" cy="888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 name="Google Shape;19;g34443f698b8_0_665"/>
          <p:cNvSpPr txBox="1"/>
          <p:nvPr>
            <p:ph type="title"/>
          </p:nvPr>
        </p:nvSpPr>
        <p:spPr>
          <a:xfrm>
            <a:off x="679400" y="2561800"/>
            <a:ext cx="10833300" cy="1734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20" name="Google Shape;20;g34443f698b8_0_66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g34443f698b8_0_670"/>
          <p:cNvSpPr/>
          <p:nvPr/>
        </p:nvSpPr>
        <p:spPr>
          <a:xfrm>
            <a:off x="-167" y="6727600"/>
            <a:ext cx="12192000" cy="130500"/>
          </a:xfrm>
          <a:prstGeom prst="rect">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23" name="Google Shape;23;g34443f698b8_0_670"/>
          <p:cNvCxnSpPr/>
          <p:nvPr/>
        </p:nvCxnSpPr>
        <p:spPr>
          <a:xfrm>
            <a:off x="559233" y="1538926"/>
            <a:ext cx="513600" cy="0"/>
          </a:xfrm>
          <a:prstGeom prst="straightConnector1">
            <a:avLst/>
          </a:prstGeom>
          <a:noFill/>
          <a:ln cap="flat" cmpd="sng" w="28575">
            <a:solidFill>
              <a:schemeClr val="dk1"/>
            </a:solidFill>
            <a:prstDash val="solid"/>
            <a:round/>
            <a:headEnd len="sm" w="sm" type="none"/>
            <a:tailEnd len="sm" w="sm" type="none"/>
          </a:ln>
        </p:spPr>
      </p:cxnSp>
      <p:sp>
        <p:nvSpPr>
          <p:cNvPr id="24" name="Google Shape;24;g34443f698b8_0_670"/>
          <p:cNvSpPr txBox="1"/>
          <p:nvPr>
            <p:ph type="title"/>
          </p:nvPr>
        </p:nvSpPr>
        <p:spPr>
          <a:xfrm>
            <a:off x="415600" y="496967"/>
            <a:ext cx="11360700" cy="860100"/>
          </a:xfrm>
          <a:prstGeom prst="rect">
            <a:avLst/>
          </a:prstGeom>
        </p:spPr>
        <p:txBody>
          <a:bodyPr anchorCtr="0" anchor="t" bIns="121900" lIns="121900" spcFirstLastPara="1" rIns="121900" wrap="square" tIns="121900">
            <a:normAutofit/>
          </a:bodyPr>
          <a:lstStyle>
            <a:lvl1pPr lvl="0">
              <a:spcBef>
                <a:spcPts val="0"/>
              </a:spcBef>
              <a:spcAft>
                <a:spcPts val="0"/>
              </a:spcAft>
              <a:buSzPts val="4300"/>
              <a:buNone/>
              <a:defRPr/>
            </a:lvl1pPr>
            <a:lvl2pPr lvl="1">
              <a:spcBef>
                <a:spcPts val="0"/>
              </a:spcBef>
              <a:spcAft>
                <a:spcPts val="0"/>
              </a:spcAft>
              <a:buSzPts val="4300"/>
              <a:buNone/>
              <a:defRPr/>
            </a:lvl2pPr>
            <a:lvl3pPr lvl="2">
              <a:spcBef>
                <a:spcPts val="0"/>
              </a:spcBef>
              <a:spcAft>
                <a:spcPts val="0"/>
              </a:spcAft>
              <a:buSzPts val="4300"/>
              <a:buNone/>
              <a:defRPr/>
            </a:lvl3pPr>
            <a:lvl4pPr lvl="3">
              <a:spcBef>
                <a:spcPts val="0"/>
              </a:spcBef>
              <a:spcAft>
                <a:spcPts val="0"/>
              </a:spcAft>
              <a:buSzPts val="4300"/>
              <a:buNone/>
              <a:defRPr/>
            </a:lvl4pPr>
            <a:lvl5pPr lvl="4">
              <a:spcBef>
                <a:spcPts val="0"/>
              </a:spcBef>
              <a:spcAft>
                <a:spcPts val="0"/>
              </a:spcAft>
              <a:buSzPts val="4300"/>
              <a:buNone/>
              <a:defRPr/>
            </a:lvl5pPr>
            <a:lvl6pPr lvl="5">
              <a:spcBef>
                <a:spcPts val="0"/>
              </a:spcBef>
              <a:spcAft>
                <a:spcPts val="0"/>
              </a:spcAft>
              <a:buSzPts val="4300"/>
              <a:buNone/>
              <a:defRPr/>
            </a:lvl6pPr>
            <a:lvl7pPr lvl="6">
              <a:spcBef>
                <a:spcPts val="0"/>
              </a:spcBef>
              <a:spcAft>
                <a:spcPts val="0"/>
              </a:spcAft>
              <a:buSzPts val="4300"/>
              <a:buNone/>
              <a:defRPr/>
            </a:lvl7pPr>
            <a:lvl8pPr lvl="7">
              <a:spcBef>
                <a:spcPts val="0"/>
              </a:spcBef>
              <a:spcAft>
                <a:spcPts val="0"/>
              </a:spcAft>
              <a:buSzPts val="4300"/>
              <a:buNone/>
              <a:defRPr/>
            </a:lvl8pPr>
            <a:lvl9pPr lvl="8">
              <a:spcBef>
                <a:spcPts val="0"/>
              </a:spcBef>
              <a:spcAft>
                <a:spcPts val="0"/>
              </a:spcAft>
              <a:buSzPts val="4300"/>
              <a:buNone/>
              <a:defRPr/>
            </a:lvl9pPr>
          </a:lstStyle>
          <a:p/>
        </p:txBody>
      </p:sp>
      <p:sp>
        <p:nvSpPr>
          <p:cNvPr id="25" name="Google Shape;25;g34443f698b8_0_670"/>
          <p:cNvSpPr txBox="1"/>
          <p:nvPr>
            <p:ph idx="1" type="body"/>
          </p:nvPr>
        </p:nvSpPr>
        <p:spPr>
          <a:xfrm>
            <a:off x="415600" y="1890400"/>
            <a:ext cx="11360700" cy="4201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6" name="Google Shape;26;g34443f698b8_0_67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g34443f698b8_0_676"/>
          <p:cNvCxnSpPr/>
          <p:nvPr/>
        </p:nvCxnSpPr>
        <p:spPr>
          <a:xfrm>
            <a:off x="559233" y="1538926"/>
            <a:ext cx="513600" cy="0"/>
          </a:xfrm>
          <a:prstGeom prst="straightConnector1">
            <a:avLst/>
          </a:prstGeom>
          <a:noFill/>
          <a:ln cap="flat" cmpd="sng" w="28575">
            <a:solidFill>
              <a:schemeClr val="dk1"/>
            </a:solidFill>
            <a:prstDash val="solid"/>
            <a:round/>
            <a:headEnd len="sm" w="sm" type="none"/>
            <a:tailEnd len="sm" w="sm" type="none"/>
          </a:ln>
        </p:spPr>
      </p:cxnSp>
      <p:sp>
        <p:nvSpPr>
          <p:cNvPr id="29" name="Google Shape;29;g34443f698b8_0_676"/>
          <p:cNvSpPr txBox="1"/>
          <p:nvPr>
            <p:ph type="title"/>
          </p:nvPr>
        </p:nvSpPr>
        <p:spPr>
          <a:xfrm>
            <a:off x="415600" y="496967"/>
            <a:ext cx="11360700" cy="860100"/>
          </a:xfrm>
          <a:prstGeom prst="rect">
            <a:avLst/>
          </a:prstGeom>
        </p:spPr>
        <p:txBody>
          <a:bodyPr anchorCtr="0" anchor="t" bIns="121900" lIns="121900" spcFirstLastPara="1" rIns="121900" wrap="square" tIns="121900">
            <a:normAutofit/>
          </a:bodyPr>
          <a:lstStyle>
            <a:lvl1pPr lvl="0">
              <a:spcBef>
                <a:spcPts val="0"/>
              </a:spcBef>
              <a:spcAft>
                <a:spcPts val="0"/>
              </a:spcAft>
              <a:buSzPts val="4300"/>
              <a:buNone/>
              <a:defRPr/>
            </a:lvl1pPr>
            <a:lvl2pPr lvl="1">
              <a:spcBef>
                <a:spcPts val="0"/>
              </a:spcBef>
              <a:spcAft>
                <a:spcPts val="0"/>
              </a:spcAft>
              <a:buSzPts val="4300"/>
              <a:buNone/>
              <a:defRPr/>
            </a:lvl2pPr>
            <a:lvl3pPr lvl="2">
              <a:spcBef>
                <a:spcPts val="0"/>
              </a:spcBef>
              <a:spcAft>
                <a:spcPts val="0"/>
              </a:spcAft>
              <a:buSzPts val="4300"/>
              <a:buNone/>
              <a:defRPr/>
            </a:lvl3pPr>
            <a:lvl4pPr lvl="3">
              <a:spcBef>
                <a:spcPts val="0"/>
              </a:spcBef>
              <a:spcAft>
                <a:spcPts val="0"/>
              </a:spcAft>
              <a:buSzPts val="4300"/>
              <a:buNone/>
              <a:defRPr/>
            </a:lvl4pPr>
            <a:lvl5pPr lvl="4">
              <a:spcBef>
                <a:spcPts val="0"/>
              </a:spcBef>
              <a:spcAft>
                <a:spcPts val="0"/>
              </a:spcAft>
              <a:buSzPts val="4300"/>
              <a:buNone/>
              <a:defRPr/>
            </a:lvl5pPr>
            <a:lvl6pPr lvl="5">
              <a:spcBef>
                <a:spcPts val="0"/>
              </a:spcBef>
              <a:spcAft>
                <a:spcPts val="0"/>
              </a:spcAft>
              <a:buSzPts val="4300"/>
              <a:buNone/>
              <a:defRPr/>
            </a:lvl6pPr>
            <a:lvl7pPr lvl="6">
              <a:spcBef>
                <a:spcPts val="0"/>
              </a:spcBef>
              <a:spcAft>
                <a:spcPts val="0"/>
              </a:spcAft>
              <a:buSzPts val="4300"/>
              <a:buNone/>
              <a:defRPr/>
            </a:lvl7pPr>
            <a:lvl8pPr lvl="7">
              <a:spcBef>
                <a:spcPts val="0"/>
              </a:spcBef>
              <a:spcAft>
                <a:spcPts val="0"/>
              </a:spcAft>
              <a:buSzPts val="4300"/>
              <a:buNone/>
              <a:defRPr/>
            </a:lvl8pPr>
            <a:lvl9pPr lvl="8">
              <a:spcBef>
                <a:spcPts val="0"/>
              </a:spcBef>
              <a:spcAft>
                <a:spcPts val="0"/>
              </a:spcAft>
              <a:buSzPts val="4300"/>
              <a:buNone/>
              <a:defRPr/>
            </a:lvl9pPr>
          </a:lstStyle>
          <a:p/>
        </p:txBody>
      </p:sp>
      <p:sp>
        <p:nvSpPr>
          <p:cNvPr id="30" name="Google Shape;30;g34443f698b8_0_676"/>
          <p:cNvSpPr txBox="1"/>
          <p:nvPr>
            <p:ph idx="1" type="body"/>
          </p:nvPr>
        </p:nvSpPr>
        <p:spPr>
          <a:xfrm>
            <a:off x="415600" y="1890600"/>
            <a:ext cx="5333100" cy="4201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1" name="Google Shape;31;g34443f698b8_0_676"/>
          <p:cNvSpPr txBox="1"/>
          <p:nvPr>
            <p:ph idx="2" type="body"/>
          </p:nvPr>
        </p:nvSpPr>
        <p:spPr>
          <a:xfrm>
            <a:off x="6443200" y="1890600"/>
            <a:ext cx="5333100" cy="4201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2" name="Google Shape;32;g34443f698b8_0_67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g34443f698b8_0_682"/>
          <p:cNvSpPr txBox="1"/>
          <p:nvPr>
            <p:ph type="title"/>
          </p:nvPr>
        </p:nvSpPr>
        <p:spPr>
          <a:xfrm>
            <a:off x="415600" y="496967"/>
            <a:ext cx="11360700" cy="860100"/>
          </a:xfrm>
          <a:prstGeom prst="rect">
            <a:avLst/>
          </a:prstGeom>
        </p:spPr>
        <p:txBody>
          <a:bodyPr anchorCtr="0" anchor="t" bIns="121900" lIns="121900" spcFirstLastPara="1" rIns="121900" wrap="square" tIns="121900">
            <a:normAutofit/>
          </a:bodyPr>
          <a:lstStyle>
            <a:lvl1pPr lvl="0">
              <a:spcBef>
                <a:spcPts val="0"/>
              </a:spcBef>
              <a:spcAft>
                <a:spcPts val="0"/>
              </a:spcAft>
              <a:buSzPts val="4300"/>
              <a:buNone/>
              <a:defRPr/>
            </a:lvl1pPr>
            <a:lvl2pPr lvl="1">
              <a:spcBef>
                <a:spcPts val="0"/>
              </a:spcBef>
              <a:spcAft>
                <a:spcPts val="0"/>
              </a:spcAft>
              <a:buSzPts val="4300"/>
              <a:buNone/>
              <a:defRPr/>
            </a:lvl2pPr>
            <a:lvl3pPr lvl="2">
              <a:spcBef>
                <a:spcPts val="0"/>
              </a:spcBef>
              <a:spcAft>
                <a:spcPts val="0"/>
              </a:spcAft>
              <a:buSzPts val="4300"/>
              <a:buNone/>
              <a:defRPr/>
            </a:lvl3pPr>
            <a:lvl4pPr lvl="3">
              <a:spcBef>
                <a:spcPts val="0"/>
              </a:spcBef>
              <a:spcAft>
                <a:spcPts val="0"/>
              </a:spcAft>
              <a:buSzPts val="4300"/>
              <a:buNone/>
              <a:defRPr/>
            </a:lvl4pPr>
            <a:lvl5pPr lvl="4">
              <a:spcBef>
                <a:spcPts val="0"/>
              </a:spcBef>
              <a:spcAft>
                <a:spcPts val="0"/>
              </a:spcAft>
              <a:buSzPts val="4300"/>
              <a:buNone/>
              <a:defRPr/>
            </a:lvl5pPr>
            <a:lvl6pPr lvl="5">
              <a:spcBef>
                <a:spcPts val="0"/>
              </a:spcBef>
              <a:spcAft>
                <a:spcPts val="0"/>
              </a:spcAft>
              <a:buSzPts val="4300"/>
              <a:buNone/>
              <a:defRPr/>
            </a:lvl6pPr>
            <a:lvl7pPr lvl="6">
              <a:spcBef>
                <a:spcPts val="0"/>
              </a:spcBef>
              <a:spcAft>
                <a:spcPts val="0"/>
              </a:spcAft>
              <a:buSzPts val="4300"/>
              <a:buNone/>
              <a:defRPr/>
            </a:lvl7pPr>
            <a:lvl8pPr lvl="7">
              <a:spcBef>
                <a:spcPts val="0"/>
              </a:spcBef>
              <a:spcAft>
                <a:spcPts val="0"/>
              </a:spcAft>
              <a:buSzPts val="4300"/>
              <a:buNone/>
              <a:defRPr/>
            </a:lvl8pPr>
            <a:lvl9pPr lvl="8">
              <a:spcBef>
                <a:spcPts val="0"/>
              </a:spcBef>
              <a:spcAft>
                <a:spcPts val="0"/>
              </a:spcAft>
              <a:buSzPts val="4300"/>
              <a:buNone/>
              <a:defRPr/>
            </a:lvl9pPr>
          </a:lstStyle>
          <a:p/>
        </p:txBody>
      </p:sp>
      <p:sp>
        <p:nvSpPr>
          <p:cNvPr id="35" name="Google Shape;35;g34443f698b8_0_68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cxnSp>
        <p:nvCxnSpPr>
          <p:cNvPr id="37" name="Google Shape;37;g34443f698b8_0_685"/>
          <p:cNvCxnSpPr/>
          <p:nvPr/>
        </p:nvCxnSpPr>
        <p:spPr>
          <a:xfrm>
            <a:off x="548058" y="1890363"/>
            <a:ext cx="513600" cy="0"/>
          </a:xfrm>
          <a:prstGeom prst="straightConnector1">
            <a:avLst/>
          </a:prstGeom>
          <a:noFill/>
          <a:ln cap="flat" cmpd="sng" w="28575">
            <a:solidFill>
              <a:schemeClr val="dk1"/>
            </a:solidFill>
            <a:prstDash val="solid"/>
            <a:round/>
            <a:headEnd len="sm" w="sm" type="none"/>
            <a:tailEnd len="sm" w="sm" type="none"/>
          </a:ln>
        </p:spPr>
      </p:cxnSp>
      <p:sp>
        <p:nvSpPr>
          <p:cNvPr id="38" name="Google Shape;38;g34443f698b8_0_685"/>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9" name="Google Shape;39;g34443f698b8_0_685"/>
          <p:cNvSpPr txBox="1"/>
          <p:nvPr>
            <p:ph idx="1" type="body"/>
          </p:nvPr>
        </p:nvSpPr>
        <p:spPr>
          <a:xfrm>
            <a:off x="415600" y="2187133"/>
            <a:ext cx="3744000" cy="39051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40" name="Google Shape;40;g34443f698b8_0_68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g34443f698b8_0_690"/>
          <p:cNvSpPr/>
          <p:nvPr/>
        </p:nvSpPr>
        <p:spPr>
          <a:xfrm>
            <a:off x="782294" y="0"/>
            <a:ext cx="10627500" cy="888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 name="Google Shape;43;g34443f698b8_0_690"/>
          <p:cNvSpPr/>
          <p:nvPr/>
        </p:nvSpPr>
        <p:spPr>
          <a:xfrm>
            <a:off x="782294" y="6769200"/>
            <a:ext cx="10627500" cy="88800"/>
          </a:xfrm>
          <a:prstGeom prst="rect">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 name="Google Shape;44;g34443f698b8_0_690"/>
          <p:cNvSpPr txBox="1"/>
          <p:nvPr>
            <p:ph type="title"/>
          </p:nvPr>
        </p:nvSpPr>
        <p:spPr>
          <a:xfrm>
            <a:off x="653667" y="701800"/>
            <a:ext cx="74916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5600"/>
              <a:buNone/>
              <a:defRPr sz="5600"/>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45" name="Google Shape;45;g34443f698b8_0_69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g34443f698b8_0_695"/>
          <p:cNvSpPr/>
          <p:nvPr/>
        </p:nvSpPr>
        <p:spPr>
          <a:xfrm>
            <a:off x="6096000" y="-133"/>
            <a:ext cx="60960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48" name="Google Shape;48;g34443f698b8_0_695"/>
          <p:cNvCxnSpPr/>
          <p:nvPr/>
        </p:nvCxnSpPr>
        <p:spPr>
          <a:xfrm>
            <a:off x="6706233" y="5994000"/>
            <a:ext cx="624300" cy="0"/>
          </a:xfrm>
          <a:prstGeom prst="straightConnector1">
            <a:avLst/>
          </a:prstGeom>
          <a:noFill/>
          <a:ln cap="flat" cmpd="sng" w="19050">
            <a:solidFill>
              <a:schemeClr val="lt1"/>
            </a:solidFill>
            <a:prstDash val="solid"/>
            <a:round/>
            <a:headEnd len="sm" w="sm" type="none"/>
            <a:tailEnd len="sm" w="sm" type="none"/>
          </a:ln>
        </p:spPr>
      </p:cxnSp>
      <p:sp>
        <p:nvSpPr>
          <p:cNvPr id="49" name="Google Shape;49;g34443f698b8_0_695"/>
          <p:cNvSpPr txBox="1"/>
          <p:nvPr>
            <p:ph type="title"/>
          </p:nvPr>
        </p:nvSpPr>
        <p:spPr>
          <a:xfrm>
            <a:off x="354000" y="1446167"/>
            <a:ext cx="5393700" cy="2276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50" name="Google Shape;50;g34443f698b8_0_695"/>
          <p:cNvSpPr txBox="1"/>
          <p:nvPr>
            <p:ph idx="1" type="subTitle"/>
          </p:nvPr>
        </p:nvSpPr>
        <p:spPr>
          <a:xfrm>
            <a:off x="354000" y="3793600"/>
            <a:ext cx="5393700" cy="1895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Clr>
                <a:schemeClr val="accent6"/>
              </a:buClr>
              <a:buSzPts val="2800"/>
              <a:buNone/>
              <a:defRPr sz="2800">
                <a:solidFill>
                  <a:schemeClr val="accent6"/>
                </a:solidFill>
              </a:defRPr>
            </a:lvl1pPr>
            <a:lvl2pPr lvl="1" algn="ctr">
              <a:lnSpc>
                <a:spcPct val="100000"/>
              </a:lnSpc>
              <a:spcBef>
                <a:spcPts val="0"/>
              </a:spcBef>
              <a:spcAft>
                <a:spcPts val="0"/>
              </a:spcAft>
              <a:buClr>
                <a:schemeClr val="accent6"/>
              </a:buClr>
              <a:buSzPts val="2800"/>
              <a:buNone/>
              <a:defRPr sz="2800">
                <a:solidFill>
                  <a:schemeClr val="accent6"/>
                </a:solidFill>
              </a:defRPr>
            </a:lvl2pPr>
            <a:lvl3pPr lvl="2" algn="ctr">
              <a:lnSpc>
                <a:spcPct val="100000"/>
              </a:lnSpc>
              <a:spcBef>
                <a:spcPts val="0"/>
              </a:spcBef>
              <a:spcAft>
                <a:spcPts val="0"/>
              </a:spcAft>
              <a:buClr>
                <a:schemeClr val="accent6"/>
              </a:buClr>
              <a:buSzPts val="2800"/>
              <a:buNone/>
              <a:defRPr sz="2800">
                <a:solidFill>
                  <a:schemeClr val="accent6"/>
                </a:solidFill>
              </a:defRPr>
            </a:lvl3pPr>
            <a:lvl4pPr lvl="3" algn="ctr">
              <a:lnSpc>
                <a:spcPct val="100000"/>
              </a:lnSpc>
              <a:spcBef>
                <a:spcPts val="0"/>
              </a:spcBef>
              <a:spcAft>
                <a:spcPts val="0"/>
              </a:spcAft>
              <a:buClr>
                <a:schemeClr val="accent6"/>
              </a:buClr>
              <a:buSzPts val="2800"/>
              <a:buNone/>
              <a:defRPr sz="2800">
                <a:solidFill>
                  <a:schemeClr val="accent6"/>
                </a:solidFill>
              </a:defRPr>
            </a:lvl4pPr>
            <a:lvl5pPr lvl="4" algn="ctr">
              <a:lnSpc>
                <a:spcPct val="100000"/>
              </a:lnSpc>
              <a:spcBef>
                <a:spcPts val="0"/>
              </a:spcBef>
              <a:spcAft>
                <a:spcPts val="0"/>
              </a:spcAft>
              <a:buClr>
                <a:schemeClr val="accent6"/>
              </a:buClr>
              <a:buSzPts val="2800"/>
              <a:buNone/>
              <a:defRPr sz="2800">
                <a:solidFill>
                  <a:schemeClr val="accent6"/>
                </a:solidFill>
              </a:defRPr>
            </a:lvl5pPr>
            <a:lvl6pPr lvl="5" algn="ctr">
              <a:lnSpc>
                <a:spcPct val="100000"/>
              </a:lnSpc>
              <a:spcBef>
                <a:spcPts val="0"/>
              </a:spcBef>
              <a:spcAft>
                <a:spcPts val="0"/>
              </a:spcAft>
              <a:buClr>
                <a:schemeClr val="accent6"/>
              </a:buClr>
              <a:buSzPts val="2800"/>
              <a:buNone/>
              <a:defRPr sz="2800">
                <a:solidFill>
                  <a:schemeClr val="accent6"/>
                </a:solidFill>
              </a:defRPr>
            </a:lvl6pPr>
            <a:lvl7pPr lvl="6" algn="ctr">
              <a:lnSpc>
                <a:spcPct val="100000"/>
              </a:lnSpc>
              <a:spcBef>
                <a:spcPts val="0"/>
              </a:spcBef>
              <a:spcAft>
                <a:spcPts val="0"/>
              </a:spcAft>
              <a:buClr>
                <a:schemeClr val="accent6"/>
              </a:buClr>
              <a:buSzPts val="2800"/>
              <a:buNone/>
              <a:defRPr sz="2800">
                <a:solidFill>
                  <a:schemeClr val="accent6"/>
                </a:solidFill>
              </a:defRPr>
            </a:lvl7pPr>
            <a:lvl8pPr lvl="7" algn="ctr">
              <a:lnSpc>
                <a:spcPct val="100000"/>
              </a:lnSpc>
              <a:spcBef>
                <a:spcPts val="0"/>
              </a:spcBef>
              <a:spcAft>
                <a:spcPts val="0"/>
              </a:spcAft>
              <a:buClr>
                <a:schemeClr val="accent6"/>
              </a:buClr>
              <a:buSzPts val="2800"/>
              <a:buNone/>
              <a:defRPr sz="2800">
                <a:solidFill>
                  <a:schemeClr val="accent6"/>
                </a:solidFill>
              </a:defRPr>
            </a:lvl8pPr>
            <a:lvl9pPr lvl="8" algn="ctr">
              <a:lnSpc>
                <a:spcPct val="100000"/>
              </a:lnSpc>
              <a:spcBef>
                <a:spcPts val="0"/>
              </a:spcBef>
              <a:spcAft>
                <a:spcPts val="0"/>
              </a:spcAft>
              <a:buClr>
                <a:schemeClr val="accent6"/>
              </a:buClr>
              <a:buSzPts val="2800"/>
              <a:buNone/>
              <a:defRPr sz="2800">
                <a:solidFill>
                  <a:schemeClr val="accent6"/>
                </a:solidFill>
              </a:defRPr>
            </a:lvl9pPr>
          </a:lstStyle>
          <a:p/>
        </p:txBody>
      </p:sp>
      <p:sp>
        <p:nvSpPr>
          <p:cNvPr id="51" name="Google Shape;51;g34443f698b8_0_695"/>
          <p:cNvSpPr txBox="1"/>
          <p:nvPr>
            <p:ph idx="2" type="body"/>
          </p:nvPr>
        </p:nvSpPr>
        <p:spPr>
          <a:xfrm>
            <a:off x="6586000" y="965600"/>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Clr>
                <a:schemeClr val="accent1"/>
              </a:buClr>
              <a:buSzPts val="2400"/>
              <a:buChar char="●"/>
              <a:defRPr>
                <a:solidFill>
                  <a:schemeClr val="accent1"/>
                </a:solidFill>
              </a:defRPr>
            </a:lvl1pPr>
            <a:lvl2pPr indent="-349250" lvl="1" marL="914400">
              <a:spcBef>
                <a:spcPts val="0"/>
              </a:spcBef>
              <a:spcAft>
                <a:spcPts val="0"/>
              </a:spcAft>
              <a:buClr>
                <a:schemeClr val="accent1"/>
              </a:buClr>
              <a:buSzPts val="1900"/>
              <a:buChar char="○"/>
              <a:defRPr>
                <a:solidFill>
                  <a:schemeClr val="accent1"/>
                </a:solidFill>
              </a:defRPr>
            </a:lvl2pPr>
            <a:lvl3pPr indent="-349250" lvl="2" marL="1371600">
              <a:spcBef>
                <a:spcPts val="0"/>
              </a:spcBef>
              <a:spcAft>
                <a:spcPts val="0"/>
              </a:spcAft>
              <a:buClr>
                <a:schemeClr val="accent1"/>
              </a:buClr>
              <a:buSzPts val="1900"/>
              <a:buChar char="■"/>
              <a:defRPr>
                <a:solidFill>
                  <a:schemeClr val="accent1"/>
                </a:solidFill>
              </a:defRPr>
            </a:lvl3pPr>
            <a:lvl4pPr indent="-349250" lvl="3" marL="1828800">
              <a:spcBef>
                <a:spcPts val="0"/>
              </a:spcBef>
              <a:spcAft>
                <a:spcPts val="0"/>
              </a:spcAft>
              <a:buClr>
                <a:schemeClr val="accent1"/>
              </a:buClr>
              <a:buSzPts val="1900"/>
              <a:buChar char="●"/>
              <a:defRPr>
                <a:solidFill>
                  <a:schemeClr val="accent1"/>
                </a:solidFill>
              </a:defRPr>
            </a:lvl4pPr>
            <a:lvl5pPr indent="-349250" lvl="4" marL="2286000">
              <a:spcBef>
                <a:spcPts val="0"/>
              </a:spcBef>
              <a:spcAft>
                <a:spcPts val="0"/>
              </a:spcAft>
              <a:buClr>
                <a:schemeClr val="accent1"/>
              </a:buClr>
              <a:buSzPts val="1900"/>
              <a:buChar char="○"/>
              <a:defRPr>
                <a:solidFill>
                  <a:schemeClr val="accent1"/>
                </a:solidFill>
              </a:defRPr>
            </a:lvl5pPr>
            <a:lvl6pPr indent="-349250" lvl="5" marL="2743200">
              <a:spcBef>
                <a:spcPts val="0"/>
              </a:spcBef>
              <a:spcAft>
                <a:spcPts val="0"/>
              </a:spcAft>
              <a:buClr>
                <a:schemeClr val="accent1"/>
              </a:buClr>
              <a:buSzPts val="1900"/>
              <a:buChar char="■"/>
              <a:defRPr>
                <a:solidFill>
                  <a:schemeClr val="accent1"/>
                </a:solidFill>
              </a:defRPr>
            </a:lvl6pPr>
            <a:lvl7pPr indent="-349250" lvl="6" marL="3200400">
              <a:spcBef>
                <a:spcPts val="0"/>
              </a:spcBef>
              <a:spcAft>
                <a:spcPts val="0"/>
              </a:spcAft>
              <a:buClr>
                <a:schemeClr val="accent1"/>
              </a:buClr>
              <a:buSzPts val="1900"/>
              <a:buChar char="●"/>
              <a:defRPr>
                <a:solidFill>
                  <a:schemeClr val="accent1"/>
                </a:solidFill>
              </a:defRPr>
            </a:lvl7pPr>
            <a:lvl8pPr indent="-349250" lvl="7" marL="3657600">
              <a:spcBef>
                <a:spcPts val="0"/>
              </a:spcBef>
              <a:spcAft>
                <a:spcPts val="0"/>
              </a:spcAft>
              <a:buClr>
                <a:schemeClr val="accent1"/>
              </a:buClr>
              <a:buSzPts val="1900"/>
              <a:buChar char="○"/>
              <a:defRPr>
                <a:solidFill>
                  <a:schemeClr val="accent1"/>
                </a:solidFill>
              </a:defRPr>
            </a:lvl8pPr>
            <a:lvl9pPr indent="-349250" lvl="8" marL="4114800">
              <a:spcBef>
                <a:spcPts val="0"/>
              </a:spcBef>
              <a:spcAft>
                <a:spcPts val="0"/>
              </a:spcAft>
              <a:buClr>
                <a:schemeClr val="accent1"/>
              </a:buClr>
              <a:buSzPts val="1900"/>
              <a:buChar char="■"/>
              <a:defRPr>
                <a:solidFill>
                  <a:schemeClr val="accent1"/>
                </a:solidFill>
              </a:defRPr>
            </a:lvl9pPr>
          </a:lstStyle>
          <a:p/>
        </p:txBody>
      </p:sp>
      <p:sp>
        <p:nvSpPr>
          <p:cNvPr id="52" name="Google Shape;52;g34443f698b8_0_69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g34443f698b8_0_702"/>
          <p:cNvSpPr txBox="1"/>
          <p:nvPr>
            <p:ph idx="1" type="body"/>
          </p:nvPr>
        </p:nvSpPr>
        <p:spPr>
          <a:xfrm>
            <a:off x="426000" y="5640767"/>
            <a:ext cx="7998300" cy="7983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55" name="Google Shape;55;g34443f698b8_0_70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 name="Shape 56"/>
        <p:cNvGrpSpPr/>
        <p:nvPr/>
      </p:nvGrpSpPr>
      <p:grpSpPr>
        <a:xfrm>
          <a:off x="0" y="0"/>
          <a:ext cx="0" cy="0"/>
          <a:chOff x="0" y="0"/>
          <a:chExt cx="0" cy="0"/>
        </a:xfrm>
      </p:grpSpPr>
      <p:sp>
        <p:nvSpPr>
          <p:cNvPr id="57" name="Google Shape;57;g34443f698b8_0_705"/>
          <p:cNvSpPr/>
          <p:nvPr/>
        </p:nvSpPr>
        <p:spPr>
          <a:xfrm>
            <a:off x="782294" y="0"/>
            <a:ext cx="10627500" cy="888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 name="Google Shape;58;g34443f698b8_0_705"/>
          <p:cNvSpPr/>
          <p:nvPr/>
        </p:nvSpPr>
        <p:spPr>
          <a:xfrm>
            <a:off x="782294" y="6769200"/>
            <a:ext cx="10627500" cy="88800"/>
          </a:xfrm>
          <a:prstGeom prst="rect">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9" name="Google Shape;59;g34443f698b8_0_705"/>
          <p:cNvSpPr txBox="1"/>
          <p:nvPr>
            <p:ph hasCustomPrompt="1" type="title"/>
          </p:nvPr>
        </p:nvSpPr>
        <p:spPr>
          <a:xfrm>
            <a:off x="782300" y="1805050"/>
            <a:ext cx="10627500" cy="2051100"/>
          </a:xfrm>
          <a:prstGeom prst="rect">
            <a:avLst/>
          </a:prstGeom>
        </p:spPr>
        <p:txBody>
          <a:bodyPr anchorCtr="0" anchor="ctr" bIns="121900" lIns="121900" spcFirstLastPara="1" rIns="121900" wrap="square" tIns="121900">
            <a:normAutofit/>
          </a:bodyPr>
          <a:lstStyle>
            <a:lvl1pPr lvl="0" algn="ctr">
              <a:spcBef>
                <a:spcPts val="0"/>
              </a:spcBef>
              <a:spcAft>
                <a:spcPts val="0"/>
              </a:spcAft>
              <a:buClr>
                <a:schemeClr val="accent6"/>
              </a:buClr>
              <a:buSzPts val="14400"/>
              <a:buNone/>
              <a:defRPr sz="14400">
                <a:solidFill>
                  <a:schemeClr val="accent6"/>
                </a:solidFill>
              </a:defRPr>
            </a:lvl1pPr>
            <a:lvl2pPr lvl="1" algn="ctr">
              <a:spcBef>
                <a:spcPts val="0"/>
              </a:spcBef>
              <a:spcAft>
                <a:spcPts val="0"/>
              </a:spcAft>
              <a:buClr>
                <a:schemeClr val="accent6"/>
              </a:buClr>
              <a:buSzPts val="14400"/>
              <a:buNone/>
              <a:defRPr sz="14400">
                <a:solidFill>
                  <a:schemeClr val="accent6"/>
                </a:solidFill>
              </a:defRPr>
            </a:lvl2pPr>
            <a:lvl3pPr lvl="2" algn="ctr">
              <a:spcBef>
                <a:spcPts val="0"/>
              </a:spcBef>
              <a:spcAft>
                <a:spcPts val="0"/>
              </a:spcAft>
              <a:buClr>
                <a:schemeClr val="accent6"/>
              </a:buClr>
              <a:buSzPts val="14400"/>
              <a:buNone/>
              <a:defRPr sz="14400">
                <a:solidFill>
                  <a:schemeClr val="accent6"/>
                </a:solidFill>
              </a:defRPr>
            </a:lvl3pPr>
            <a:lvl4pPr lvl="3" algn="ctr">
              <a:spcBef>
                <a:spcPts val="0"/>
              </a:spcBef>
              <a:spcAft>
                <a:spcPts val="0"/>
              </a:spcAft>
              <a:buClr>
                <a:schemeClr val="accent6"/>
              </a:buClr>
              <a:buSzPts val="14400"/>
              <a:buNone/>
              <a:defRPr sz="14400">
                <a:solidFill>
                  <a:schemeClr val="accent6"/>
                </a:solidFill>
              </a:defRPr>
            </a:lvl4pPr>
            <a:lvl5pPr lvl="4" algn="ctr">
              <a:spcBef>
                <a:spcPts val="0"/>
              </a:spcBef>
              <a:spcAft>
                <a:spcPts val="0"/>
              </a:spcAft>
              <a:buClr>
                <a:schemeClr val="accent6"/>
              </a:buClr>
              <a:buSzPts val="14400"/>
              <a:buNone/>
              <a:defRPr sz="14400">
                <a:solidFill>
                  <a:schemeClr val="accent6"/>
                </a:solidFill>
              </a:defRPr>
            </a:lvl5pPr>
            <a:lvl6pPr lvl="5" algn="ctr">
              <a:spcBef>
                <a:spcPts val="0"/>
              </a:spcBef>
              <a:spcAft>
                <a:spcPts val="0"/>
              </a:spcAft>
              <a:buClr>
                <a:schemeClr val="accent6"/>
              </a:buClr>
              <a:buSzPts val="14400"/>
              <a:buNone/>
              <a:defRPr sz="14400">
                <a:solidFill>
                  <a:schemeClr val="accent6"/>
                </a:solidFill>
              </a:defRPr>
            </a:lvl6pPr>
            <a:lvl7pPr lvl="6" algn="ctr">
              <a:spcBef>
                <a:spcPts val="0"/>
              </a:spcBef>
              <a:spcAft>
                <a:spcPts val="0"/>
              </a:spcAft>
              <a:buClr>
                <a:schemeClr val="accent6"/>
              </a:buClr>
              <a:buSzPts val="14400"/>
              <a:buNone/>
              <a:defRPr sz="14400">
                <a:solidFill>
                  <a:schemeClr val="accent6"/>
                </a:solidFill>
              </a:defRPr>
            </a:lvl7pPr>
            <a:lvl8pPr lvl="7" algn="ctr">
              <a:spcBef>
                <a:spcPts val="0"/>
              </a:spcBef>
              <a:spcAft>
                <a:spcPts val="0"/>
              </a:spcAft>
              <a:buClr>
                <a:schemeClr val="accent6"/>
              </a:buClr>
              <a:buSzPts val="14400"/>
              <a:buNone/>
              <a:defRPr sz="14400">
                <a:solidFill>
                  <a:schemeClr val="accent6"/>
                </a:solidFill>
              </a:defRPr>
            </a:lvl8pPr>
            <a:lvl9pPr lvl="8" algn="ctr">
              <a:spcBef>
                <a:spcPts val="0"/>
              </a:spcBef>
              <a:spcAft>
                <a:spcPts val="0"/>
              </a:spcAft>
              <a:buClr>
                <a:schemeClr val="accent6"/>
              </a:buClr>
              <a:buSzPts val="14400"/>
              <a:buNone/>
              <a:defRPr sz="14400">
                <a:solidFill>
                  <a:schemeClr val="accent6"/>
                </a:solidFill>
              </a:defRPr>
            </a:lvl9pPr>
          </a:lstStyle>
          <a:p>
            <a:r>
              <a:t>xx%</a:t>
            </a:r>
          </a:p>
        </p:txBody>
      </p:sp>
      <p:sp>
        <p:nvSpPr>
          <p:cNvPr id="60" name="Google Shape;60;g34443f698b8_0_705"/>
          <p:cNvSpPr txBox="1"/>
          <p:nvPr>
            <p:ph idx="1" type="body"/>
          </p:nvPr>
        </p:nvSpPr>
        <p:spPr>
          <a:xfrm>
            <a:off x="782300" y="3957850"/>
            <a:ext cx="10627500" cy="14289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61" name="Google Shape;61;g34443f698b8_0_70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g34443f698b8_0_71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lue-gold">
    <p:bg>
      <p:bgPr>
        <a:solidFill>
          <a:schemeClr val="lt1"/>
        </a:solidFill>
      </p:bgPr>
    </p:bg>
    <p:spTree>
      <p:nvGrpSpPr>
        <p:cNvPr id="5" name="Shape 5"/>
        <p:cNvGrpSpPr/>
        <p:nvPr/>
      </p:nvGrpSpPr>
      <p:grpSpPr>
        <a:xfrm>
          <a:off x="0" y="0"/>
          <a:ext cx="0" cy="0"/>
          <a:chOff x="0" y="0"/>
          <a:chExt cx="0" cy="0"/>
        </a:xfrm>
      </p:grpSpPr>
      <p:sp>
        <p:nvSpPr>
          <p:cNvPr id="6" name="Google Shape;6;g34443f698b8_0_654"/>
          <p:cNvSpPr txBox="1"/>
          <p:nvPr>
            <p:ph type="title"/>
          </p:nvPr>
        </p:nvSpPr>
        <p:spPr>
          <a:xfrm>
            <a:off x="415600" y="496967"/>
            <a:ext cx="11360700" cy="8601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4300"/>
              <a:buFont typeface="Playfair Display"/>
              <a:buNone/>
              <a:defRPr b="1" sz="43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4300"/>
              <a:buFont typeface="Playfair Display"/>
              <a:buNone/>
              <a:defRPr b="1" sz="43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4300"/>
              <a:buFont typeface="Playfair Display"/>
              <a:buNone/>
              <a:defRPr b="1" sz="43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4300"/>
              <a:buFont typeface="Playfair Display"/>
              <a:buNone/>
              <a:defRPr b="1" sz="43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4300"/>
              <a:buFont typeface="Playfair Display"/>
              <a:buNone/>
              <a:defRPr b="1" sz="43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4300"/>
              <a:buFont typeface="Playfair Display"/>
              <a:buNone/>
              <a:defRPr b="1" sz="43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4300"/>
              <a:buFont typeface="Playfair Display"/>
              <a:buNone/>
              <a:defRPr b="1" sz="43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4300"/>
              <a:buFont typeface="Playfair Display"/>
              <a:buNone/>
              <a:defRPr b="1" sz="43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4300"/>
              <a:buFont typeface="Playfair Display"/>
              <a:buNone/>
              <a:defRPr b="1" sz="4300">
                <a:solidFill>
                  <a:schemeClr val="dk1"/>
                </a:solidFill>
                <a:latin typeface="Playfair Display"/>
                <a:ea typeface="Playfair Display"/>
                <a:cs typeface="Playfair Display"/>
                <a:sym typeface="Playfair Display"/>
              </a:defRPr>
            </a:lvl9pPr>
          </a:lstStyle>
          <a:p/>
        </p:txBody>
      </p:sp>
      <p:sp>
        <p:nvSpPr>
          <p:cNvPr id="7" name="Google Shape;7;g34443f698b8_0_654"/>
          <p:cNvSpPr txBox="1"/>
          <p:nvPr>
            <p:ph idx="1" type="body"/>
          </p:nvPr>
        </p:nvSpPr>
        <p:spPr>
          <a:xfrm>
            <a:off x="415600" y="1890400"/>
            <a:ext cx="11360700" cy="4201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1pPr>
            <a:lvl2pPr indent="-349250" lvl="1" marL="914400">
              <a:lnSpc>
                <a:spcPct val="115000"/>
              </a:lnSpc>
              <a:spcBef>
                <a:spcPts val="0"/>
              </a:spcBef>
              <a:spcAft>
                <a:spcPts val="0"/>
              </a:spcAft>
              <a:buClr>
                <a:schemeClr val="dk1"/>
              </a:buClr>
              <a:buSzPts val="1900"/>
              <a:buFont typeface="Lato"/>
              <a:buChar char="○"/>
              <a:defRPr sz="1900">
                <a:solidFill>
                  <a:schemeClr val="dk1"/>
                </a:solidFill>
                <a:latin typeface="Lato"/>
                <a:ea typeface="Lato"/>
                <a:cs typeface="Lato"/>
                <a:sym typeface="Lato"/>
              </a:defRPr>
            </a:lvl2pPr>
            <a:lvl3pPr indent="-349250" lvl="2" marL="1371600">
              <a:lnSpc>
                <a:spcPct val="115000"/>
              </a:lnSpc>
              <a:spcBef>
                <a:spcPts val="0"/>
              </a:spcBef>
              <a:spcAft>
                <a:spcPts val="0"/>
              </a:spcAft>
              <a:buClr>
                <a:schemeClr val="dk1"/>
              </a:buClr>
              <a:buSzPts val="1900"/>
              <a:buFont typeface="Lato"/>
              <a:buChar char="■"/>
              <a:defRPr sz="1900">
                <a:solidFill>
                  <a:schemeClr val="dk1"/>
                </a:solidFill>
                <a:latin typeface="Lato"/>
                <a:ea typeface="Lato"/>
                <a:cs typeface="Lato"/>
                <a:sym typeface="Lato"/>
              </a:defRPr>
            </a:lvl3pPr>
            <a:lvl4pPr indent="-349250" lvl="3" marL="1828800">
              <a:lnSpc>
                <a:spcPct val="115000"/>
              </a:lnSpc>
              <a:spcBef>
                <a:spcPts val="0"/>
              </a:spcBef>
              <a:spcAft>
                <a:spcPts val="0"/>
              </a:spcAft>
              <a:buClr>
                <a:schemeClr val="dk1"/>
              </a:buClr>
              <a:buSzPts val="1900"/>
              <a:buFont typeface="Lato"/>
              <a:buChar char="●"/>
              <a:defRPr sz="1900">
                <a:solidFill>
                  <a:schemeClr val="dk1"/>
                </a:solidFill>
                <a:latin typeface="Lato"/>
                <a:ea typeface="Lato"/>
                <a:cs typeface="Lato"/>
                <a:sym typeface="Lato"/>
              </a:defRPr>
            </a:lvl4pPr>
            <a:lvl5pPr indent="-349250" lvl="4" marL="2286000">
              <a:lnSpc>
                <a:spcPct val="115000"/>
              </a:lnSpc>
              <a:spcBef>
                <a:spcPts val="0"/>
              </a:spcBef>
              <a:spcAft>
                <a:spcPts val="0"/>
              </a:spcAft>
              <a:buClr>
                <a:schemeClr val="dk1"/>
              </a:buClr>
              <a:buSzPts val="1900"/>
              <a:buFont typeface="Lato"/>
              <a:buChar char="○"/>
              <a:defRPr sz="1900">
                <a:solidFill>
                  <a:schemeClr val="dk1"/>
                </a:solidFill>
                <a:latin typeface="Lato"/>
                <a:ea typeface="Lato"/>
                <a:cs typeface="Lato"/>
                <a:sym typeface="Lato"/>
              </a:defRPr>
            </a:lvl5pPr>
            <a:lvl6pPr indent="-349250" lvl="5" marL="2743200">
              <a:lnSpc>
                <a:spcPct val="115000"/>
              </a:lnSpc>
              <a:spcBef>
                <a:spcPts val="0"/>
              </a:spcBef>
              <a:spcAft>
                <a:spcPts val="0"/>
              </a:spcAft>
              <a:buClr>
                <a:schemeClr val="dk1"/>
              </a:buClr>
              <a:buSzPts val="1900"/>
              <a:buFont typeface="Lato"/>
              <a:buChar char="■"/>
              <a:defRPr sz="1900">
                <a:solidFill>
                  <a:schemeClr val="dk1"/>
                </a:solidFill>
                <a:latin typeface="Lato"/>
                <a:ea typeface="Lato"/>
                <a:cs typeface="Lato"/>
                <a:sym typeface="Lato"/>
              </a:defRPr>
            </a:lvl6pPr>
            <a:lvl7pPr indent="-349250" lvl="6" marL="3200400">
              <a:lnSpc>
                <a:spcPct val="115000"/>
              </a:lnSpc>
              <a:spcBef>
                <a:spcPts val="0"/>
              </a:spcBef>
              <a:spcAft>
                <a:spcPts val="0"/>
              </a:spcAft>
              <a:buClr>
                <a:schemeClr val="dk1"/>
              </a:buClr>
              <a:buSzPts val="1900"/>
              <a:buFont typeface="Lato"/>
              <a:buChar char="●"/>
              <a:defRPr sz="1900">
                <a:solidFill>
                  <a:schemeClr val="dk1"/>
                </a:solidFill>
                <a:latin typeface="Lato"/>
                <a:ea typeface="Lato"/>
                <a:cs typeface="Lato"/>
                <a:sym typeface="Lato"/>
              </a:defRPr>
            </a:lvl7pPr>
            <a:lvl8pPr indent="-349250" lvl="7" marL="3657600">
              <a:lnSpc>
                <a:spcPct val="115000"/>
              </a:lnSpc>
              <a:spcBef>
                <a:spcPts val="0"/>
              </a:spcBef>
              <a:spcAft>
                <a:spcPts val="0"/>
              </a:spcAft>
              <a:buClr>
                <a:schemeClr val="dk1"/>
              </a:buClr>
              <a:buSzPts val="1900"/>
              <a:buFont typeface="Lato"/>
              <a:buChar char="○"/>
              <a:defRPr sz="1900">
                <a:solidFill>
                  <a:schemeClr val="dk1"/>
                </a:solidFill>
                <a:latin typeface="Lato"/>
                <a:ea typeface="Lato"/>
                <a:cs typeface="Lato"/>
                <a:sym typeface="Lato"/>
              </a:defRPr>
            </a:lvl8pPr>
            <a:lvl9pPr indent="-349250" lvl="8" marL="4114800">
              <a:lnSpc>
                <a:spcPct val="115000"/>
              </a:lnSpc>
              <a:spcBef>
                <a:spcPts val="0"/>
              </a:spcBef>
              <a:spcAft>
                <a:spcPts val="0"/>
              </a:spcAft>
              <a:buClr>
                <a:schemeClr val="dk1"/>
              </a:buClr>
              <a:buSzPts val="1900"/>
              <a:buFont typeface="Lato"/>
              <a:buChar char="■"/>
              <a:defRPr sz="1900">
                <a:solidFill>
                  <a:schemeClr val="dk1"/>
                </a:solidFill>
                <a:latin typeface="Lato"/>
                <a:ea typeface="Lato"/>
                <a:cs typeface="Lato"/>
                <a:sym typeface="Lato"/>
              </a:defRPr>
            </a:lvl9pPr>
          </a:lstStyle>
          <a:p/>
        </p:txBody>
      </p:sp>
      <p:sp>
        <p:nvSpPr>
          <p:cNvPr id="8" name="Google Shape;8;g34443f698b8_0_65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1"/>
                </a:solidFill>
                <a:latin typeface="Lato"/>
                <a:ea typeface="Lato"/>
                <a:cs typeface="Lato"/>
                <a:sym typeface="Lato"/>
              </a:defRPr>
            </a:lvl1pPr>
            <a:lvl2pPr lvl="1" algn="r">
              <a:buNone/>
              <a:defRPr sz="1300">
                <a:solidFill>
                  <a:schemeClr val="dk1"/>
                </a:solidFill>
                <a:latin typeface="Lato"/>
                <a:ea typeface="Lato"/>
                <a:cs typeface="Lato"/>
                <a:sym typeface="Lato"/>
              </a:defRPr>
            </a:lvl2pPr>
            <a:lvl3pPr lvl="2" algn="r">
              <a:buNone/>
              <a:defRPr sz="1300">
                <a:solidFill>
                  <a:schemeClr val="dk1"/>
                </a:solidFill>
                <a:latin typeface="Lato"/>
                <a:ea typeface="Lato"/>
                <a:cs typeface="Lato"/>
                <a:sym typeface="Lato"/>
              </a:defRPr>
            </a:lvl3pPr>
            <a:lvl4pPr lvl="3" algn="r">
              <a:buNone/>
              <a:defRPr sz="1300">
                <a:solidFill>
                  <a:schemeClr val="dk1"/>
                </a:solidFill>
                <a:latin typeface="Lato"/>
                <a:ea typeface="Lato"/>
                <a:cs typeface="Lato"/>
                <a:sym typeface="Lato"/>
              </a:defRPr>
            </a:lvl4pPr>
            <a:lvl5pPr lvl="4" algn="r">
              <a:buNone/>
              <a:defRPr sz="1300">
                <a:solidFill>
                  <a:schemeClr val="dk1"/>
                </a:solidFill>
                <a:latin typeface="Lato"/>
                <a:ea typeface="Lato"/>
                <a:cs typeface="Lato"/>
                <a:sym typeface="Lato"/>
              </a:defRPr>
            </a:lvl5pPr>
            <a:lvl6pPr lvl="5" algn="r">
              <a:buNone/>
              <a:defRPr sz="1300">
                <a:solidFill>
                  <a:schemeClr val="dk1"/>
                </a:solidFill>
                <a:latin typeface="Lato"/>
                <a:ea typeface="Lato"/>
                <a:cs typeface="Lato"/>
                <a:sym typeface="Lato"/>
              </a:defRPr>
            </a:lvl6pPr>
            <a:lvl7pPr lvl="6" algn="r">
              <a:buNone/>
              <a:defRPr sz="1300">
                <a:solidFill>
                  <a:schemeClr val="dk1"/>
                </a:solidFill>
                <a:latin typeface="Lato"/>
                <a:ea typeface="Lato"/>
                <a:cs typeface="Lato"/>
                <a:sym typeface="Lato"/>
              </a:defRPr>
            </a:lvl7pPr>
            <a:lvl8pPr lvl="7" algn="r">
              <a:buNone/>
              <a:defRPr sz="1300">
                <a:solidFill>
                  <a:schemeClr val="dk1"/>
                </a:solidFill>
                <a:latin typeface="Lato"/>
                <a:ea typeface="Lato"/>
                <a:cs typeface="Lato"/>
                <a:sym typeface="Lato"/>
              </a:defRPr>
            </a:lvl8pPr>
            <a:lvl9pPr lvl="8" algn="r">
              <a:buNone/>
              <a:defRPr sz="1300">
                <a:solidFill>
                  <a:schemeClr val="dk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70.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14.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33.png"/><Relationship Id="rId5" Type="http://schemas.openxmlformats.org/officeDocument/2006/relationships/image" Target="../media/image25.png"/><Relationship Id="rId6"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29.png"/><Relationship Id="rId5" Type="http://schemas.openxmlformats.org/officeDocument/2006/relationships/image" Target="../media/image26.png"/><Relationship Id="rId6"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32.png"/><Relationship Id="rId4" Type="http://schemas.openxmlformats.org/officeDocument/2006/relationships/image" Target="../media/image27.png"/><Relationship Id="rId5" Type="http://schemas.openxmlformats.org/officeDocument/2006/relationships/image" Target="../media/image31.png"/><Relationship Id="rId6" Type="http://schemas.openxmlformats.org/officeDocument/2006/relationships/image" Target="../media/image30.png"/><Relationship Id="rId7" Type="http://schemas.openxmlformats.org/officeDocument/2006/relationships/image" Target="../media/image44.png"/><Relationship Id="rId8" Type="http://schemas.openxmlformats.org/officeDocument/2006/relationships/image" Target="../media/image3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105.png"/><Relationship Id="rId6" Type="http://schemas.openxmlformats.org/officeDocument/2006/relationships/image" Target="../media/image4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37.png"/><Relationship Id="rId4" Type="http://schemas.openxmlformats.org/officeDocument/2006/relationships/image" Target="../media/image48.png"/><Relationship Id="rId5" Type="http://schemas.openxmlformats.org/officeDocument/2006/relationships/image" Target="../media/image38.png"/><Relationship Id="rId6" Type="http://schemas.openxmlformats.org/officeDocument/2006/relationships/image" Target="../media/image4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5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47.png"/><Relationship Id="rId4" Type="http://schemas.openxmlformats.org/officeDocument/2006/relationships/image" Target="../media/image45.png"/><Relationship Id="rId5" Type="http://schemas.openxmlformats.org/officeDocument/2006/relationships/image" Target="../media/image5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49.png"/><Relationship Id="rId4" Type="http://schemas.openxmlformats.org/officeDocument/2006/relationships/image" Target="../media/image51.png"/><Relationship Id="rId5" Type="http://schemas.openxmlformats.org/officeDocument/2006/relationships/image" Target="../media/image5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58.png"/><Relationship Id="rId4" Type="http://schemas.openxmlformats.org/officeDocument/2006/relationships/image" Target="../media/image53.png"/><Relationship Id="rId11" Type="http://schemas.openxmlformats.org/officeDocument/2006/relationships/image" Target="../media/image61.png"/><Relationship Id="rId10" Type="http://schemas.openxmlformats.org/officeDocument/2006/relationships/image" Target="../media/image55.png"/><Relationship Id="rId12" Type="http://schemas.openxmlformats.org/officeDocument/2006/relationships/image" Target="../media/image64.png"/><Relationship Id="rId9" Type="http://schemas.openxmlformats.org/officeDocument/2006/relationships/image" Target="../media/image59.png"/><Relationship Id="rId5" Type="http://schemas.openxmlformats.org/officeDocument/2006/relationships/image" Target="../media/image54.png"/><Relationship Id="rId6" Type="http://schemas.openxmlformats.org/officeDocument/2006/relationships/image" Target="../media/image62.png"/><Relationship Id="rId7" Type="http://schemas.openxmlformats.org/officeDocument/2006/relationships/image" Target="../media/image56.png"/><Relationship Id="rId8" Type="http://schemas.openxmlformats.org/officeDocument/2006/relationships/image" Target="../media/image6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60.png"/><Relationship Id="rId4" Type="http://schemas.openxmlformats.org/officeDocument/2006/relationships/image" Target="../media/image6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66.png"/><Relationship Id="rId4" Type="http://schemas.openxmlformats.org/officeDocument/2006/relationships/image" Target="../media/image6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67.png"/><Relationship Id="rId4" Type="http://schemas.openxmlformats.org/officeDocument/2006/relationships/image" Target="../media/image7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81.png"/><Relationship Id="rId4" Type="http://schemas.openxmlformats.org/officeDocument/2006/relationships/image" Target="../media/image69.png"/><Relationship Id="rId5" Type="http://schemas.openxmlformats.org/officeDocument/2006/relationships/image" Target="../media/image7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71.png"/><Relationship Id="rId4" Type="http://schemas.openxmlformats.org/officeDocument/2006/relationships/image" Target="../media/image77.png"/><Relationship Id="rId5" Type="http://schemas.openxmlformats.org/officeDocument/2006/relationships/image" Target="../media/image7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73.png"/><Relationship Id="rId4" Type="http://schemas.openxmlformats.org/officeDocument/2006/relationships/image" Target="../media/image75.png"/><Relationship Id="rId5" Type="http://schemas.openxmlformats.org/officeDocument/2006/relationships/image" Target="../media/image7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133.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79.png"/><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80.png"/><Relationship Id="rId4" Type="http://schemas.openxmlformats.org/officeDocument/2006/relationships/image" Target="../media/image8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90.png"/><Relationship Id="rId4" Type="http://schemas.openxmlformats.org/officeDocument/2006/relationships/image" Target="../media/image87.png"/><Relationship Id="rId5" Type="http://schemas.openxmlformats.org/officeDocument/2006/relationships/image" Target="../media/image104.png"/><Relationship Id="rId6" Type="http://schemas.openxmlformats.org/officeDocument/2006/relationships/image" Target="../media/image89.png"/><Relationship Id="rId7" Type="http://schemas.openxmlformats.org/officeDocument/2006/relationships/image" Target="../media/image88.png"/><Relationship Id="rId8" Type="http://schemas.openxmlformats.org/officeDocument/2006/relationships/image" Target="../media/image9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97.png"/><Relationship Id="rId4" Type="http://schemas.openxmlformats.org/officeDocument/2006/relationships/image" Target="../media/image96.png"/><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5.png"/><Relationship Id="rId8" Type="http://schemas.openxmlformats.org/officeDocument/2006/relationships/image" Target="../media/image10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99.png"/><Relationship Id="rId4" Type="http://schemas.openxmlformats.org/officeDocument/2006/relationships/image" Target="../media/image94.png"/><Relationship Id="rId5" Type="http://schemas.openxmlformats.org/officeDocument/2006/relationships/image" Target="../media/image100.png"/><Relationship Id="rId6" Type="http://schemas.openxmlformats.org/officeDocument/2006/relationships/image" Target="../media/image102.png"/><Relationship Id="rId7" Type="http://schemas.openxmlformats.org/officeDocument/2006/relationships/image" Target="../media/image103.png"/><Relationship Id="rId8" Type="http://schemas.openxmlformats.org/officeDocument/2006/relationships/image" Target="../media/image9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109.png"/><Relationship Id="rId4" Type="http://schemas.openxmlformats.org/officeDocument/2006/relationships/image" Target="../media/image110.png"/><Relationship Id="rId5" Type="http://schemas.openxmlformats.org/officeDocument/2006/relationships/image" Target="../media/image106.png"/><Relationship Id="rId6" Type="http://schemas.openxmlformats.org/officeDocument/2006/relationships/image" Target="../media/image107.png"/><Relationship Id="rId7" Type="http://schemas.openxmlformats.org/officeDocument/2006/relationships/image" Target="../media/image153.png"/><Relationship Id="rId8" Type="http://schemas.openxmlformats.org/officeDocument/2006/relationships/image" Target="../media/image1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 Id="rId3" Type="http://schemas.openxmlformats.org/officeDocument/2006/relationships/image" Target="../media/image111.png"/><Relationship Id="rId4" Type="http://schemas.openxmlformats.org/officeDocument/2006/relationships/image" Target="../media/image108.png"/><Relationship Id="rId5" Type="http://schemas.openxmlformats.org/officeDocument/2006/relationships/image" Target="../media/image1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image" Target="../media/image115.png"/><Relationship Id="rId4" Type="http://schemas.openxmlformats.org/officeDocument/2006/relationships/image" Target="../media/image113.png"/><Relationship Id="rId5" Type="http://schemas.openxmlformats.org/officeDocument/2006/relationships/image" Target="../media/image116.png"/><Relationship Id="rId6" Type="http://schemas.openxmlformats.org/officeDocument/2006/relationships/image" Target="../media/image114.png"/><Relationship Id="rId7" Type="http://schemas.openxmlformats.org/officeDocument/2006/relationships/image" Target="../media/image122.png"/><Relationship Id="rId8" Type="http://schemas.openxmlformats.org/officeDocument/2006/relationships/image" Target="../media/image1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 Id="rId3" Type="http://schemas.openxmlformats.org/officeDocument/2006/relationships/image" Target="../media/image1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 Id="rId3" Type="http://schemas.openxmlformats.org/officeDocument/2006/relationships/image" Target="../media/image1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 Id="rId3" Type="http://schemas.openxmlformats.org/officeDocument/2006/relationships/image" Target="../media/image128.png"/><Relationship Id="rId4" Type="http://schemas.openxmlformats.org/officeDocument/2006/relationships/image" Target="../media/image1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 Id="rId3" Type="http://schemas.openxmlformats.org/officeDocument/2006/relationships/image" Target="../media/image11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 Id="rId3" Type="http://schemas.openxmlformats.org/officeDocument/2006/relationships/image" Target="../media/image14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 Id="rId3" Type="http://schemas.openxmlformats.org/officeDocument/2006/relationships/image" Target="../media/image127.png"/><Relationship Id="rId4" Type="http://schemas.openxmlformats.org/officeDocument/2006/relationships/image" Target="../media/image124.png"/><Relationship Id="rId5" Type="http://schemas.openxmlformats.org/officeDocument/2006/relationships/image" Target="../media/image123.png"/><Relationship Id="rId6" Type="http://schemas.openxmlformats.org/officeDocument/2006/relationships/image" Target="../media/image12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 Id="rId3" Type="http://schemas.openxmlformats.org/officeDocument/2006/relationships/image" Target="../media/image134.png"/><Relationship Id="rId4" Type="http://schemas.openxmlformats.org/officeDocument/2006/relationships/image" Target="../media/image12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 Id="rId3" Type="http://schemas.openxmlformats.org/officeDocument/2006/relationships/image" Target="../media/image136.png"/><Relationship Id="rId4" Type="http://schemas.openxmlformats.org/officeDocument/2006/relationships/image" Target="../media/image13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 Id="rId3" Type="http://schemas.openxmlformats.org/officeDocument/2006/relationships/image" Target="../media/image1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 Id="rId3" Type="http://schemas.openxmlformats.org/officeDocument/2006/relationships/image" Target="../media/image13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 Id="rId3" Type="http://schemas.openxmlformats.org/officeDocument/2006/relationships/image" Target="../media/image130.png"/><Relationship Id="rId4" Type="http://schemas.openxmlformats.org/officeDocument/2006/relationships/image" Target="../media/image137.png"/><Relationship Id="rId5" Type="http://schemas.openxmlformats.org/officeDocument/2006/relationships/image" Target="../media/image141.png"/><Relationship Id="rId6" Type="http://schemas.openxmlformats.org/officeDocument/2006/relationships/image" Target="../media/image13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2.xml"/><Relationship Id="rId3" Type="http://schemas.openxmlformats.org/officeDocument/2006/relationships/image" Target="../media/image138.png"/><Relationship Id="rId4" Type="http://schemas.openxmlformats.org/officeDocument/2006/relationships/image" Target="../media/image163.png"/><Relationship Id="rId5" Type="http://schemas.openxmlformats.org/officeDocument/2006/relationships/image" Target="../media/image145.png"/><Relationship Id="rId6" Type="http://schemas.openxmlformats.org/officeDocument/2006/relationships/image" Target="../media/image144.png"/><Relationship Id="rId7" Type="http://schemas.openxmlformats.org/officeDocument/2006/relationships/image" Target="../media/image14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3.xml"/><Relationship Id="rId3" Type="http://schemas.openxmlformats.org/officeDocument/2006/relationships/image" Target="../media/image142.png"/><Relationship Id="rId4" Type="http://schemas.openxmlformats.org/officeDocument/2006/relationships/image" Target="../media/image147.png"/><Relationship Id="rId5" Type="http://schemas.openxmlformats.org/officeDocument/2006/relationships/image" Target="../media/image1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4.xml"/><Relationship Id="rId3" Type="http://schemas.openxmlformats.org/officeDocument/2006/relationships/image" Target="../media/image148.png"/><Relationship Id="rId4" Type="http://schemas.openxmlformats.org/officeDocument/2006/relationships/image" Target="../media/image150.png"/><Relationship Id="rId5" Type="http://schemas.openxmlformats.org/officeDocument/2006/relationships/image" Target="../media/image15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6.xml"/><Relationship Id="rId3" Type="http://schemas.openxmlformats.org/officeDocument/2006/relationships/image" Target="../media/image151.png"/><Relationship Id="rId4" Type="http://schemas.openxmlformats.org/officeDocument/2006/relationships/image" Target="../media/image149.png"/><Relationship Id="rId5" Type="http://schemas.openxmlformats.org/officeDocument/2006/relationships/image" Target="../media/image156.png"/><Relationship Id="rId6" Type="http://schemas.openxmlformats.org/officeDocument/2006/relationships/image" Target="../media/image155.png"/><Relationship Id="rId7" Type="http://schemas.openxmlformats.org/officeDocument/2006/relationships/image" Target="../media/image157.png"/><Relationship Id="rId8" Type="http://schemas.openxmlformats.org/officeDocument/2006/relationships/image" Target="../media/image15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7.xml"/><Relationship Id="rId3" Type="http://schemas.openxmlformats.org/officeDocument/2006/relationships/image" Target="../media/image152.png"/><Relationship Id="rId4" Type="http://schemas.openxmlformats.org/officeDocument/2006/relationships/image" Target="../media/image162.png"/><Relationship Id="rId5" Type="http://schemas.openxmlformats.org/officeDocument/2006/relationships/image" Target="../media/image178.png"/><Relationship Id="rId6" Type="http://schemas.openxmlformats.org/officeDocument/2006/relationships/image" Target="../media/image15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8.xml"/><Relationship Id="rId3" Type="http://schemas.openxmlformats.org/officeDocument/2006/relationships/image" Target="../media/image18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9.xml"/><Relationship Id="rId3" Type="http://schemas.openxmlformats.org/officeDocument/2006/relationships/image" Target="../media/image160.png"/><Relationship Id="rId4" Type="http://schemas.openxmlformats.org/officeDocument/2006/relationships/image" Target="../media/image161.png"/><Relationship Id="rId5" Type="http://schemas.openxmlformats.org/officeDocument/2006/relationships/image" Target="../media/image164.png"/><Relationship Id="rId6" Type="http://schemas.openxmlformats.org/officeDocument/2006/relationships/image" Target="../media/image168.png"/><Relationship Id="rId7" Type="http://schemas.openxmlformats.org/officeDocument/2006/relationships/image" Target="../media/image165.png"/><Relationship Id="rId8" Type="http://schemas.openxmlformats.org/officeDocument/2006/relationships/image" Target="../media/image17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0.xml"/><Relationship Id="rId3" Type="http://schemas.openxmlformats.org/officeDocument/2006/relationships/image" Target="../media/image17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1.xml"/><Relationship Id="rId3" Type="http://schemas.openxmlformats.org/officeDocument/2006/relationships/image" Target="../media/image166.png"/><Relationship Id="rId4" Type="http://schemas.openxmlformats.org/officeDocument/2006/relationships/image" Target="../media/image17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2.xml"/><Relationship Id="rId3" Type="http://schemas.openxmlformats.org/officeDocument/2006/relationships/image" Target="../media/image16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3.xml"/><Relationship Id="rId3" Type="http://schemas.openxmlformats.org/officeDocument/2006/relationships/image" Target="../media/image16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4.xml"/><Relationship Id="rId3" Type="http://schemas.openxmlformats.org/officeDocument/2006/relationships/image" Target="../media/image174.png"/><Relationship Id="rId4" Type="http://schemas.openxmlformats.org/officeDocument/2006/relationships/image" Target="../media/image17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5.xml"/><Relationship Id="rId3" Type="http://schemas.openxmlformats.org/officeDocument/2006/relationships/image" Target="../media/image171.png"/><Relationship Id="rId4" Type="http://schemas.openxmlformats.org/officeDocument/2006/relationships/image" Target="../media/image17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6.xml"/><Relationship Id="rId3" Type="http://schemas.openxmlformats.org/officeDocument/2006/relationships/image" Target="../media/image177.png"/><Relationship Id="rId4" Type="http://schemas.openxmlformats.org/officeDocument/2006/relationships/image" Target="../media/image18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7.xml"/><Relationship Id="rId3" Type="http://schemas.openxmlformats.org/officeDocument/2006/relationships/image" Target="../media/image180.png"/><Relationship Id="rId4" Type="http://schemas.openxmlformats.org/officeDocument/2006/relationships/image" Target="../media/image17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8.xml"/><Relationship Id="rId3" Type="http://schemas.openxmlformats.org/officeDocument/2006/relationships/image" Target="../media/image183.png"/><Relationship Id="rId4" Type="http://schemas.openxmlformats.org/officeDocument/2006/relationships/image" Target="../media/image18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9.xml"/><Relationship Id="rId3" Type="http://schemas.openxmlformats.org/officeDocument/2006/relationships/image" Target="../media/image200.png"/><Relationship Id="rId4" Type="http://schemas.openxmlformats.org/officeDocument/2006/relationships/image" Target="../media/image18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0.xml"/><Relationship Id="rId3" Type="http://schemas.openxmlformats.org/officeDocument/2006/relationships/image" Target="../media/image188.png"/><Relationship Id="rId4" Type="http://schemas.openxmlformats.org/officeDocument/2006/relationships/image" Target="../media/image18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1.xml"/><Relationship Id="rId3" Type="http://schemas.openxmlformats.org/officeDocument/2006/relationships/image" Target="../media/image185.png"/><Relationship Id="rId4" Type="http://schemas.openxmlformats.org/officeDocument/2006/relationships/image" Target="../media/image189.png"/><Relationship Id="rId5" Type="http://schemas.openxmlformats.org/officeDocument/2006/relationships/image" Target="../media/image22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2.xml"/><Relationship Id="rId3" Type="http://schemas.openxmlformats.org/officeDocument/2006/relationships/image" Target="../media/image193.png"/><Relationship Id="rId4" Type="http://schemas.openxmlformats.org/officeDocument/2006/relationships/image" Target="../media/image19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3.xml"/><Relationship Id="rId3" Type="http://schemas.openxmlformats.org/officeDocument/2006/relationships/image" Target="../media/image19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4.xml"/><Relationship Id="rId3" Type="http://schemas.openxmlformats.org/officeDocument/2006/relationships/image" Target="../media/image192.png"/><Relationship Id="rId4" Type="http://schemas.openxmlformats.org/officeDocument/2006/relationships/image" Target="../media/image21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5.xml"/><Relationship Id="rId3" Type="http://schemas.openxmlformats.org/officeDocument/2006/relationships/image" Target="../media/image199.png"/><Relationship Id="rId4" Type="http://schemas.openxmlformats.org/officeDocument/2006/relationships/image" Target="../media/image19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6.xml"/><Relationship Id="rId3" Type="http://schemas.openxmlformats.org/officeDocument/2006/relationships/image" Target="../media/image194.png"/><Relationship Id="rId4" Type="http://schemas.openxmlformats.org/officeDocument/2006/relationships/image" Target="../media/image201.png"/><Relationship Id="rId5" Type="http://schemas.openxmlformats.org/officeDocument/2006/relationships/image" Target="../media/image195.png"/><Relationship Id="rId6" Type="http://schemas.openxmlformats.org/officeDocument/2006/relationships/image" Target="../media/image197.png"/><Relationship Id="rId7" Type="http://schemas.openxmlformats.org/officeDocument/2006/relationships/image" Target="../media/image19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7.xml"/><Relationship Id="rId3" Type="http://schemas.openxmlformats.org/officeDocument/2006/relationships/image" Target="../media/image204.png"/><Relationship Id="rId4" Type="http://schemas.openxmlformats.org/officeDocument/2006/relationships/image" Target="../media/image20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8.xml"/><Relationship Id="rId3" Type="http://schemas.openxmlformats.org/officeDocument/2006/relationships/image" Target="../media/image206.png"/><Relationship Id="rId4" Type="http://schemas.openxmlformats.org/officeDocument/2006/relationships/image" Target="../media/image207.png"/><Relationship Id="rId5" Type="http://schemas.openxmlformats.org/officeDocument/2006/relationships/image" Target="../media/image209.png"/><Relationship Id="rId6" Type="http://schemas.openxmlformats.org/officeDocument/2006/relationships/image" Target="../media/image205.png"/><Relationship Id="rId7" Type="http://schemas.openxmlformats.org/officeDocument/2006/relationships/image" Target="../media/image20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9.xml"/><Relationship Id="rId3" Type="http://schemas.openxmlformats.org/officeDocument/2006/relationships/image" Target="../media/image208.png"/><Relationship Id="rId4" Type="http://schemas.openxmlformats.org/officeDocument/2006/relationships/image" Target="../media/image21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0.xml"/><Relationship Id="rId3" Type="http://schemas.openxmlformats.org/officeDocument/2006/relationships/image" Target="../media/image21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1.xml"/><Relationship Id="rId3" Type="http://schemas.openxmlformats.org/officeDocument/2006/relationships/image" Target="../media/image204.png"/><Relationship Id="rId4" Type="http://schemas.openxmlformats.org/officeDocument/2006/relationships/image" Target="../media/image20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2.xml"/><Relationship Id="rId3" Type="http://schemas.openxmlformats.org/officeDocument/2006/relationships/image" Target="../media/image214.png"/><Relationship Id="rId4" Type="http://schemas.openxmlformats.org/officeDocument/2006/relationships/image" Target="../media/image212.png"/><Relationship Id="rId5" Type="http://schemas.openxmlformats.org/officeDocument/2006/relationships/image" Target="../media/image217.png"/><Relationship Id="rId6" Type="http://schemas.openxmlformats.org/officeDocument/2006/relationships/image" Target="../media/image213.png"/><Relationship Id="rId7" Type="http://schemas.openxmlformats.org/officeDocument/2006/relationships/image" Target="../media/image20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3.xml"/><Relationship Id="rId3" Type="http://schemas.openxmlformats.org/officeDocument/2006/relationships/image" Target="../media/image216.png"/><Relationship Id="rId4" Type="http://schemas.openxmlformats.org/officeDocument/2006/relationships/image" Target="../media/image22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4.xml"/><Relationship Id="rId3" Type="http://schemas.openxmlformats.org/officeDocument/2006/relationships/image" Target="../media/image21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5.xml"/><Relationship Id="rId3" Type="http://schemas.openxmlformats.org/officeDocument/2006/relationships/image" Target="../media/image218.png"/><Relationship Id="rId4" Type="http://schemas.openxmlformats.org/officeDocument/2006/relationships/image" Target="../media/image225.png"/><Relationship Id="rId5" Type="http://schemas.openxmlformats.org/officeDocument/2006/relationships/image" Target="../media/image222.png"/><Relationship Id="rId6" Type="http://schemas.openxmlformats.org/officeDocument/2006/relationships/image" Target="../media/image21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6.xml"/><Relationship Id="rId3" Type="http://schemas.openxmlformats.org/officeDocument/2006/relationships/image" Target="../media/image221.png"/><Relationship Id="rId4" Type="http://schemas.openxmlformats.org/officeDocument/2006/relationships/image" Target="../media/image22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7.xml"/><Relationship Id="rId3" Type="http://schemas.openxmlformats.org/officeDocument/2006/relationships/image" Target="../media/image231.png"/><Relationship Id="rId4" Type="http://schemas.openxmlformats.org/officeDocument/2006/relationships/image" Target="../media/image22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8.xml"/><Relationship Id="rId3" Type="http://schemas.openxmlformats.org/officeDocument/2006/relationships/image" Target="../media/image23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9.xml"/><Relationship Id="rId3" Type="http://schemas.openxmlformats.org/officeDocument/2006/relationships/image" Target="../media/image226.png"/><Relationship Id="rId4" Type="http://schemas.openxmlformats.org/officeDocument/2006/relationships/image" Target="../media/image22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0.xml"/><Relationship Id="rId3" Type="http://schemas.openxmlformats.org/officeDocument/2006/relationships/image" Target="../media/image230.png"/><Relationship Id="rId4" Type="http://schemas.openxmlformats.org/officeDocument/2006/relationships/image" Target="../media/image23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1.xml"/><Relationship Id="rId3" Type="http://schemas.openxmlformats.org/officeDocument/2006/relationships/image" Target="../media/image176.png"/><Relationship Id="rId4" Type="http://schemas.openxmlformats.org/officeDocument/2006/relationships/image" Target="../media/image22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2.xml"/><Relationship Id="rId3" Type="http://schemas.openxmlformats.org/officeDocument/2006/relationships/image" Target="../media/image233.png"/><Relationship Id="rId4" Type="http://schemas.openxmlformats.org/officeDocument/2006/relationships/image" Target="../media/image23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3.xml"/><Relationship Id="rId3" Type="http://schemas.openxmlformats.org/officeDocument/2006/relationships/image" Target="../media/image240.png"/><Relationship Id="rId4" Type="http://schemas.openxmlformats.org/officeDocument/2006/relationships/image" Target="../media/image234.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4.xml"/><Relationship Id="rId3" Type="http://schemas.openxmlformats.org/officeDocument/2006/relationships/image" Target="../media/image234.png"/><Relationship Id="rId4" Type="http://schemas.openxmlformats.org/officeDocument/2006/relationships/image" Target="../media/image237.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5.xml"/><Relationship Id="rId3" Type="http://schemas.openxmlformats.org/officeDocument/2006/relationships/image" Target="../media/image239.png"/><Relationship Id="rId4" Type="http://schemas.openxmlformats.org/officeDocument/2006/relationships/image" Target="../media/image24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6.xml"/><Relationship Id="rId3" Type="http://schemas.openxmlformats.org/officeDocument/2006/relationships/image" Target="../media/image253.png"/><Relationship Id="rId4" Type="http://schemas.openxmlformats.org/officeDocument/2006/relationships/image" Target="../media/image241.png"/><Relationship Id="rId5" Type="http://schemas.openxmlformats.org/officeDocument/2006/relationships/image" Target="../media/image238.png"/><Relationship Id="rId6" Type="http://schemas.openxmlformats.org/officeDocument/2006/relationships/image" Target="../media/image249.png"/><Relationship Id="rId7" Type="http://schemas.openxmlformats.org/officeDocument/2006/relationships/image" Target="../media/image245.png"/><Relationship Id="rId8" Type="http://schemas.openxmlformats.org/officeDocument/2006/relationships/image" Target="../media/image24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7.xml"/><Relationship Id="rId3" Type="http://schemas.openxmlformats.org/officeDocument/2006/relationships/image" Target="../media/image247.png"/><Relationship Id="rId4" Type="http://schemas.openxmlformats.org/officeDocument/2006/relationships/image" Target="../media/image258.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8.xml"/><Relationship Id="rId3" Type="http://schemas.openxmlformats.org/officeDocument/2006/relationships/image" Target="../media/image246.png"/><Relationship Id="rId4" Type="http://schemas.openxmlformats.org/officeDocument/2006/relationships/image" Target="../media/image25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9.xml"/><Relationship Id="rId3" Type="http://schemas.openxmlformats.org/officeDocument/2006/relationships/image" Target="../media/image244.png"/><Relationship Id="rId4" Type="http://schemas.openxmlformats.org/officeDocument/2006/relationships/image" Target="../media/image248.png"/><Relationship Id="rId5" Type="http://schemas.openxmlformats.org/officeDocument/2006/relationships/image" Target="../media/image257.png"/><Relationship Id="rId6" Type="http://schemas.openxmlformats.org/officeDocument/2006/relationships/image" Target="../media/image263.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0.xml"/><Relationship Id="rId3" Type="http://schemas.openxmlformats.org/officeDocument/2006/relationships/image" Target="../media/image252.png"/><Relationship Id="rId4" Type="http://schemas.openxmlformats.org/officeDocument/2006/relationships/image" Target="../media/image25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1.xml"/><Relationship Id="rId3" Type="http://schemas.openxmlformats.org/officeDocument/2006/relationships/image" Target="../media/image25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2.xml"/><Relationship Id="rId3" Type="http://schemas.openxmlformats.org/officeDocument/2006/relationships/image" Target="../media/image25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3.xml"/><Relationship Id="rId3" Type="http://schemas.openxmlformats.org/officeDocument/2006/relationships/image" Target="../media/image250.png"/><Relationship Id="rId4" Type="http://schemas.openxmlformats.org/officeDocument/2006/relationships/image" Target="../media/image264.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4.xml"/><Relationship Id="rId3" Type="http://schemas.openxmlformats.org/officeDocument/2006/relationships/image" Target="../media/image260.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5.xml"/><Relationship Id="rId3" Type="http://schemas.openxmlformats.org/officeDocument/2006/relationships/image" Target="../media/image255.png"/><Relationship Id="rId4" Type="http://schemas.openxmlformats.org/officeDocument/2006/relationships/image" Target="../media/image259.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6.xml"/><Relationship Id="rId3" Type="http://schemas.openxmlformats.org/officeDocument/2006/relationships/image" Target="../media/image26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7.xml"/><Relationship Id="rId3" Type="http://schemas.openxmlformats.org/officeDocument/2006/relationships/image" Target="../media/image266.png"/><Relationship Id="rId4" Type="http://schemas.openxmlformats.org/officeDocument/2006/relationships/image" Target="../media/image26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8.xml"/><Relationship Id="rId3" Type="http://schemas.openxmlformats.org/officeDocument/2006/relationships/image" Target="../media/image267.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9.xml"/><Relationship Id="rId3" Type="http://schemas.openxmlformats.org/officeDocument/2006/relationships/image" Target="../media/image265.png"/><Relationship Id="rId4" Type="http://schemas.openxmlformats.org/officeDocument/2006/relationships/image" Target="../media/image270.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0.xml"/><Relationship Id="rId3" Type="http://schemas.openxmlformats.org/officeDocument/2006/relationships/image" Target="../media/image269.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1.xml"/><Relationship Id="rId3" Type="http://schemas.openxmlformats.org/officeDocument/2006/relationships/image" Target="../media/image268.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67" name="Shape 67"/>
        <p:cNvGrpSpPr/>
        <p:nvPr/>
      </p:nvGrpSpPr>
      <p:grpSpPr>
        <a:xfrm>
          <a:off x="0" y="0"/>
          <a:ext cx="0" cy="0"/>
          <a:chOff x="0" y="0"/>
          <a:chExt cx="0" cy="0"/>
        </a:xfrm>
      </p:grpSpPr>
      <p:sp>
        <p:nvSpPr>
          <p:cNvPr id="68" name="Google Shape;68;g3446180b99b_0_0"/>
          <p:cNvSpPr txBox="1"/>
          <p:nvPr>
            <p:ph idx="4294967295" type="ctrTitle"/>
          </p:nvPr>
        </p:nvSpPr>
        <p:spPr>
          <a:xfrm>
            <a:off x="282150" y="140250"/>
            <a:ext cx="11627700" cy="6577500"/>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rgbClr val="000000"/>
              </a:buClr>
              <a:buSzPct val="100000"/>
              <a:buFont typeface="Cambria Math"/>
              <a:buNone/>
            </a:pPr>
            <a:r>
              <a:rPr b="1" i="0" lang="es-MX" sz="4000" u="none" strike="noStrike">
                <a:solidFill>
                  <a:srgbClr val="000000"/>
                </a:solidFill>
                <a:latin typeface="Cambria Math"/>
                <a:ea typeface="Cambria Math"/>
                <a:cs typeface="Cambria Math"/>
                <a:sym typeface="Cambria Math"/>
              </a:rPr>
              <a:t>Proyecto Global Integrador:</a:t>
            </a:r>
            <a:br>
              <a:rPr b="0" lang="es-MX" sz="9800"/>
            </a:br>
            <a:r>
              <a:rPr b="1" i="0" lang="es-MX" sz="4000" u="none" strike="noStrike">
                <a:solidFill>
                  <a:srgbClr val="000000"/>
                </a:solidFill>
                <a:latin typeface="Cambria Math"/>
                <a:ea typeface="Cambria Math"/>
                <a:cs typeface="Cambria Math"/>
                <a:sym typeface="Cambria Math"/>
              </a:rPr>
              <a:t>Control de Accionamiento de </a:t>
            </a:r>
            <a:r>
              <a:rPr lang="es-MX" sz="4000">
                <a:solidFill>
                  <a:srgbClr val="000000"/>
                </a:solidFill>
                <a:latin typeface="Cambria Math"/>
                <a:ea typeface="Cambria Math"/>
                <a:cs typeface="Cambria Math"/>
                <a:sym typeface="Cambria Math"/>
              </a:rPr>
              <a:t>Máquina de</a:t>
            </a:r>
            <a:r>
              <a:rPr b="1" i="0" lang="es-MX" sz="4000" u="none" strike="noStrike">
                <a:solidFill>
                  <a:srgbClr val="000000"/>
                </a:solidFill>
                <a:latin typeface="Cambria Math"/>
                <a:ea typeface="Cambria Math"/>
                <a:cs typeface="Cambria Math"/>
                <a:sym typeface="Cambria Math"/>
              </a:rPr>
              <a:t> CA Sincrónic</a:t>
            </a:r>
            <a:r>
              <a:rPr lang="es-MX" sz="4000">
                <a:solidFill>
                  <a:srgbClr val="000000"/>
                </a:solidFill>
                <a:latin typeface="Cambria Math"/>
                <a:ea typeface="Cambria Math"/>
                <a:cs typeface="Cambria Math"/>
                <a:sym typeface="Cambria Math"/>
              </a:rPr>
              <a:t>a</a:t>
            </a:r>
            <a:r>
              <a:rPr b="1" i="0" lang="es-MX" sz="4000" u="none" strike="noStrike">
                <a:solidFill>
                  <a:srgbClr val="000000"/>
                </a:solidFill>
                <a:latin typeface="Cambria Math"/>
                <a:ea typeface="Cambria Math"/>
                <a:cs typeface="Cambria Math"/>
                <a:sym typeface="Cambria Math"/>
              </a:rPr>
              <a:t> de Imanes Permanentes</a:t>
            </a:r>
            <a:br>
              <a:rPr b="0" lang="es-MX" sz="9800"/>
            </a:br>
            <a:r>
              <a:rPr b="1" i="0" lang="es-MX" sz="4000" u="none" strike="noStrike">
                <a:solidFill>
                  <a:srgbClr val="000000"/>
                </a:solidFill>
                <a:latin typeface="Cambria Math"/>
                <a:ea typeface="Cambria Math"/>
                <a:cs typeface="Cambria Math"/>
                <a:sym typeface="Cambria Math"/>
              </a:rPr>
              <a:t>Participantes:</a:t>
            </a:r>
            <a:br>
              <a:rPr b="1" i="0" lang="es-MX" sz="4000" u="none" strike="noStrike">
                <a:solidFill>
                  <a:srgbClr val="000000"/>
                </a:solidFill>
                <a:latin typeface="Cambria Math"/>
                <a:ea typeface="Cambria Math"/>
                <a:cs typeface="Cambria Math"/>
                <a:sym typeface="Cambria Math"/>
              </a:rPr>
            </a:br>
            <a:br>
              <a:rPr b="0" lang="es-MX" sz="9800"/>
            </a:br>
            <a:r>
              <a:rPr b="1" i="0" lang="es-MX" sz="4000" u="none" strike="noStrike">
                <a:solidFill>
                  <a:srgbClr val="000000"/>
                </a:solidFill>
                <a:latin typeface="Cambria Math"/>
                <a:ea typeface="Cambria Math"/>
                <a:cs typeface="Cambria Math"/>
                <a:sym typeface="Cambria Math"/>
              </a:rPr>
              <a:t> Arroyat, Nahuel (13832)</a:t>
            </a:r>
            <a:br>
              <a:rPr b="0" lang="es-MX" sz="9800"/>
            </a:br>
            <a:r>
              <a:rPr b="1" i="0" lang="es-MX" sz="4000" u="none" strike="noStrike">
                <a:solidFill>
                  <a:srgbClr val="000000"/>
                </a:solidFill>
                <a:latin typeface="Cambria Math"/>
                <a:ea typeface="Cambria Math"/>
                <a:cs typeface="Cambria Math"/>
                <a:sym typeface="Cambria Math"/>
              </a:rPr>
              <a:t>Gassibe, Julián (13802) </a:t>
            </a:r>
            <a:br>
              <a:rPr b="1" i="0" lang="es-MX" sz="4000" u="none" strike="noStrike">
                <a:solidFill>
                  <a:srgbClr val="000000"/>
                </a:solidFill>
                <a:latin typeface="Cambria Math"/>
                <a:ea typeface="Cambria Math"/>
                <a:cs typeface="Cambria Math"/>
                <a:sym typeface="Cambria Math"/>
              </a:rPr>
            </a:br>
            <a:br>
              <a:rPr b="0" lang="es-MX" sz="9800"/>
            </a:br>
            <a:r>
              <a:rPr b="1" i="0" lang="es-MX" sz="4000" u="none" strike="noStrike">
                <a:solidFill>
                  <a:srgbClr val="000000"/>
                </a:solidFill>
                <a:latin typeface="Cambria Math"/>
                <a:ea typeface="Cambria Math"/>
                <a:cs typeface="Cambria Math"/>
                <a:sym typeface="Cambria Math"/>
              </a:rPr>
              <a:t>Año: 2025</a:t>
            </a:r>
            <a:br>
              <a:rPr b="0" lang="es-MX"/>
            </a:br>
            <a:br>
              <a:rPr lang="es-MX"/>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72" name="Shape 72"/>
        <p:cNvGrpSpPr/>
        <p:nvPr/>
      </p:nvGrpSpPr>
      <p:grpSpPr>
        <a:xfrm>
          <a:off x="0" y="0"/>
          <a:ext cx="0" cy="0"/>
          <a:chOff x="0" y="0"/>
          <a:chExt cx="0" cy="0"/>
        </a:xfrm>
      </p:grpSpPr>
      <p:sp>
        <p:nvSpPr>
          <p:cNvPr id="73" name="Google Shape;73;p2"/>
          <p:cNvSpPr txBox="1"/>
          <p:nvPr/>
        </p:nvSpPr>
        <p:spPr>
          <a:xfrm>
            <a:off x="704850" y="2117800"/>
            <a:ext cx="10782300" cy="341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latin typeface="Calibri"/>
                <a:ea typeface="Calibri"/>
                <a:cs typeface="Calibri"/>
                <a:sym typeface="Calibri"/>
              </a:rPr>
              <a:t>- Análisis y control de un motor sincrónico de imanes permanentes (PMSM) con inversor trifásico y carga mecá</a:t>
            </a:r>
            <a:r>
              <a:rPr b="0" i="0" lang="es-MX" sz="1800" u="none" cap="none" strike="noStrike">
                <a:solidFill>
                  <a:srgbClr val="000000"/>
                </a:solidFill>
                <a:latin typeface="Calibri"/>
                <a:ea typeface="Calibri"/>
                <a:cs typeface="Calibri"/>
                <a:sym typeface="Calibri"/>
              </a:rPr>
              <a:t>nica</a:t>
            </a:r>
            <a:endParaRPr/>
          </a:p>
          <a:p>
            <a:pPr indent="0" lvl="0" marL="0" marR="0" rtl="0" algn="l">
              <a:spcBef>
                <a:spcPts val="0"/>
              </a:spcBef>
              <a:spcAft>
                <a:spcPts val="0"/>
              </a:spcAft>
              <a:buNone/>
            </a:pPr>
            <a:r>
              <a:t/>
            </a:r>
            <a:endParaRPr b="0" i="0" sz="1800" u="none" strike="noStrike">
              <a:solidFill>
                <a:srgbClr val="000000"/>
              </a:solidFill>
              <a:latin typeface="Calibri"/>
              <a:ea typeface="Calibri"/>
              <a:cs typeface="Calibri"/>
              <a:sym typeface="Calibri"/>
            </a:endParaRPr>
          </a:p>
          <a:p>
            <a:pPr indent="0" lvl="0" marL="0" marR="0" rtl="0" algn="l">
              <a:spcBef>
                <a:spcPts val="0"/>
              </a:spcBef>
              <a:spcAft>
                <a:spcPts val="0"/>
              </a:spcAft>
              <a:buNone/>
            </a:pPr>
            <a:r>
              <a:rPr lang="es-MX" sz="1800">
                <a:solidFill>
                  <a:srgbClr val="000000"/>
                </a:solidFill>
                <a:latin typeface="Calibri"/>
                <a:ea typeface="Calibri"/>
                <a:cs typeface="Calibri"/>
                <a:sym typeface="Calibri"/>
              </a:rPr>
              <a:t>-E</a:t>
            </a:r>
            <a:r>
              <a:rPr b="0" i="0" lang="es-MX" sz="1800" u="none" strike="noStrike">
                <a:solidFill>
                  <a:srgbClr val="000000"/>
                </a:solidFill>
                <a:latin typeface="Calibri"/>
                <a:ea typeface="Calibri"/>
                <a:cs typeface="Calibri"/>
                <a:sym typeface="Calibri"/>
              </a:rPr>
              <a:t>strategia de control </a:t>
            </a:r>
            <a:r>
              <a:rPr lang="es-MX" sz="1800">
                <a:latin typeface="Calibri"/>
                <a:ea typeface="Calibri"/>
                <a:cs typeface="Calibri"/>
                <a:sym typeface="Calibri"/>
              </a:rPr>
              <a:t> de campo orientado </a:t>
            </a:r>
            <a:r>
              <a:rPr b="0" i="0" lang="es-MX" sz="1800" u="none" strike="noStrike">
                <a:solidFill>
                  <a:srgbClr val="000000"/>
                </a:solidFill>
                <a:latin typeface="Calibri"/>
                <a:ea typeface="Calibri"/>
                <a:cs typeface="Calibri"/>
                <a:sym typeface="Calibri"/>
              </a:rPr>
              <a:t>basada</a:t>
            </a:r>
            <a:r>
              <a:rPr b="0" i="0" lang="es-MX" sz="1800" u="none" strike="noStrike">
                <a:solidFill>
                  <a:srgbClr val="000000"/>
                </a:solidFill>
                <a:latin typeface="Calibri"/>
                <a:ea typeface="Calibri"/>
                <a:cs typeface="Calibri"/>
                <a:sym typeface="Calibri"/>
              </a:rPr>
              <a:t> en c</a:t>
            </a:r>
            <a:r>
              <a:rPr b="0" i="0" lang="es-MX" sz="1800" u="none" strike="noStrike">
                <a:solidFill>
                  <a:srgbClr val="000000"/>
                </a:solidFill>
                <a:latin typeface="Calibri"/>
                <a:ea typeface="Calibri"/>
                <a:cs typeface="Calibri"/>
                <a:sym typeface="Calibri"/>
              </a:rPr>
              <a:t>oordenadas qd0 (transformada directa e inversa de park)</a:t>
            </a:r>
            <a:endParaRPr b="0" i="0" sz="1800" u="none" strike="noStrike">
              <a:solidFill>
                <a:srgbClr val="000000"/>
              </a:solidFill>
              <a:latin typeface="Calibri"/>
              <a:ea typeface="Calibri"/>
              <a:cs typeface="Calibri"/>
              <a:sym typeface="Calibri"/>
            </a:endParaRPr>
          </a:p>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a:p>
            <a:pPr indent="0" lvl="0" marL="0" marR="0" rtl="0" algn="l">
              <a:spcBef>
                <a:spcPts val="0"/>
              </a:spcBef>
              <a:spcAft>
                <a:spcPts val="0"/>
              </a:spcAft>
              <a:buNone/>
            </a:pPr>
            <a:r>
              <a:rPr lang="es-MX" sz="1800">
                <a:solidFill>
                  <a:srgbClr val="000000"/>
                </a:solidFill>
                <a:latin typeface="Calibri"/>
                <a:ea typeface="Calibri"/>
                <a:cs typeface="Calibri"/>
                <a:sym typeface="Calibri"/>
              </a:rPr>
              <a:t>-</a:t>
            </a:r>
            <a:r>
              <a:rPr b="0" i="0" lang="es-MX" sz="1800" u="none" strike="noStrike">
                <a:solidFill>
                  <a:srgbClr val="000000"/>
                </a:solidFill>
                <a:latin typeface="Calibri"/>
                <a:ea typeface="Calibri"/>
                <a:cs typeface="Calibri"/>
                <a:sym typeface="Calibri"/>
              </a:rPr>
              <a:t>El objetivo es diseñar e implementar un sistema de control para un motor sincrónico de imanes permanentes (PMSM)</a:t>
            </a:r>
            <a:endParaRPr/>
          </a:p>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a:p>
            <a:pPr indent="0" lvl="0" marL="0" marR="0" rtl="0" algn="l">
              <a:spcBef>
                <a:spcPts val="0"/>
              </a:spcBef>
              <a:spcAft>
                <a:spcPts val="0"/>
              </a:spcAft>
              <a:buNone/>
            </a:pPr>
            <a:r>
              <a:rPr lang="es-MX" sz="1800">
                <a:solidFill>
                  <a:srgbClr val="000000"/>
                </a:solidFill>
                <a:latin typeface="Calibri"/>
                <a:ea typeface="Calibri"/>
                <a:cs typeface="Calibri"/>
                <a:sym typeface="Calibri"/>
              </a:rPr>
              <a:t>-Mediante </a:t>
            </a:r>
            <a:r>
              <a:rPr b="0" i="0" lang="es-MX" sz="1800" u="none" strike="noStrike">
                <a:solidFill>
                  <a:srgbClr val="000000"/>
                </a:solidFill>
                <a:latin typeface="Calibri"/>
                <a:ea typeface="Calibri"/>
                <a:cs typeface="Calibri"/>
                <a:sym typeface="Calibri"/>
              </a:rPr>
              <a:t>un esquema de control en cascada</a:t>
            </a:r>
            <a:r>
              <a:rPr lang="es-MX" sz="1800">
                <a:latin typeface="Calibri"/>
                <a:ea typeface="Calibri"/>
                <a:cs typeface="Calibri"/>
                <a:sym typeface="Calibri"/>
              </a:rPr>
              <a:t>, g</a:t>
            </a:r>
            <a:r>
              <a:rPr lang="es-MX" sz="1800">
                <a:latin typeface="Calibri"/>
                <a:ea typeface="Calibri"/>
                <a:cs typeface="Calibri"/>
                <a:sym typeface="Calibri"/>
              </a:rPr>
              <a:t>arantizamos</a:t>
            </a:r>
            <a:r>
              <a:rPr b="0" i="0" lang="es-MX" sz="1800" u="none" strike="noStrike">
                <a:solidFill>
                  <a:srgbClr val="000000"/>
                </a:solidFill>
                <a:latin typeface="Calibri"/>
                <a:ea typeface="Calibri"/>
                <a:cs typeface="Calibri"/>
                <a:sym typeface="Calibri"/>
              </a:rPr>
              <a:t> que el sistema sea estable, siga correctamente las referencias, y pueda rechazar perturbaciones externas como el torque de carga.</a:t>
            </a:r>
            <a:endParaRPr/>
          </a:p>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a:p>
            <a:pPr indent="0" lvl="0" marL="0" marR="0" rtl="0" algn="l">
              <a:spcBef>
                <a:spcPts val="0"/>
              </a:spcBef>
              <a:spcAft>
                <a:spcPts val="0"/>
              </a:spcAft>
              <a:buNone/>
            </a:pPr>
            <a:r>
              <a:rPr lang="es-MX" sz="1800">
                <a:solidFill>
                  <a:srgbClr val="000000"/>
                </a:solidFill>
                <a:latin typeface="Calibri"/>
                <a:ea typeface="Calibri"/>
                <a:cs typeface="Calibri"/>
                <a:sym typeface="Calibri"/>
              </a:rPr>
              <a:t>-</a:t>
            </a:r>
            <a:r>
              <a:rPr b="0" i="0" lang="es-MX" sz="1800" u="none" strike="noStrike">
                <a:solidFill>
                  <a:srgbClr val="000000"/>
                </a:solidFill>
                <a:latin typeface="Calibri"/>
                <a:ea typeface="Calibri"/>
                <a:cs typeface="Calibri"/>
                <a:sym typeface="Calibri"/>
              </a:rPr>
              <a:t> Realizaremos un modelo matemático del motor, de la carga y del sistema térmico del motor, diseño de los controladores y la validación del sistema mediante simulaciones en MATLAB/Simulink.</a:t>
            </a:r>
            <a:endParaRPr sz="1800">
              <a:solidFill>
                <a:schemeClr val="lt1"/>
              </a:solidFill>
              <a:latin typeface="Arial"/>
              <a:ea typeface="Arial"/>
              <a:cs typeface="Arial"/>
              <a:sym typeface="Arial"/>
            </a:endParaRPr>
          </a:p>
        </p:txBody>
      </p:sp>
      <p:sp>
        <p:nvSpPr>
          <p:cNvPr id="74" name="Google Shape;74;p2"/>
          <p:cNvSpPr txBox="1"/>
          <p:nvPr/>
        </p:nvSpPr>
        <p:spPr>
          <a:xfrm>
            <a:off x="5122950" y="860000"/>
            <a:ext cx="1946100" cy="44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2300">
                <a:latin typeface="Cambria Math"/>
                <a:ea typeface="Cambria Math"/>
                <a:cs typeface="Cambria Math"/>
                <a:sym typeface="Cambria Math"/>
              </a:rPr>
              <a:t>Introducción</a:t>
            </a:r>
            <a:endParaRPr sz="2300">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78" name="Shape 78"/>
        <p:cNvGrpSpPr/>
        <p:nvPr/>
      </p:nvGrpSpPr>
      <p:grpSpPr>
        <a:xfrm>
          <a:off x="0" y="0"/>
          <a:ext cx="0" cy="0"/>
          <a:chOff x="0" y="0"/>
          <a:chExt cx="0" cy="0"/>
        </a:xfrm>
      </p:grpSpPr>
      <p:sp>
        <p:nvSpPr>
          <p:cNvPr id="79" name="Google Shape;79;p3"/>
          <p:cNvSpPr txBox="1"/>
          <p:nvPr/>
        </p:nvSpPr>
        <p:spPr>
          <a:xfrm>
            <a:off x="889368" y="1802242"/>
            <a:ext cx="1714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MX" sz="1800" u="none" strike="noStrike">
                <a:solidFill>
                  <a:srgbClr val="000000"/>
                </a:solidFill>
                <a:latin typeface="Cambria Math"/>
                <a:ea typeface="Cambria Math"/>
                <a:cs typeface="Cambria Math"/>
                <a:sym typeface="Cambria Math"/>
              </a:rPr>
              <a:t>Carga mecánica</a:t>
            </a:r>
            <a:endParaRPr sz="1800">
              <a:solidFill>
                <a:schemeClr val="lt1"/>
              </a:solidFill>
              <a:latin typeface="Arial"/>
              <a:ea typeface="Arial"/>
              <a:cs typeface="Arial"/>
              <a:sym typeface="Arial"/>
            </a:endParaRPr>
          </a:p>
        </p:txBody>
      </p:sp>
      <p:sp>
        <p:nvSpPr>
          <p:cNvPr id="80" name="Google Shape;80;p3"/>
          <p:cNvSpPr txBox="1"/>
          <p:nvPr/>
        </p:nvSpPr>
        <p:spPr>
          <a:xfrm>
            <a:off x="1712913" y="4859317"/>
            <a:ext cx="2195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MX" sz="1800" u="none" strike="noStrike">
                <a:solidFill>
                  <a:srgbClr val="000000"/>
                </a:solidFill>
                <a:latin typeface="Cambria Math"/>
                <a:ea typeface="Cambria Math"/>
                <a:cs typeface="Cambria Math"/>
                <a:sym typeface="Cambria Math"/>
              </a:rPr>
              <a:t>Tren de transmisión</a:t>
            </a:r>
            <a:endParaRPr sz="1800">
              <a:solidFill>
                <a:schemeClr val="lt1"/>
              </a:solidFill>
              <a:latin typeface="Arial"/>
              <a:ea typeface="Arial"/>
              <a:cs typeface="Arial"/>
              <a:sym typeface="Arial"/>
            </a:endParaRPr>
          </a:p>
        </p:txBody>
      </p:sp>
      <p:sp>
        <p:nvSpPr>
          <p:cNvPr id="81" name="Google Shape;81;p3"/>
          <p:cNvSpPr txBox="1"/>
          <p:nvPr/>
        </p:nvSpPr>
        <p:spPr>
          <a:xfrm>
            <a:off x="4613700" y="123800"/>
            <a:ext cx="29646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2200">
                <a:latin typeface="Cambria Math"/>
                <a:ea typeface="Cambria Math"/>
                <a:cs typeface="Cambria Math"/>
                <a:sym typeface="Cambria Math"/>
              </a:rPr>
              <a:t>Modelado del sistema</a:t>
            </a:r>
            <a:endParaRPr sz="2200">
              <a:solidFill>
                <a:schemeClr val="lt1"/>
              </a:solidFill>
              <a:latin typeface="Arial"/>
              <a:ea typeface="Arial"/>
              <a:cs typeface="Arial"/>
              <a:sym typeface="Arial"/>
            </a:endParaRPr>
          </a:p>
        </p:txBody>
      </p:sp>
      <p:pic>
        <p:nvPicPr>
          <p:cNvPr id="82" name="Google Shape;82;p3"/>
          <p:cNvPicPr preferRelativeResize="0"/>
          <p:nvPr/>
        </p:nvPicPr>
        <p:blipFill>
          <a:blip r:embed="rId3">
            <a:alphaModFix/>
          </a:blip>
          <a:stretch>
            <a:fillRect/>
          </a:stretch>
        </p:blipFill>
        <p:spPr>
          <a:xfrm>
            <a:off x="3092425" y="723350"/>
            <a:ext cx="6007149" cy="2527100"/>
          </a:xfrm>
          <a:prstGeom prst="rect">
            <a:avLst/>
          </a:prstGeom>
          <a:noFill/>
          <a:ln>
            <a:noFill/>
          </a:ln>
        </p:spPr>
      </p:pic>
      <p:pic>
        <p:nvPicPr>
          <p:cNvPr id="83" name="Google Shape;83;p3"/>
          <p:cNvPicPr preferRelativeResize="0"/>
          <p:nvPr/>
        </p:nvPicPr>
        <p:blipFill>
          <a:blip r:embed="rId4">
            <a:alphaModFix/>
          </a:blip>
          <a:stretch>
            <a:fillRect/>
          </a:stretch>
        </p:blipFill>
        <p:spPr>
          <a:xfrm>
            <a:off x="4357675" y="3734288"/>
            <a:ext cx="3476625" cy="2619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87" name="Shape 87"/>
        <p:cNvGrpSpPr/>
        <p:nvPr/>
      </p:nvGrpSpPr>
      <p:grpSpPr>
        <a:xfrm>
          <a:off x="0" y="0"/>
          <a:ext cx="0" cy="0"/>
          <a:chOff x="0" y="0"/>
          <a:chExt cx="0" cy="0"/>
        </a:xfrm>
      </p:grpSpPr>
      <p:sp>
        <p:nvSpPr>
          <p:cNvPr id="88" name="Google Shape;88;p4"/>
          <p:cNvSpPr txBox="1"/>
          <p:nvPr/>
        </p:nvSpPr>
        <p:spPr>
          <a:xfrm>
            <a:off x="3202050" y="198950"/>
            <a:ext cx="57879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SzPts val="1800"/>
              <a:buFont typeface="Cambria Math"/>
              <a:buNone/>
            </a:pPr>
            <a:r>
              <a:rPr b="1" i="0" lang="es-MX" sz="1800" u="none" strike="noStrike">
                <a:solidFill>
                  <a:srgbClr val="000000"/>
                </a:solidFill>
                <a:latin typeface="Cambria Math"/>
                <a:ea typeface="Cambria Math"/>
                <a:cs typeface="Cambria Math"/>
                <a:sym typeface="Cambria Math"/>
              </a:rPr>
              <a:t>Subsistema mecánico (motor + caja reductora</a:t>
            </a:r>
            <a:r>
              <a:rPr b="1" lang="es-MX" sz="1800">
                <a:latin typeface="Cambria Math"/>
                <a:ea typeface="Cambria Math"/>
                <a:cs typeface="Cambria Math"/>
                <a:sym typeface="Cambria Math"/>
              </a:rPr>
              <a:t>+carga</a:t>
            </a:r>
            <a:r>
              <a:rPr b="1" i="0" lang="es-MX" sz="1800" u="none" strike="noStrike">
                <a:solidFill>
                  <a:srgbClr val="000000"/>
                </a:solidFill>
                <a:latin typeface="Cambria Math"/>
                <a:ea typeface="Cambria Math"/>
                <a:cs typeface="Cambria Math"/>
                <a:sym typeface="Cambria Math"/>
              </a:rPr>
              <a:t>)</a:t>
            </a:r>
            <a:endParaRPr b="0" sz="1800">
              <a:solidFill>
                <a:schemeClr val="lt1"/>
              </a:solidFill>
              <a:latin typeface="Arial"/>
              <a:ea typeface="Arial"/>
              <a:cs typeface="Arial"/>
              <a:sym typeface="Arial"/>
            </a:endParaRPr>
          </a:p>
          <a:p>
            <a:pPr indent="0" lvl="0" marL="0" marR="0" rtl="0" algn="l">
              <a:spcBef>
                <a:spcPts val="1200"/>
              </a:spcBef>
              <a:spcAft>
                <a:spcPts val="0"/>
              </a:spcAft>
              <a:buClr>
                <a:schemeClr val="lt1"/>
              </a:buClr>
              <a:buSzPts val="1800"/>
              <a:buFont typeface="Arial"/>
              <a:buNone/>
            </a:pPr>
            <a:br>
              <a:rPr lang="es-MX" sz="1800">
                <a:solidFill>
                  <a:schemeClr val="lt1"/>
                </a:solidFill>
                <a:latin typeface="Arial"/>
                <a:ea typeface="Arial"/>
                <a:cs typeface="Arial"/>
                <a:sym typeface="Arial"/>
              </a:rPr>
            </a:br>
            <a:endParaRPr sz="1800">
              <a:solidFill>
                <a:schemeClr val="lt1"/>
              </a:solidFill>
              <a:latin typeface="Arial"/>
              <a:ea typeface="Arial"/>
              <a:cs typeface="Arial"/>
              <a:sym typeface="Arial"/>
            </a:endParaRPr>
          </a:p>
        </p:txBody>
      </p:sp>
      <p:pic>
        <p:nvPicPr>
          <p:cNvPr id="89" name="Google Shape;89;p4"/>
          <p:cNvPicPr preferRelativeResize="0"/>
          <p:nvPr/>
        </p:nvPicPr>
        <p:blipFill>
          <a:blip r:embed="rId3">
            <a:alphaModFix/>
          </a:blip>
          <a:stretch>
            <a:fillRect/>
          </a:stretch>
        </p:blipFill>
        <p:spPr>
          <a:xfrm>
            <a:off x="961125" y="836200"/>
            <a:ext cx="5658901" cy="2301785"/>
          </a:xfrm>
          <a:prstGeom prst="rect">
            <a:avLst/>
          </a:prstGeom>
          <a:noFill/>
          <a:ln>
            <a:noFill/>
          </a:ln>
        </p:spPr>
      </p:pic>
      <p:pic>
        <p:nvPicPr>
          <p:cNvPr id="90" name="Google Shape;90;p4"/>
          <p:cNvPicPr preferRelativeResize="0"/>
          <p:nvPr/>
        </p:nvPicPr>
        <p:blipFill>
          <a:blip r:embed="rId4">
            <a:alphaModFix/>
          </a:blip>
          <a:stretch>
            <a:fillRect/>
          </a:stretch>
        </p:blipFill>
        <p:spPr>
          <a:xfrm>
            <a:off x="961125" y="3297335"/>
            <a:ext cx="7143750" cy="923925"/>
          </a:xfrm>
          <a:prstGeom prst="rect">
            <a:avLst/>
          </a:prstGeom>
          <a:noFill/>
          <a:ln>
            <a:noFill/>
          </a:ln>
        </p:spPr>
      </p:pic>
      <p:pic>
        <p:nvPicPr>
          <p:cNvPr id="91" name="Google Shape;91;p4"/>
          <p:cNvPicPr preferRelativeResize="0"/>
          <p:nvPr/>
        </p:nvPicPr>
        <p:blipFill>
          <a:blip r:embed="rId5">
            <a:alphaModFix/>
          </a:blip>
          <a:stretch>
            <a:fillRect/>
          </a:stretch>
        </p:blipFill>
        <p:spPr>
          <a:xfrm>
            <a:off x="950938" y="4373660"/>
            <a:ext cx="7164136" cy="923087"/>
          </a:xfrm>
          <a:prstGeom prst="rect">
            <a:avLst/>
          </a:prstGeom>
          <a:noFill/>
          <a:ln>
            <a:noFill/>
          </a:ln>
        </p:spPr>
      </p:pic>
      <p:pic>
        <p:nvPicPr>
          <p:cNvPr id="92" name="Google Shape;92;p4"/>
          <p:cNvPicPr preferRelativeResize="0"/>
          <p:nvPr/>
        </p:nvPicPr>
        <p:blipFill>
          <a:blip r:embed="rId6">
            <a:alphaModFix/>
          </a:blip>
          <a:stretch>
            <a:fillRect/>
          </a:stretch>
        </p:blipFill>
        <p:spPr>
          <a:xfrm>
            <a:off x="8493850" y="3254050"/>
            <a:ext cx="2543175" cy="3162300"/>
          </a:xfrm>
          <a:prstGeom prst="rect">
            <a:avLst/>
          </a:prstGeom>
          <a:noFill/>
          <a:ln>
            <a:noFill/>
          </a:ln>
        </p:spPr>
      </p:pic>
      <p:pic>
        <p:nvPicPr>
          <p:cNvPr id="93" name="Google Shape;93;p4"/>
          <p:cNvPicPr preferRelativeResize="0"/>
          <p:nvPr/>
        </p:nvPicPr>
        <p:blipFill>
          <a:blip r:embed="rId7">
            <a:alphaModFix/>
          </a:blip>
          <a:stretch>
            <a:fillRect/>
          </a:stretch>
        </p:blipFill>
        <p:spPr>
          <a:xfrm>
            <a:off x="950950" y="5449150"/>
            <a:ext cx="7164124" cy="101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97" name="Shape 97"/>
        <p:cNvGrpSpPr/>
        <p:nvPr/>
      </p:nvGrpSpPr>
      <p:grpSpPr>
        <a:xfrm>
          <a:off x="0" y="0"/>
          <a:ext cx="0" cy="0"/>
          <a:chOff x="0" y="0"/>
          <a:chExt cx="0" cy="0"/>
        </a:xfrm>
      </p:grpSpPr>
      <p:pic>
        <p:nvPicPr>
          <p:cNvPr id="98" name="Google Shape;98;p5"/>
          <p:cNvPicPr preferRelativeResize="0"/>
          <p:nvPr/>
        </p:nvPicPr>
        <p:blipFill>
          <a:blip r:embed="rId3">
            <a:alphaModFix/>
          </a:blip>
          <a:stretch>
            <a:fillRect/>
          </a:stretch>
        </p:blipFill>
        <p:spPr>
          <a:xfrm>
            <a:off x="986600" y="151175"/>
            <a:ext cx="10218800" cy="6555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02" name="Shape 102"/>
        <p:cNvGrpSpPr/>
        <p:nvPr/>
      </p:nvGrpSpPr>
      <p:grpSpPr>
        <a:xfrm>
          <a:off x="0" y="0"/>
          <a:ext cx="0" cy="0"/>
          <a:chOff x="0" y="0"/>
          <a:chExt cx="0" cy="0"/>
        </a:xfrm>
      </p:grpSpPr>
      <p:sp>
        <p:nvSpPr>
          <p:cNvPr id="103" name="Google Shape;103;p6"/>
          <p:cNvSpPr txBox="1"/>
          <p:nvPr/>
        </p:nvSpPr>
        <p:spPr>
          <a:xfrm>
            <a:off x="4488749" y="121775"/>
            <a:ext cx="3214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MX" sz="1800" u="none" strike="noStrike">
                <a:solidFill>
                  <a:srgbClr val="000000"/>
                </a:solidFill>
                <a:latin typeface="Cambria Math"/>
                <a:ea typeface="Cambria Math"/>
                <a:cs typeface="Cambria Math"/>
                <a:sym typeface="Cambria Math"/>
              </a:rPr>
              <a:t>Subsistema electromagnético</a:t>
            </a:r>
            <a:endParaRPr sz="1800">
              <a:solidFill>
                <a:schemeClr val="lt1"/>
              </a:solidFill>
              <a:latin typeface="Arial"/>
              <a:ea typeface="Arial"/>
              <a:cs typeface="Arial"/>
              <a:sym typeface="Arial"/>
            </a:endParaRPr>
          </a:p>
        </p:txBody>
      </p:sp>
      <p:pic>
        <p:nvPicPr>
          <p:cNvPr id="104" name="Google Shape;104;p6"/>
          <p:cNvPicPr preferRelativeResize="0"/>
          <p:nvPr/>
        </p:nvPicPr>
        <p:blipFill>
          <a:blip r:embed="rId3">
            <a:alphaModFix/>
          </a:blip>
          <a:stretch>
            <a:fillRect/>
          </a:stretch>
        </p:blipFill>
        <p:spPr>
          <a:xfrm>
            <a:off x="1118000" y="491075"/>
            <a:ext cx="2619375" cy="1638300"/>
          </a:xfrm>
          <a:prstGeom prst="rect">
            <a:avLst/>
          </a:prstGeom>
          <a:noFill/>
          <a:ln>
            <a:noFill/>
          </a:ln>
        </p:spPr>
      </p:pic>
      <p:pic>
        <p:nvPicPr>
          <p:cNvPr id="105" name="Google Shape;105;p6"/>
          <p:cNvPicPr preferRelativeResize="0"/>
          <p:nvPr/>
        </p:nvPicPr>
        <p:blipFill>
          <a:blip r:embed="rId4">
            <a:alphaModFix/>
          </a:blip>
          <a:stretch>
            <a:fillRect/>
          </a:stretch>
        </p:blipFill>
        <p:spPr>
          <a:xfrm>
            <a:off x="1118000" y="2222888"/>
            <a:ext cx="7648575" cy="962025"/>
          </a:xfrm>
          <a:prstGeom prst="rect">
            <a:avLst/>
          </a:prstGeom>
          <a:noFill/>
          <a:ln>
            <a:noFill/>
          </a:ln>
        </p:spPr>
      </p:pic>
      <p:pic>
        <p:nvPicPr>
          <p:cNvPr id="106" name="Google Shape;106;p6"/>
          <p:cNvPicPr preferRelativeResize="0"/>
          <p:nvPr/>
        </p:nvPicPr>
        <p:blipFill>
          <a:blip r:embed="rId5">
            <a:alphaModFix/>
          </a:blip>
          <a:stretch>
            <a:fillRect/>
          </a:stretch>
        </p:blipFill>
        <p:spPr>
          <a:xfrm>
            <a:off x="1118000" y="3278438"/>
            <a:ext cx="8972550" cy="3400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10" name="Shape 110"/>
        <p:cNvGrpSpPr/>
        <p:nvPr/>
      </p:nvGrpSpPr>
      <p:grpSpPr>
        <a:xfrm>
          <a:off x="0" y="0"/>
          <a:ext cx="0" cy="0"/>
          <a:chOff x="0" y="0"/>
          <a:chExt cx="0" cy="0"/>
        </a:xfrm>
      </p:grpSpPr>
      <p:pic>
        <p:nvPicPr>
          <p:cNvPr id="111" name="Google Shape;111;p7"/>
          <p:cNvPicPr preferRelativeResize="0"/>
          <p:nvPr/>
        </p:nvPicPr>
        <p:blipFill>
          <a:blip r:embed="rId3">
            <a:alphaModFix/>
          </a:blip>
          <a:stretch>
            <a:fillRect/>
          </a:stretch>
        </p:blipFill>
        <p:spPr>
          <a:xfrm>
            <a:off x="466325" y="218363"/>
            <a:ext cx="11259349" cy="6421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15" name="Shape 115"/>
        <p:cNvGrpSpPr/>
        <p:nvPr/>
      </p:nvGrpSpPr>
      <p:grpSpPr>
        <a:xfrm>
          <a:off x="0" y="0"/>
          <a:ext cx="0" cy="0"/>
          <a:chOff x="0" y="0"/>
          <a:chExt cx="0" cy="0"/>
        </a:xfrm>
      </p:grpSpPr>
      <p:sp>
        <p:nvSpPr>
          <p:cNvPr id="116" name="Google Shape;116;p8"/>
          <p:cNvSpPr txBox="1"/>
          <p:nvPr/>
        </p:nvSpPr>
        <p:spPr>
          <a:xfrm>
            <a:off x="4973548" y="213975"/>
            <a:ext cx="2244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MX" sz="1800" u="none" strike="noStrike">
                <a:solidFill>
                  <a:srgbClr val="000000"/>
                </a:solidFill>
                <a:latin typeface="Cambria Math"/>
                <a:ea typeface="Cambria Math"/>
                <a:cs typeface="Cambria Math"/>
                <a:sym typeface="Cambria Math"/>
              </a:rPr>
              <a:t>Subsistema térmico</a:t>
            </a:r>
            <a:endParaRPr sz="1800">
              <a:solidFill>
                <a:schemeClr val="lt1"/>
              </a:solidFill>
              <a:latin typeface="Arial"/>
              <a:ea typeface="Arial"/>
              <a:cs typeface="Arial"/>
              <a:sym typeface="Arial"/>
            </a:endParaRPr>
          </a:p>
        </p:txBody>
      </p:sp>
      <p:pic>
        <p:nvPicPr>
          <p:cNvPr id="117" name="Google Shape;117;p8"/>
          <p:cNvPicPr preferRelativeResize="0"/>
          <p:nvPr/>
        </p:nvPicPr>
        <p:blipFill>
          <a:blip r:embed="rId3">
            <a:alphaModFix/>
          </a:blip>
          <a:stretch>
            <a:fillRect/>
          </a:stretch>
        </p:blipFill>
        <p:spPr>
          <a:xfrm>
            <a:off x="1032275" y="917863"/>
            <a:ext cx="7686675" cy="3114675"/>
          </a:xfrm>
          <a:prstGeom prst="rect">
            <a:avLst/>
          </a:prstGeom>
          <a:noFill/>
          <a:ln>
            <a:noFill/>
          </a:ln>
        </p:spPr>
      </p:pic>
      <p:pic>
        <p:nvPicPr>
          <p:cNvPr id="118" name="Google Shape;118;p8"/>
          <p:cNvPicPr preferRelativeResize="0"/>
          <p:nvPr/>
        </p:nvPicPr>
        <p:blipFill>
          <a:blip r:embed="rId4">
            <a:alphaModFix/>
          </a:blip>
          <a:stretch>
            <a:fillRect/>
          </a:stretch>
        </p:blipFill>
        <p:spPr>
          <a:xfrm>
            <a:off x="1032275" y="4535513"/>
            <a:ext cx="6496050" cy="1638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22" name="Shape 122"/>
        <p:cNvGrpSpPr/>
        <p:nvPr/>
      </p:nvGrpSpPr>
      <p:grpSpPr>
        <a:xfrm>
          <a:off x="0" y="0"/>
          <a:ext cx="0" cy="0"/>
          <a:chOff x="0" y="0"/>
          <a:chExt cx="0" cy="0"/>
        </a:xfrm>
      </p:grpSpPr>
      <p:pic>
        <p:nvPicPr>
          <p:cNvPr id="123" name="Google Shape;123;p9"/>
          <p:cNvPicPr preferRelativeResize="0"/>
          <p:nvPr/>
        </p:nvPicPr>
        <p:blipFill>
          <a:blip r:embed="rId3">
            <a:alphaModFix/>
          </a:blip>
          <a:stretch>
            <a:fillRect/>
          </a:stretch>
        </p:blipFill>
        <p:spPr>
          <a:xfrm>
            <a:off x="210475" y="1022762"/>
            <a:ext cx="11771049" cy="4812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27" name="Shape 127"/>
        <p:cNvGrpSpPr/>
        <p:nvPr/>
      </p:nvGrpSpPr>
      <p:grpSpPr>
        <a:xfrm>
          <a:off x="0" y="0"/>
          <a:ext cx="0" cy="0"/>
          <a:chOff x="0" y="0"/>
          <a:chExt cx="0" cy="0"/>
        </a:xfrm>
      </p:grpSpPr>
      <p:pic>
        <p:nvPicPr>
          <p:cNvPr id="128" name="Google Shape;128;p10"/>
          <p:cNvPicPr preferRelativeResize="0"/>
          <p:nvPr/>
        </p:nvPicPr>
        <p:blipFill>
          <a:blip r:embed="rId3">
            <a:alphaModFix/>
          </a:blip>
          <a:stretch>
            <a:fillRect/>
          </a:stretch>
        </p:blipFill>
        <p:spPr>
          <a:xfrm>
            <a:off x="1928813" y="481013"/>
            <a:ext cx="8334375" cy="5895975"/>
          </a:xfrm>
          <a:prstGeom prst="rect">
            <a:avLst/>
          </a:prstGeom>
          <a:noFill/>
          <a:ln>
            <a:noFill/>
          </a:ln>
        </p:spPr>
      </p:pic>
      <p:sp>
        <p:nvSpPr>
          <p:cNvPr id="129" name="Google Shape;129;p10"/>
          <p:cNvSpPr txBox="1"/>
          <p:nvPr/>
        </p:nvSpPr>
        <p:spPr>
          <a:xfrm>
            <a:off x="9786100" y="5976800"/>
            <a:ext cx="2622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33" name="Shape 133"/>
        <p:cNvGrpSpPr/>
        <p:nvPr/>
      </p:nvGrpSpPr>
      <p:grpSpPr>
        <a:xfrm>
          <a:off x="0" y="0"/>
          <a:ext cx="0" cy="0"/>
          <a:chOff x="0" y="0"/>
          <a:chExt cx="0" cy="0"/>
        </a:xfrm>
      </p:grpSpPr>
      <p:sp>
        <p:nvSpPr>
          <p:cNvPr id="134" name="Google Shape;134;p11"/>
          <p:cNvSpPr txBox="1"/>
          <p:nvPr/>
        </p:nvSpPr>
        <p:spPr>
          <a:xfrm>
            <a:off x="3257701" y="90150"/>
            <a:ext cx="56766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SzPts val="1800"/>
              <a:buFont typeface="Cambria Math"/>
              <a:buNone/>
            </a:pPr>
            <a:r>
              <a:rPr b="1" i="0" lang="es-MX" sz="1800" u="none" strike="noStrike">
                <a:solidFill>
                  <a:srgbClr val="000000"/>
                </a:solidFill>
                <a:latin typeface="Cambria Math"/>
                <a:ea typeface="Cambria Math"/>
                <a:cs typeface="Cambria Math"/>
                <a:sym typeface="Cambria Math"/>
              </a:rPr>
              <a:t>Modelo global no lineal para una </a:t>
            </a:r>
            <a:r>
              <a:rPr b="1" lang="es-MX" sz="1800">
                <a:solidFill>
                  <a:srgbClr val="000000"/>
                </a:solidFill>
                <a:latin typeface="Cambria Math"/>
                <a:ea typeface="Cambria Math"/>
                <a:cs typeface="Cambria Math"/>
                <a:sym typeface="Cambria Math"/>
              </a:rPr>
              <a:t>corriente id genérica</a:t>
            </a:r>
            <a:endParaRPr/>
          </a:p>
          <a:p>
            <a:pPr indent="0" lvl="0" marL="0" marR="0" rtl="0" algn="l">
              <a:spcBef>
                <a:spcPts val="1200"/>
              </a:spcBef>
              <a:spcAft>
                <a:spcPts val="0"/>
              </a:spcAft>
              <a:buClr>
                <a:schemeClr val="lt1"/>
              </a:buClr>
              <a:buSzPts val="1800"/>
              <a:buFont typeface="Arial"/>
              <a:buNone/>
            </a:pPr>
            <a:br>
              <a:rPr lang="es-MX" sz="1800">
                <a:solidFill>
                  <a:schemeClr val="lt1"/>
                </a:solidFill>
                <a:latin typeface="Arial"/>
                <a:ea typeface="Arial"/>
                <a:cs typeface="Arial"/>
                <a:sym typeface="Arial"/>
              </a:rPr>
            </a:br>
            <a:endParaRPr sz="1800">
              <a:solidFill>
                <a:schemeClr val="lt1"/>
              </a:solidFill>
              <a:latin typeface="Arial"/>
              <a:ea typeface="Arial"/>
              <a:cs typeface="Arial"/>
              <a:sym typeface="Arial"/>
            </a:endParaRPr>
          </a:p>
        </p:txBody>
      </p:sp>
      <p:sp>
        <p:nvSpPr>
          <p:cNvPr id="135" name="Google Shape;135;p11"/>
          <p:cNvSpPr txBox="1"/>
          <p:nvPr/>
        </p:nvSpPr>
        <p:spPr>
          <a:xfrm>
            <a:off x="9739500" y="3059563"/>
            <a:ext cx="18909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s-MX" sz="1800"/>
              <a:t>No lineal</a:t>
            </a:r>
            <a:endParaRPr sz="1800"/>
          </a:p>
          <a:p>
            <a:pPr indent="-342900" lvl="0" marL="457200" rtl="0" algn="l">
              <a:spcBef>
                <a:spcPts val="0"/>
              </a:spcBef>
              <a:spcAft>
                <a:spcPts val="0"/>
              </a:spcAft>
              <a:buSzPts val="1800"/>
              <a:buChar char="●"/>
            </a:pPr>
            <a:r>
              <a:rPr lang="es-MX" sz="1800"/>
              <a:t>Acoplado</a:t>
            </a:r>
            <a:endParaRPr sz="1800"/>
          </a:p>
        </p:txBody>
      </p:sp>
      <p:pic>
        <p:nvPicPr>
          <p:cNvPr id="136" name="Google Shape;136;p11"/>
          <p:cNvPicPr preferRelativeResize="0"/>
          <p:nvPr/>
        </p:nvPicPr>
        <p:blipFill>
          <a:blip r:embed="rId3">
            <a:alphaModFix/>
          </a:blip>
          <a:stretch>
            <a:fillRect/>
          </a:stretch>
        </p:blipFill>
        <p:spPr>
          <a:xfrm>
            <a:off x="561600" y="748668"/>
            <a:ext cx="8937058" cy="536067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40" name="Shape 140"/>
        <p:cNvGrpSpPr/>
        <p:nvPr/>
      </p:nvGrpSpPr>
      <p:grpSpPr>
        <a:xfrm>
          <a:off x="0" y="0"/>
          <a:ext cx="0" cy="0"/>
          <a:chOff x="0" y="0"/>
          <a:chExt cx="0" cy="0"/>
        </a:xfrm>
      </p:grpSpPr>
      <p:sp>
        <p:nvSpPr>
          <p:cNvPr id="141" name="Google Shape;141;p12"/>
          <p:cNvSpPr txBox="1"/>
          <p:nvPr/>
        </p:nvSpPr>
        <p:spPr>
          <a:xfrm>
            <a:off x="301325" y="11025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MX" sz="2000"/>
              <a:t>Vector de estado</a:t>
            </a:r>
            <a:endParaRPr sz="2000"/>
          </a:p>
        </p:txBody>
      </p:sp>
      <p:sp>
        <p:nvSpPr>
          <p:cNvPr id="142" name="Google Shape;142;p12"/>
          <p:cNvSpPr txBox="1"/>
          <p:nvPr/>
        </p:nvSpPr>
        <p:spPr>
          <a:xfrm>
            <a:off x="4466288" y="1881525"/>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MX" sz="2000"/>
              <a:t>Variables de control</a:t>
            </a:r>
            <a:endParaRPr sz="2000"/>
          </a:p>
        </p:txBody>
      </p:sp>
      <p:sp>
        <p:nvSpPr>
          <p:cNvPr id="143" name="Google Shape;143;p12"/>
          <p:cNvSpPr txBox="1"/>
          <p:nvPr/>
        </p:nvSpPr>
        <p:spPr>
          <a:xfrm>
            <a:off x="8482350" y="2154500"/>
            <a:ext cx="3210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MX" sz="2000"/>
              <a:t>Variables de perturbación</a:t>
            </a:r>
            <a:endParaRPr sz="2000"/>
          </a:p>
        </p:txBody>
      </p:sp>
      <p:pic>
        <p:nvPicPr>
          <p:cNvPr id="144" name="Google Shape;144;p12"/>
          <p:cNvPicPr preferRelativeResize="0"/>
          <p:nvPr/>
        </p:nvPicPr>
        <p:blipFill>
          <a:blip r:embed="rId3">
            <a:alphaModFix/>
          </a:blip>
          <a:stretch>
            <a:fillRect/>
          </a:stretch>
        </p:blipFill>
        <p:spPr>
          <a:xfrm>
            <a:off x="3833463" y="2374122"/>
            <a:ext cx="4014392" cy="2109753"/>
          </a:xfrm>
          <a:prstGeom prst="rect">
            <a:avLst/>
          </a:prstGeom>
          <a:noFill/>
          <a:ln>
            <a:noFill/>
          </a:ln>
        </p:spPr>
      </p:pic>
      <p:pic>
        <p:nvPicPr>
          <p:cNvPr id="145" name="Google Shape;145;p12"/>
          <p:cNvPicPr preferRelativeResize="0"/>
          <p:nvPr/>
        </p:nvPicPr>
        <p:blipFill>
          <a:blip r:embed="rId4">
            <a:alphaModFix/>
          </a:blip>
          <a:stretch>
            <a:fillRect/>
          </a:stretch>
        </p:blipFill>
        <p:spPr>
          <a:xfrm>
            <a:off x="8231075" y="2752671"/>
            <a:ext cx="3713157" cy="1352650"/>
          </a:xfrm>
          <a:prstGeom prst="rect">
            <a:avLst/>
          </a:prstGeom>
          <a:noFill/>
          <a:ln>
            <a:noFill/>
          </a:ln>
        </p:spPr>
      </p:pic>
      <p:pic>
        <p:nvPicPr>
          <p:cNvPr id="146" name="Google Shape;146;p12"/>
          <p:cNvPicPr preferRelativeResize="0"/>
          <p:nvPr/>
        </p:nvPicPr>
        <p:blipFill>
          <a:blip r:embed="rId5">
            <a:alphaModFix/>
          </a:blip>
          <a:stretch>
            <a:fillRect/>
          </a:stretch>
        </p:blipFill>
        <p:spPr>
          <a:xfrm>
            <a:off x="152400" y="1595150"/>
            <a:ext cx="3297850" cy="3425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50" name="Shape 150"/>
        <p:cNvGrpSpPr/>
        <p:nvPr/>
      </p:nvGrpSpPr>
      <p:grpSpPr>
        <a:xfrm>
          <a:off x="0" y="0"/>
          <a:ext cx="0" cy="0"/>
          <a:chOff x="0" y="0"/>
          <a:chExt cx="0" cy="0"/>
        </a:xfrm>
      </p:grpSpPr>
      <p:sp>
        <p:nvSpPr>
          <p:cNvPr id="151" name="Google Shape;151;p13"/>
          <p:cNvSpPr txBox="1"/>
          <p:nvPr/>
        </p:nvSpPr>
        <p:spPr>
          <a:xfrm>
            <a:off x="4801806" y="113700"/>
            <a:ext cx="2588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MX" sz="1800" u="none" strike="noStrike">
                <a:solidFill>
                  <a:srgbClr val="000000"/>
                </a:solidFill>
                <a:latin typeface="Cambria Math"/>
                <a:ea typeface="Cambria Math"/>
                <a:cs typeface="Cambria Math"/>
                <a:sym typeface="Cambria Math"/>
              </a:rPr>
              <a:t>Linealización jacobiana</a:t>
            </a:r>
            <a:endParaRPr sz="1800">
              <a:solidFill>
                <a:schemeClr val="lt1"/>
              </a:solidFill>
              <a:latin typeface="Arial"/>
              <a:ea typeface="Arial"/>
              <a:cs typeface="Arial"/>
              <a:sym typeface="Arial"/>
            </a:endParaRPr>
          </a:p>
        </p:txBody>
      </p:sp>
      <p:pic>
        <p:nvPicPr>
          <p:cNvPr id="152" name="Google Shape;152;p13"/>
          <p:cNvPicPr preferRelativeResize="0"/>
          <p:nvPr/>
        </p:nvPicPr>
        <p:blipFill>
          <a:blip r:embed="rId3">
            <a:alphaModFix/>
          </a:blip>
          <a:stretch>
            <a:fillRect/>
          </a:stretch>
        </p:blipFill>
        <p:spPr>
          <a:xfrm>
            <a:off x="1390350" y="760275"/>
            <a:ext cx="3711100" cy="1811375"/>
          </a:xfrm>
          <a:prstGeom prst="rect">
            <a:avLst/>
          </a:prstGeom>
          <a:noFill/>
          <a:ln>
            <a:noFill/>
          </a:ln>
        </p:spPr>
      </p:pic>
      <p:pic>
        <p:nvPicPr>
          <p:cNvPr id="153" name="Google Shape;153;p13"/>
          <p:cNvPicPr preferRelativeResize="0"/>
          <p:nvPr/>
        </p:nvPicPr>
        <p:blipFill>
          <a:blip r:embed="rId4">
            <a:alphaModFix/>
          </a:blip>
          <a:stretch>
            <a:fillRect/>
          </a:stretch>
        </p:blipFill>
        <p:spPr>
          <a:xfrm>
            <a:off x="1390350" y="2713950"/>
            <a:ext cx="9077933" cy="39815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57" name="Shape 157"/>
        <p:cNvGrpSpPr/>
        <p:nvPr/>
      </p:nvGrpSpPr>
      <p:grpSpPr>
        <a:xfrm>
          <a:off x="0" y="0"/>
          <a:ext cx="0" cy="0"/>
          <a:chOff x="0" y="0"/>
          <a:chExt cx="0" cy="0"/>
        </a:xfrm>
      </p:grpSpPr>
      <p:sp>
        <p:nvSpPr>
          <p:cNvPr id="158" name="Google Shape;158;p14"/>
          <p:cNvSpPr txBox="1"/>
          <p:nvPr/>
        </p:nvSpPr>
        <p:spPr>
          <a:xfrm>
            <a:off x="5067945" y="110975"/>
            <a:ext cx="1509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Sistema LPV</a:t>
            </a:r>
            <a:endParaRPr sz="1800">
              <a:solidFill>
                <a:schemeClr val="lt1"/>
              </a:solidFill>
              <a:latin typeface="Arial"/>
              <a:ea typeface="Arial"/>
              <a:cs typeface="Arial"/>
              <a:sym typeface="Arial"/>
            </a:endParaRPr>
          </a:p>
        </p:txBody>
      </p:sp>
      <p:pic>
        <p:nvPicPr>
          <p:cNvPr id="159" name="Google Shape;159;p14"/>
          <p:cNvPicPr preferRelativeResize="0"/>
          <p:nvPr/>
        </p:nvPicPr>
        <p:blipFill>
          <a:blip r:embed="rId3">
            <a:alphaModFix/>
          </a:blip>
          <a:stretch>
            <a:fillRect/>
          </a:stretch>
        </p:blipFill>
        <p:spPr>
          <a:xfrm>
            <a:off x="152400" y="632675"/>
            <a:ext cx="11887201" cy="2521779"/>
          </a:xfrm>
          <a:prstGeom prst="rect">
            <a:avLst/>
          </a:prstGeom>
          <a:noFill/>
          <a:ln>
            <a:noFill/>
          </a:ln>
        </p:spPr>
      </p:pic>
      <p:pic>
        <p:nvPicPr>
          <p:cNvPr id="160" name="Google Shape;160;p14"/>
          <p:cNvPicPr preferRelativeResize="0"/>
          <p:nvPr/>
        </p:nvPicPr>
        <p:blipFill>
          <a:blip r:embed="rId4">
            <a:alphaModFix/>
          </a:blip>
          <a:stretch>
            <a:fillRect/>
          </a:stretch>
        </p:blipFill>
        <p:spPr>
          <a:xfrm>
            <a:off x="152400" y="3610879"/>
            <a:ext cx="3754241" cy="2450901"/>
          </a:xfrm>
          <a:prstGeom prst="rect">
            <a:avLst/>
          </a:prstGeom>
          <a:noFill/>
          <a:ln>
            <a:noFill/>
          </a:ln>
        </p:spPr>
      </p:pic>
      <p:pic>
        <p:nvPicPr>
          <p:cNvPr id="161" name="Google Shape;161;p14"/>
          <p:cNvPicPr preferRelativeResize="0"/>
          <p:nvPr/>
        </p:nvPicPr>
        <p:blipFill>
          <a:blip r:embed="rId5">
            <a:alphaModFix/>
          </a:blip>
          <a:stretch>
            <a:fillRect/>
          </a:stretch>
        </p:blipFill>
        <p:spPr>
          <a:xfrm>
            <a:off x="4586312" y="3610887"/>
            <a:ext cx="3754206" cy="2450900"/>
          </a:xfrm>
          <a:prstGeom prst="rect">
            <a:avLst/>
          </a:prstGeom>
          <a:noFill/>
          <a:ln>
            <a:noFill/>
          </a:ln>
        </p:spPr>
      </p:pic>
      <p:pic>
        <p:nvPicPr>
          <p:cNvPr id="162" name="Google Shape;162;p14"/>
          <p:cNvPicPr preferRelativeResize="0"/>
          <p:nvPr/>
        </p:nvPicPr>
        <p:blipFill>
          <a:blip r:embed="rId6">
            <a:alphaModFix/>
          </a:blip>
          <a:stretch>
            <a:fillRect/>
          </a:stretch>
        </p:blipFill>
        <p:spPr>
          <a:xfrm>
            <a:off x="9020181" y="3498054"/>
            <a:ext cx="3019425" cy="26765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66" name="Shape 166"/>
        <p:cNvGrpSpPr/>
        <p:nvPr/>
      </p:nvGrpSpPr>
      <p:grpSpPr>
        <a:xfrm>
          <a:off x="0" y="0"/>
          <a:ext cx="0" cy="0"/>
          <a:chOff x="0" y="0"/>
          <a:chExt cx="0" cy="0"/>
        </a:xfrm>
      </p:grpSpPr>
      <p:sp>
        <p:nvSpPr>
          <p:cNvPr id="167" name="Google Shape;167;p15"/>
          <p:cNvSpPr txBox="1"/>
          <p:nvPr/>
        </p:nvSpPr>
        <p:spPr>
          <a:xfrm>
            <a:off x="3049197" y="132097"/>
            <a:ext cx="6093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MX" sz="1800" u="none" strike="noStrike">
                <a:solidFill>
                  <a:srgbClr val="000000"/>
                </a:solidFill>
                <a:latin typeface="Cambria Math"/>
                <a:ea typeface="Cambria Math"/>
                <a:cs typeface="Cambria Math"/>
                <a:sym typeface="Cambria Math"/>
              </a:rPr>
              <a:t>Modelo lineal invariante en el tiempo (LTI) con id(t)</a:t>
            </a:r>
            <a:r>
              <a:rPr b="0" i="0" lang="es-MX" sz="1800" u="none" strike="noStrike">
                <a:solidFill>
                  <a:srgbClr val="000000"/>
                </a:solidFill>
                <a:latin typeface="Cambria Math"/>
                <a:ea typeface="Cambria Math"/>
                <a:cs typeface="Cambria Math"/>
                <a:sym typeface="Cambria Math"/>
              </a:rPr>
              <a:t> </a:t>
            </a:r>
            <a:r>
              <a:rPr lang="es-MX" sz="1800">
                <a:solidFill>
                  <a:srgbClr val="000000"/>
                </a:solidFill>
                <a:latin typeface="Cambria Math"/>
                <a:ea typeface="Cambria Math"/>
                <a:cs typeface="Cambria Math"/>
                <a:sym typeface="Cambria Math"/>
              </a:rPr>
              <a:t>=</a:t>
            </a:r>
            <a:r>
              <a:rPr b="0" i="0" lang="es-MX" sz="1800" u="none" strike="noStrike">
                <a:solidFill>
                  <a:srgbClr val="000000"/>
                </a:solidFill>
                <a:latin typeface="Cambria Math"/>
                <a:ea typeface="Cambria Math"/>
                <a:cs typeface="Cambria Math"/>
                <a:sym typeface="Cambria Math"/>
              </a:rPr>
              <a:t> </a:t>
            </a:r>
            <a:r>
              <a:rPr lang="es-MX" sz="1800">
                <a:solidFill>
                  <a:srgbClr val="000000"/>
                </a:solidFill>
                <a:latin typeface="Cambria Math"/>
                <a:ea typeface="Cambria Math"/>
                <a:cs typeface="Cambria Math"/>
                <a:sym typeface="Cambria Math"/>
              </a:rPr>
              <a:t>0</a:t>
            </a:r>
            <a:endParaRPr sz="1800">
              <a:solidFill>
                <a:schemeClr val="lt1"/>
              </a:solidFill>
              <a:latin typeface="Arial"/>
              <a:ea typeface="Arial"/>
              <a:cs typeface="Arial"/>
              <a:sym typeface="Arial"/>
            </a:endParaRPr>
          </a:p>
        </p:txBody>
      </p:sp>
      <p:pic>
        <p:nvPicPr>
          <p:cNvPr id="168" name="Google Shape;168;p15"/>
          <p:cNvPicPr preferRelativeResize="0"/>
          <p:nvPr/>
        </p:nvPicPr>
        <p:blipFill rotWithShape="1">
          <a:blip r:embed="rId3">
            <a:alphaModFix/>
          </a:blip>
          <a:srcRect b="0" l="0" r="0" t="0"/>
          <a:stretch/>
        </p:blipFill>
        <p:spPr>
          <a:xfrm>
            <a:off x="200025" y="2127325"/>
            <a:ext cx="6955775" cy="4730675"/>
          </a:xfrm>
          <a:prstGeom prst="rect">
            <a:avLst/>
          </a:prstGeom>
          <a:noFill/>
          <a:ln>
            <a:noFill/>
          </a:ln>
        </p:spPr>
      </p:pic>
      <p:sp>
        <p:nvSpPr>
          <p:cNvPr id="169" name="Google Shape;169;p15"/>
          <p:cNvSpPr txBox="1"/>
          <p:nvPr/>
        </p:nvSpPr>
        <p:spPr>
          <a:xfrm>
            <a:off x="7402850" y="5015175"/>
            <a:ext cx="4473300" cy="9975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SzPts val="1600"/>
              <a:buChar char="●"/>
            </a:pPr>
            <a:r>
              <a:rPr lang="es-MX" sz="1600"/>
              <a:t>p &lt; 0 siempre</a:t>
            </a:r>
            <a:endParaRPr sz="1600"/>
          </a:p>
          <a:p>
            <a:pPr indent="-330200" lvl="0" marL="457200" rtl="0" algn="l">
              <a:lnSpc>
                <a:spcPct val="115000"/>
              </a:lnSpc>
              <a:spcBef>
                <a:spcPts val="0"/>
              </a:spcBef>
              <a:spcAft>
                <a:spcPts val="0"/>
              </a:spcAft>
              <a:buSzPts val="1600"/>
              <a:buChar char="●"/>
            </a:pPr>
            <a:r>
              <a:rPr lang="es-MX" sz="1600"/>
              <a:t>G</a:t>
            </a:r>
            <a:r>
              <a:rPr lang="es-MX" sz="1600"/>
              <a:t>arantiza</a:t>
            </a:r>
            <a:r>
              <a:rPr lang="es-MX" sz="1600"/>
              <a:t> decaimiento de id(t) a 0A luego de un transitorio.</a:t>
            </a:r>
            <a:endParaRPr sz="1600"/>
          </a:p>
        </p:txBody>
      </p:sp>
      <p:pic>
        <p:nvPicPr>
          <p:cNvPr id="170" name="Google Shape;170;p15"/>
          <p:cNvPicPr preferRelativeResize="0"/>
          <p:nvPr/>
        </p:nvPicPr>
        <p:blipFill>
          <a:blip r:embed="rId4">
            <a:alphaModFix/>
          </a:blip>
          <a:stretch>
            <a:fillRect/>
          </a:stretch>
        </p:blipFill>
        <p:spPr>
          <a:xfrm>
            <a:off x="200025" y="513025"/>
            <a:ext cx="6955785" cy="1500250"/>
          </a:xfrm>
          <a:prstGeom prst="rect">
            <a:avLst/>
          </a:prstGeom>
          <a:noFill/>
          <a:ln>
            <a:noFill/>
          </a:ln>
        </p:spPr>
      </p:pic>
      <p:pic>
        <p:nvPicPr>
          <p:cNvPr id="171" name="Google Shape;171;p15"/>
          <p:cNvPicPr preferRelativeResize="0"/>
          <p:nvPr/>
        </p:nvPicPr>
        <p:blipFill>
          <a:blip r:embed="rId5">
            <a:alphaModFix/>
          </a:blip>
          <a:stretch>
            <a:fillRect/>
          </a:stretch>
        </p:blipFill>
        <p:spPr>
          <a:xfrm>
            <a:off x="7300788" y="2373488"/>
            <a:ext cx="4817425" cy="1124575"/>
          </a:xfrm>
          <a:prstGeom prst="rect">
            <a:avLst/>
          </a:prstGeom>
          <a:noFill/>
          <a:ln>
            <a:noFill/>
          </a:ln>
        </p:spPr>
      </p:pic>
      <p:pic>
        <p:nvPicPr>
          <p:cNvPr id="172" name="Google Shape;172;p15"/>
          <p:cNvPicPr preferRelativeResize="0"/>
          <p:nvPr/>
        </p:nvPicPr>
        <p:blipFill>
          <a:blip r:embed="rId6">
            <a:alphaModFix/>
          </a:blip>
          <a:stretch>
            <a:fillRect/>
          </a:stretch>
        </p:blipFill>
        <p:spPr>
          <a:xfrm>
            <a:off x="8685639" y="3675588"/>
            <a:ext cx="2247900" cy="1162050"/>
          </a:xfrm>
          <a:prstGeom prst="rect">
            <a:avLst/>
          </a:prstGeom>
          <a:noFill/>
          <a:ln>
            <a:noFill/>
          </a:ln>
        </p:spPr>
      </p:pic>
      <p:sp>
        <p:nvSpPr>
          <p:cNvPr id="173" name="Google Shape;173;p15"/>
          <p:cNvSpPr txBox="1"/>
          <p:nvPr/>
        </p:nvSpPr>
        <p:spPr>
          <a:xfrm>
            <a:off x="6725600" y="6457800"/>
            <a:ext cx="2622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77" name="Shape 177"/>
        <p:cNvGrpSpPr/>
        <p:nvPr/>
      </p:nvGrpSpPr>
      <p:grpSpPr>
        <a:xfrm>
          <a:off x="0" y="0"/>
          <a:ext cx="0" cy="0"/>
          <a:chOff x="0" y="0"/>
          <a:chExt cx="0" cy="0"/>
        </a:xfrm>
      </p:grpSpPr>
      <p:pic>
        <p:nvPicPr>
          <p:cNvPr id="178" name="Google Shape;178;p16"/>
          <p:cNvPicPr preferRelativeResize="0"/>
          <p:nvPr/>
        </p:nvPicPr>
        <p:blipFill>
          <a:blip r:embed="rId3">
            <a:alphaModFix/>
          </a:blip>
          <a:stretch>
            <a:fillRect/>
          </a:stretch>
        </p:blipFill>
        <p:spPr>
          <a:xfrm>
            <a:off x="7559975" y="4679000"/>
            <a:ext cx="3297643" cy="1966200"/>
          </a:xfrm>
          <a:prstGeom prst="rect">
            <a:avLst/>
          </a:prstGeom>
          <a:noFill/>
          <a:ln>
            <a:noFill/>
          </a:ln>
        </p:spPr>
      </p:pic>
      <p:pic>
        <p:nvPicPr>
          <p:cNvPr id="179" name="Google Shape;179;p16"/>
          <p:cNvPicPr preferRelativeResize="0"/>
          <p:nvPr/>
        </p:nvPicPr>
        <p:blipFill>
          <a:blip r:embed="rId4">
            <a:alphaModFix/>
          </a:blip>
          <a:stretch>
            <a:fillRect/>
          </a:stretch>
        </p:blipFill>
        <p:spPr>
          <a:xfrm>
            <a:off x="784350" y="757588"/>
            <a:ext cx="5924550" cy="1533525"/>
          </a:xfrm>
          <a:prstGeom prst="rect">
            <a:avLst/>
          </a:prstGeom>
          <a:noFill/>
          <a:ln>
            <a:noFill/>
          </a:ln>
        </p:spPr>
      </p:pic>
      <p:sp>
        <p:nvSpPr>
          <p:cNvPr id="180" name="Google Shape;180;p16"/>
          <p:cNvSpPr txBox="1"/>
          <p:nvPr/>
        </p:nvSpPr>
        <p:spPr>
          <a:xfrm>
            <a:off x="4199849" y="243000"/>
            <a:ext cx="3792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Modelo LTI en el espacio de estados</a:t>
            </a:r>
            <a:endParaRPr sz="1800">
              <a:solidFill>
                <a:schemeClr val="lt1"/>
              </a:solidFill>
              <a:latin typeface="Arial"/>
              <a:ea typeface="Arial"/>
              <a:cs typeface="Arial"/>
              <a:sym typeface="Arial"/>
            </a:endParaRPr>
          </a:p>
        </p:txBody>
      </p:sp>
      <p:pic>
        <p:nvPicPr>
          <p:cNvPr id="181" name="Google Shape;181;p16"/>
          <p:cNvPicPr preferRelativeResize="0"/>
          <p:nvPr/>
        </p:nvPicPr>
        <p:blipFill>
          <a:blip r:embed="rId5">
            <a:alphaModFix/>
          </a:blip>
          <a:stretch>
            <a:fillRect/>
          </a:stretch>
        </p:blipFill>
        <p:spPr>
          <a:xfrm>
            <a:off x="784350" y="2436425"/>
            <a:ext cx="5924550" cy="2097271"/>
          </a:xfrm>
          <a:prstGeom prst="rect">
            <a:avLst/>
          </a:prstGeom>
          <a:noFill/>
          <a:ln>
            <a:noFill/>
          </a:ln>
        </p:spPr>
      </p:pic>
      <p:pic>
        <p:nvPicPr>
          <p:cNvPr id="182" name="Google Shape;182;p16"/>
          <p:cNvPicPr preferRelativeResize="0"/>
          <p:nvPr/>
        </p:nvPicPr>
        <p:blipFill>
          <a:blip r:embed="rId6">
            <a:alphaModFix/>
          </a:blip>
          <a:stretch>
            <a:fillRect/>
          </a:stretch>
        </p:blipFill>
        <p:spPr>
          <a:xfrm>
            <a:off x="784350" y="4679000"/>
            <a:ext cx="2686575" cy="1966200"/>
          </a:xfrm>
          <a:prstGeom prst="rect">
            <a:avLst/>
          </a:prstGeom>
          <a:noFill/>
          <a:ln>
            <a:noFill/>
          </a:ln>
        </p:spPr>
      </p:pic>
      <p:pic>
        <p:nvPicPr>
          <p:cNvPr id="183" name="Google Shape;183;p16"/>
          <p:cNvPicPr preferRelativeResize="0"/>
          <p:nvPr/>
        </p:nvPicPr>
        <p:blipFill>
          <a:blip r:embed="rId7">
            <a:alphaModFix/>
          </a:blip>
          <a:stretch>
            <a:fillRect/>
          </a:stretch>
        </p:blipFill>
        <p:spPr>
          <a:xfrm>
            <a:off x="3679950" y="4679000"/>
            <a:ext cx="3028950" cy="1966200"/>
          </a:xfrm>
          <a:prstGeom prst="rect">
            <a:avLst/>
          </a:prstGeom>
          <a:noFill/>
          <a:ln>
            <a:noFill/>
          </a:ln>
        </p:spPr>
      </p:pic>
      <p:pic>
        <p:nvPicPr>
          <p:cNvPr id="184" name="Google Shape;184;p16"/>
          <p:cNvPicPr preferRelativeResize="0"/>
          <p:nvPr/>
        </p:nvPicPr>
        <p:blipFill>
          <a:blip r:embed="rId8">
            <a:alphaModFix/>
          </a:blip>
          <a:stretch>
            <a:fillRect/>
          </a:stretch>
        </p:blipFill>
        <p:spPr>
          <a:xfrm>
            <a:off x="7559975" y="3597450"/>
            <a:ext cx="3790950" cy="819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88" name="Shape 188"/>
        <p:cNvGrpSpPr/>
        <p:nvPr/>
      </p:nvGrpSpPr>
      <p:grpSpPr>
        <a:xfrm>
          <a:off x="0" y="0"/>
          <a:ext cx="0" cy="0"/>
          <a:chOff x="0" y="0"/>
          <a:chExt cx="0" cy="0"/>
        </a:xfrm>
      </p:grpSpPr>
      <p:sp>
        <p:nvSpPr>
          <p:cNvPr id="189" name="Google Shape;189;p17"/>
          <p:cNvSpPr txBox="1"/>
          <p:nvPr/>
        </p:nvSpPr>
        <p:spPr>
          <a:xfrm>
            <a:off x="3107400" y="127150"/>
            <a:ext cx="6067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MX" sz="1800" u="none" strike="noStrike">
                <a:solidFill>
                  <a:srgbClr val="000000"/>
                </a:solidFill>
                <a:latin typeface="Cambria Math"/>
                <a:ea typeface="Cambria Math"/>
                <a:cs typeface="Cambria Math"/>
                <a:sym typeface="Cambria Math"/>
              </a:rPr>
              <a:t> Modelo lineal invariante en el </a:t>
            </a:r>
            <a:r>
              <a:rPr b="1" lang="es-MX" sz="1800">
                <a:solidFill>
                  <a:srgbClr val="000000"/>
                </a:solidFill>
                <a:latin typeface="Cambria Math"/>
                <a:ea typeface="Cambria Math"/>
                <a:cs typeface="Cambria Math"/>
                <a:sym typeface="Cambria Math"/>
              </a:rPr>
              <a:t>tiempo (LTI) con id(t) ≠ 0</a:t>
            </a:r>
            <a:endParaRPr b="1" sz="1800">
              <a:solidFill>
                <a:srgbClr val="000000"/>
              </a:solidFill>
              <a:latin typeface="Cambria Math"/>
              <a:ea typeface="Cambria Math"/>
              <a:cs typeface="Cambria Math"/>
              <a:sym typeface="Cambria Math"/>
            </a:endParaRPr>
          </a:p>
        </p:txBody>
      </p:sp>
      <p:pic>
        <p:nvPicPr>
          <p:cNvPr id="190" name="Google Shape;190;p17"/>
          <p:cNvPicPr preferRelativeResize="0"/>
          <p:nvPr/>
        </p:nvPicPr>
        <p:blipFill>
          <a:blip r:embed="rId3">
            <a:alphaModFix/>
          </a:blip>
          <a:stretch>
            <a:fillRect/>
          </a:stretch>
        </p:blipFill>
        <p:spPr>
          <a:xfrm>
            <a:off x="226975" y="709638"/>
            <a:ext cx="9429750" cy="923925"/>
          </a:xfrm>
          <a:prstGeom prst="rect">
            <a:avLst/>
          </a:prstGeom>
          <a:noFill/>
          <a:ln>
            <a:noFill/>
          </a:ln>
        </p:spPr>
      </p:pic>
      <p:sp>
        <p:nvSpPr>
          <p:cNvPr id="191" name="Google Shape;191;p17"/>
          <p:cNvSpPr txBox="1"/>
          <p:nvPr/>
        </p:nvSpPr>
        <p:spPr>
          <a:xfrm>
            <a:off x="226975" y="1711275"/>
            <a:ext cx="7449300" cy="3693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Clr>
                <a:srgbClr val="000000"/>
              </a:buClr>
              <a:buSzPts val="1800"/>
              <a:buFont typeface="Calibri"/>
              <a:buChar char="●"/>
            </a:pPr>
            <a:r>
              <a:rPr lang="es-MX" sz="1800">
                <a:latin typeface="Calibri"/>
                <a:ea typeface="Calibri"/>
                <a:cs typeface="Calibri"/>
                <a:sym typeface="Calibri"/>
              </a:rPr>
              <a:t>Acción de control para linealizar el sistema y desacoplar el eje q del eje d:</a:t>
            </a:r>
            <a:endParaRPr sz="1800">
              <a:solidFill>
                <a:srgbClr val="000000"/>
              </a:solidFill>
              <a:latin typeface="Calibri"/>
              <a:ea typeface="Calibri"/>
              <a:cs typeface="Calibri"/>
              <a:sym typeface="Calibri"/>
            </a:endParaRPr>
          </a:p>
        </p:txBody>
      </p:sp>
      <p:pic>
        <p:nvPicPr>
          <p:cNvPr id="192" name="Google Shape;192;p17"/>
          <p:cNvPicPr preferRelativeResize="0"/>
          <p:nvPr/>
        </p:nvPicPr>
        <p:blipFill>
          <a:blip r:embed="rId4">
            <a:alphaModFix/>
          </a:blip>
          <a:stretch>
            <a:fillRect/>
          </a:stretch>
        </p:blipFill>
        <p:spPr>
          <a:xfrm>
            <a:off x="226975" y="2232975"/>
            <a:ext cx="4686300" cy="876300"/>
          </a:xfrm>
          <a:prstGeom prst="rect">
            <a:avLst/>
          </a:prstGeom>
          <a:noFill/>
          <a:ln>
            <a:noFill/>
          </a:ln>
        </p:spPr>
      </p:pic>
      <p:sp>
        <p:nvSpPr>
          <p:cNvPr id="193" name="Google Shape;193;p17"/>
          <p:cNvSpPr txBox="1"/>
          <p:nvPr/>
        </p:nvSpPr>
        <p:spPr>
          <a:xfrm>
            <a:off x="226975" y="3151825"/>
            <a:ext cx="7449300" cy="3693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Clr>
                <a:srgbClr val="000000"/>
              </a:buClr>
              <a:buSzPts val="1800"/>
              <a:buFont typeface="Calibri"/>
              <a:buChar char="●"/>
            </a:pPr>
            <a:r>
              <a:rPr lang="es-MX" sz="1800">
                <a:latin typeface="Calibri"/>
                <a:ea typeface="Calibri"/>
                <a:cs typeface="Calibri"/>
                <a:sym typeface="Calibri"/>
              </a:rPr>
              <a:t>Ecuación resultante en el eje q:</a:t>
            </a:r>
            <a:endParaRPr sz="1800">
              <a:solidFill>
                <a:srgbClr val="000000"/>
              </a:solidFill>
              <a:latin typeface="Calibri"/>
              <a:ea typeface="Calibri"/>
              <a:cs typeface="Calibri"/>
              <a:sym typeface="Calibri"/>
            </a:endParaRPr>
          </a:p>
        </p:txBody>
      </p:sp>
      <p:pic>
        <p:nvPicPr>
          <p:cNvPr id="194" name="Google Shape;194;p17"/>
          <p:cNvPicPr preferRelativeResize="0"/>
          <p:nvPr/>
        </p:nvPicPr>
        <p:blipFill>
          <a:blip r:embed="rId5">
            <a:alphaModFix/>
          </a:blip>
          <a:stretch>
            <a:fillRect/>
          </a:stretch>
        </p:blipFill>
        <p:spPr>
          <a:xfrm>
            <a:off x="198775" y="3642613"/>
            <a:ext cx="7505700" cy="857250"/>
          </a:xfrm>
          <a:prstGeom prst="rect">
            <a:avLst/>
          </a:prstGeom>
          <a:noFill/>
          <a:ln>
            <a:noFill/>
          </a:ln>
        </p:spPr>
      </p:pic>
      <p:sp>
        <p:nvSpPr>
          <p:cNvPr id="195" name="Google Shape;195;p17"/>
          <p:cNvSpPr txBox="1"/>
          <p:nvPr/>
        </p:nvSpPr>
        <p:spPr>
          <a:xfrm>
            <a:off x="226975" y="4581900"/>
            <a:ext cx="7449300" cy="3693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Clr>
                <a:srgbClr val="000000"/>
              </a:buClr>
              <a:buSzPts val="1800"/>
              <a:buFont typeface="Calibri"/>
              <a:buChar char="●"/>
            </a:pPr>
            <a:r>
              <a:rPr lang="es-MX" sz="1800">
                <a:latin typeface="Calibri"/>
                <a:ea typeface="Calibri"/>
                <a:cs typeface="Calibri"/>
                <a:sym typeface="Calibri"/>
              </a:rPr>
              <a:t>Podríamos</a:t>
            </a:r>
            <a:r>
              <a:rPr lang="es-MX" sz="1800">
                <a:latin typeface="Calibri"/>
                <a:ea typeface="Calibri"/>
                <a:cs typeface="Calibri"/>
                <a:sym typeface="Calibri"/>
              </a:rPr>
              <a:t> generalizar los conceptos de KEeq y KTeq:</a:t>
            </a:r>
            <a:endParaRPr sz="1800">
              <a:solidFill>
                <a:srgbClr val="000000"/>
              </a:solidFill>
              <a:latin typeface="Calibri"/>
              <a:ea typeface="Calibri"/>
              <a:cs typeface="Calibri"/>
              <a:sym typeface="Calibri"/>
            </a:endParaRPr>
          </a:p>
        </p:txBody>
      </p:sp>
      <p:pic>
        <p:nvPicPr>
          <p:cNvPr id="196" name="Google Shape;196;p17"/>
          <p:cNvPicPr preferRelativeResize="0"/>
          <p:nvPr/>
        </p:nvPicPr>
        <p:blipFill>
          <a:blip r:embed="rId6">
            <a:alphaModFix/>
          </a:blip>
          <a:stretch>
            <a:fillRect/>
          </a:stretch>
        </p:blipFill>
        <p:spPr>
          <a:xfrm>
            <a:off x="198775" y="5093500"/>
            <a:ext cx="5955950" cy="1602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200" name="Shape 200"/>
        <p:cNvGrpSpPr/>
        <p:nvPr/>
      </p:nvGrpSpPr>
      <p:grpSpPr>
        <a:xfrm>
          <a:off x="0" y="0"/>
          <a:ext cx="0" cy="0"/>
          <a:chOff x="0" y="0"/>
          <a:chExt cx="0" cy="0"/>
        </a:xfrm>
      </p:grpSpPr>
      <p:pic>
        <p:nvPicPr>
          <p:cNvPr id="201" name="Google Shape;201;p18"/>
          <p:cNvPicPr preferRelativeResize="0"/>
          <p:nvPr/>
        </p:nvPicPr>
        <p:blipFill>
          <a:blip r:embed="rId3">
            <a:alphaModFix/>
          </a:blip>
          <a:stretch>
            <a:fillRect/>
          </a:stretch>
        </p:blipFill>
        <p:spPr>
          <a:xfrm>
            <a:off x="1566850" y="190500"/>
            <a:ext cx="9058275" cy="6477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205" name="Shape 205"/>
        <p:cNvGrpSpPr/>
        <p:nvPr/>
      </p:nvGrpSpPr>
      <p:grpSpPr>
        <a:xfrm>
          <a:off x="0" y="0"/>
          <a:ext cx="0" cy="0"/>
          <a:chOff x="0" y="0"/>
          <a:chExt cx="0" cy="0"/>
        </a:xfrm>
      </p:grpSpPr>
      <p:sp>
        <p:nvSpPr>
          <p:cNvPr id="206" name="Google Shape;206;p19"/>
          <p:cNvSpPr txBox="1"/>
          <p:nvPr/>
        </p:nvSpPr>
        <p:spPr>
          <a:xfrm>
            <a:off x="3456150" y="236275"/>
            <a:ext cx="5279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Análisis de estabilidad y función de transferencia</a:t>
            </a:r>
            <a:endParaRPr sz="1800">
              <a:solidFill>
                <a:schemeClr val="lt1"/>
              </a:solidFill>
              <a:latin typeface="Arial"/>
              <a:ea typeface="Arial"/>
              <a:cs typeface="Arial"/>
              <a:sym typeface="Arial"/>
            </a:endParaRPr>
          </a:p>
        </p:txBody>
      </p:sp>
      <p:pic>
        <p:nvPicPr>
          <p:cNvPr id="207" name="Google Shape;207;p19"/>
          <p:cNvPicPr preferRelativeResize="0"/>
          <p:nvPr/>
        </p:nvPicPr>
        <p:blipFill>
          <a:blip r:embed="rId3">
            <a:alphaModFix/>
          </a:blip>
          <a:stretch>
            <a:fillRect/>
          </a:stretch>
        </p:blipFill>
        <p:spPr>
          <a:xfrm>
            <a:off x="103525" y="2190050"/>
            <a:ext cx="10391775" cy="1181100"/>
          </a:xfrm>
          <a:prstGeom prst="rect">
            <a:avLst/>
          </a:prstGeom>
          <a:noFill/>
          <a:ln>
            <a:noFill/>
          </a:ln>
        </p:spPr>
      </p:pic>
      <p:sp>
        <p:nvSpPr>
          <p:cNvPr id="208" name="Google Shape;208;p19"/>
          <p:cNvSpPr txBox="1"/>
          <p:nvPr/>
        </p:nvSpPr>
        <p:spPr>
          <a:xfrm>
            <a:off x="103525" y="1793050"/>
            <a:ext cx="7449300" cy="3693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Clr>
                <a:srgbClr val="000000"/>
              </a:buClr>
              <a:buSzPts val="1800"/>
              <a:buFont typeface="Calibri"/>
              <a:buChar char="●"/>
            </a:pPr>
            <a:r>
              <a:rPr lang="es-MX" sz="1800">
                <a:latin typeface="Calibri"/>
                <a:ea typeface="Calibri"/>
                <a:cs typeface="Calibri"/>
                <a:sym typeface="Calibri"/>
              </a:rPr>
              <a:t>Función de transferencia para la entrada de control:</a:t>
            </a:r>
            <a:endParaRPr sz="1800">
              <a:solidFill>
                <a:srgbClr val="000000"/>
              </a:solidFill>
              <a:latin typeface="Calibri"/>
              <a:ea typeface="Calibri"/>
              <a:cs typeface="Calibri"/>
              <a:sym typeface="Calibri"/>
            </a:endParaRPr>
          </a:p>
        </p:txBody>
      </p:sp>
      <p:pic>
        <p:nvPicPr>
          <p:cNvPr id="209" name="Google Shape;209;p19"/>
          <p:cNvPicPr preferRelativeResize="0"/>
          <p:nvPr/>
        </p:nvPicPr>
        <p:blipFill>
          <a:blip r:embed="rId4">
            <a:alphaModFix/>
          </a:blip>
          <a:stretch>
            <a:fillRect/>
          </a:stretch>
        </p:blipFill>
        <p:spPr>
          <a:xfrm>
            <a:off x="103525" y="4078225"/>
            <a:ext cx="10972800" cy="1095375"/>
          </a:xfrm>
          <a:prstGeom prst="rect">
            <a:avLst/>
          </a:prstGeom>
          <a:noFill/>
          <a:ln>
            <a:noFill/>
          </a:ln>
        </p:spPr>
      </p:pic>
      <p:sp>
        <p:nvSpPr>
          <p:cNvPr id="210" name="Google Shape;210;p19"/>
          <p:cNvSpPr txBox="1"/>
          <p:nvPr/>
        </p:nvSpPr>
        <p:spPr>
          <a:xfrm>
            <a:off x="103525" y="3540038"/>
            <a:ext cx="7449300" cy="3693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Clr>
                <a:srgbClr val="000000"/>
              </a:buClr>
              <a:buSzPts val="1800"/>
              <a:buFont typeface="Calibri"/>
              <a:buChar char="●"/>
            </a:pPr>
            <a:r>
              <a:rPr lang="es-MX" sz="1800">
                <a:latin typeface="Calibri"/>
                <a:ea typeface="Calibri"/>
                <a:cs typeface="Calibri"/>
                <a:sym typeface="Calibri"/>
              </a:rPr>
              <a:t>Función de transferencia para la entrada de perturbación:</a:t>
            </a:r>
            <a:endParaRPr sz="1800">
              <a:solidFill>
                <a:srgbClr val="000000"/>
              </a:solidFill>
              <a:latin typeface="Calibri"/>
              <a:ea typeface="Calibri"/>
              <a:cs typeface="Calibri"/>
              <a:sym typeface="Calibri"/>
            </a:endParaRPr>
          </a:p>
        </p:txBody>
      </p:sp>
      <p:pic>
        <p:nvPicPr>
          <p:cNvPr id="211" name="Google Shape;211;p19"/>
          <p:cNvPicPr preferRelativeResize="0"/>
          <p:nvPr/>
        </p:nvPicPr>
        <p:blipFill>
          <a:blip r:embed="rId5">
            <a:alphaModFix/>
          </a:blip>
          <a:stretch>
            <a:fillRect/>
          </a:stretch>
        </p:blipFill>
        <p:spPr>
          <a:xfrm>
            <a:off x="103525" y="5492425"/>
            <a:ext cx="6734175" cy="828675"/>
          </a:xfrm>
          <a:prstGeom prst="rect">
            <a:avLst/>
          </a:prstGeom>
          <a:noFill/>
          <a:ln>
            <a:noFill/>
          </a:ln>
        </p:spPr>
      </p:pic>
      <p:pic>
        <p:nvPicPr>
          <p:cNvPr id="212" name="Google Shape;212;p19"/>
          <p:cNvPicPr preferRelativeResize="0"/>
          <p:nvPr/>
        </p:nvPicPr>
        <p:blipFill>
          <a:blip r:embed="rId6">
            <a:alphaModFix/>
          </a:blip>
          <a:stretch>
            <a:fillRect/>
          </a:stretch>
        </p:blipFill>
        <p:spPr>
          <a:xfrm>
            <a:off x="103525" y="757975"/>
            <a:ext cx="7183752" cy="8826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216" name="Shape 216"/>
        <p:cNvGrpSpPr/>
        <p:nvPr/>
      </p:nvGrpSpPr>
      <p:grpSpPr>
        <a:xfrm>
          <a:off x="0" y="0"/>
          <a:ext cx="0" cy="0"/>
          <a:chOff x="0" y="0"/>
          <a:chExt cx="0" cy="0"/>
        </a:xfrm>
      </p:grpSpPr>
      <p:sp>
        <p:nvSpPr>
          <p:cNvPr id="217" name="Google Shape;217;p20"/>
          <p:cNvSpPr txBox="1"/>
          <p:nvPr/>
        </p:nvSpPr>
        <p:spPr>
          <a:xfrm>
            <a:off x="4119750" y="173225"/>
            <a:ext cx="39525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SzPts val="1800"/>
              <a:buFont typeface="Cambria Math"/>
              <a:buNone/>
            </a:pPr>
            <a:r>
              <a:rPr b="1" i="0" lang="es-MX" sz="1800" u="none" strike="noStrike">
                <a:solidFill>
                  <a:srgbClr val="000000"/>
                </a:solidFill>
                <a:latin typeface="Cambria Math"/>
                <a:ea typeface="Cambria Math"/>
                <a:cs typeface="Cambria Math"/>
                <a:sym typeface="Cambria Math"/>
              </a:rPr>
              <a:t>Polos, ceros y análisis de estabilidad</a:t>
            </a:r>
            <a:endParaRPr b="0" sz="1800">
              <a:solidFill>
                <a:schemeClr val="lt1"/>
              </a:solidFill>
              <a:latin typeface="Arial"/>
              <a:ea typeface="Arial"/>
              <a:cs typeface="Arial"/>
              <a:sym typeface="Arial"/>
            </a:endParaRPr>
          </a:p>
          <a:p>
            <a:pPr indent="0" lvl="0" marL="0" marR="0" rtl="0" algn="l">
              <a:spcBef>
                <a:spcPts val="1200"/>
              </a:spcBef>
              <a:spcAft>
                <a:spcPts val="0"/>
              </a:spcAft>
              <a:buClr>
                <a:schemeClr val="lt1"/>
              </a:buClr>
              <a:buSzPts val="1800"/>
              <a:buFont typeface="Arial"/>
              <a:buNone/>
            </a:pPr>
            <a:br>
              <a:rPr lang="es-MX" sz="1800">
                <a:solidFill>
                  <a:schemeClr val="lt1"/>
                </a:solidFill>
                <a:latin typeface="Arial"/>
                <a:ea typeface="Arial"/>
                <a:cs typeface="Arial"/>
                <a:sym typeface="Arial"/>
              </a:rPr>
            </a:br>
            <a:endParaRPr sz="1800">
              <a:solidFill>
                <a:schemeClr val="lt1"/>
              </a:solidFill>
              <a:latin typeface="Arial"/>
              <a:ea typeface="Arial"/>
              <a:cs typeface="Arial"/>
              <a:sym typeface="Arial"/>
            </a:endParaRPr>
          </a:p>
        </p:txBody>
      </p:sp>
      <p:pic>
        <p:nvPicPr>
          <p:cNvPr id="218" name="Google Shape;218;p20"/>
          <p:cNvPicPr preferRelativeResize="0"/>
          <p:nvPr/>
        </p:nvPicPr>
        <p:blipFill>
          <a:blip r:embed="rId3">
            <a:alphaModFix/>
          </a:blip>
          <a:stretch>
            <a:fillRect/>
          </a:stretch>
        </p:blipFill>
        <p:spPr>
          <a:xfrm>
            <a:off x="162475" y="949075"/>
            <a:ext cx="10506075" cy="771525"/>
          </a:xfrm>
          <a:prstGeom prst="rect">
            <a:avLst/>
          </a:prstGeom>
          <a:noFill/>
          <a:ln>
            <a:noFill/>
          </a:ln>
        </p:spPr>
      </p:pic>
      <p:sp>
        <p:nvSpPr>
          <p:cNvPr id="219" name="Google Shape;219;p20"/>
          <p:cNvSpPr txBox="1"/>
          <p:nvPr/>
        </p:nvSpPr>
        <p:spPr>
          <a:xfrm>
            <a:off x="162475" y="527225"/>
            <a:ext cx="7449300" cy="3693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Clr>
                <a:srgbClr val="000000"/>
              </a:buClr>
              <a:buSzPts val="1800"/>
              <a:buFont typeface="Calibri"/>
              <a:buChar char="●"/>
            </a:pPr>
            <a:r>
              <a:rPr lang="es-MX" sz="1800">
                <a:latin typeface="Calibri"/>
                <a:ea typeface="Calibri"/>
                <a:cs typeface="Calibri"/>
                <a:sym typeface="Calibri"/>
              </a:rPr>
              <a:t>Extraemos los polos del polinomio </a:t>
            </a:r>
            <a:r>
              <a:rPr lang="es-MX" sz="1800">
                <a:latin typeface="Calibri"/>
                <a:ea typeface="Calibri"/>
                <a:cs typeface="Calibri"/>
                <a:sym typeface="Calibri"/>
              </a:rPr>
              <a:t>característico</a:t>
            </a:r>
            <a:r>
              <a:rPr lang="es-MX" sz="1800">
                <a:latin typeface="Calibri"/>
                <a:ea typeface="Calibri"/>
                <a:cs typeface="Calibri"/>
                <a:sym typeface="Calibri"/>
              </a:rPr>
              <a:t> del sistema:</a:t>
            </a:r>
            <a:endParaRPr sz="1800">
              <a:solidFill>
                <a:srgbClr val="000000"/>
              </a:solidFill>
              <a:latin typeface="Calibri"/>
              <a:ea typeface="Calibri"/>
              <a:cs typeface="Calibri"/>
              <a:sym typeface="Calibri"/>
            </a:endParaRPr>
          </a:p>
        </p:txBody>
      </p:sp>
      <p:pic>
        <p:nvPicPr>
          <p:cNvPr id="220" name="Google Shape;220;p20"/>
          <p:cNvPicPr preferRelativeResize="0"/>
          <p:nvPr/>
        </p:nvPicPr>
        <p:blipFill>
          <a:blip r:embed="rId4">
            <a:alphaModFix/>
          </a:blip>
          <a:stretch>
            <a:fillRect/>
          </a:stretch>
        </p:blipFill>
        <p:spPr>
          <a:xfrm>
            <a:off x="162475" y="1773150"/>
            <a:ext cx="7909015" cy="3232090"/>
          </a:xfrm>
          <a:prstGeom prst="rect">
            <a:avLst/>
          </a:prstGeom>
          <a:noFill/>
          <a:ln>
            <a:noFill/>
          </a:ln>
        </p:spPr>
      </p:pic>
      <p:sp>
        <p:nvSpPr>
          <p:cNvPr id="221" name="Google Shape;221;p20"/>
          <p:cNvSpPr txBox="1"/>
          <p:nvPr/>
        </p:nvSpPr>
        <p:spPr>
          <a:xfrm>
            <a:off x="162475" y="5167575"/>
            <a:ext cx="7755900" cy="3693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SzPts val="1800"/>
              <a:buFont typeface="Calibri"/>
              <a:buChar char="●"/>
            </a:pPr>
            <a:r>
              <a:rPr lang="es-MX" sz="1800">
                <a:latin typeface="Calibri"/>
                <a:ea typeface="Calibri"/>
                <a:cs typeface="Calibri"/>
                <a:sym typeface="Calibri"/>
              </a:rPr>
              <a:t>Los ceros solo provienen de la función de transferencia de la perturbación:</a:t>
            </a:r>
            <a:endParaRPr sz="1800">
              <a:solidFill>
                <a:srgbClr val="000000"/>
              </a:solidFill>
              <a:latin typeface="Calibri"/>
              <a:ea typeface="Calibri"/>
              <a:cs typeface="Calibri"/>
              <a:sym typeface="Calibri"/>
            </a:endParaRPr>
          </a:p>
        </p:txBody>
      </p:sp>
      <p:pic>
        <p:nvPicPr>
          <p:cNvPr id="222" name="Google Shape;222;p20"/>
          <p:cNvPicPr preferRelativeResize="0"/>
          <p:nvPr/>
        </p:nvPicPr>
        <p:blipFill>
          <a:blip r:embed="rId5">
            <a:alphaModFix/>
          </a:blip>
          <a:stretch>
            <a:fillRect/>
          </a:stretch>
        </p:blipFill>
        <p:spPr>
          <a:xfrm>
            <a:off x="162475" y="5536875"/>
            <a:ext cx="2708829" cy="1259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226" name="Shape 226"/>
        <p:cNvGrpSpPr/>
        <p:nvPr/>
      </p:nvGrpSpPr>
      <p:grpSpPr>
        <a:xfrm>
          <a:off x="0" y="0"/>
          <a:ext cx="0" cy="0"/>
          <a:chOff x="0" y="0"/>
          <a:chExt cx="0" cy="0"/>
        </a:xfrm>
      </p:grpSpPr>
      <p:sp>
        <p:nvSpPr>
          <p:cNvPr id="227" name="Google Shape;227;p21"/>
          <p:cNvSpPr txBox="1"/>
          <p:nvPr/>
        </p:nvSpPr>
        <p:spPr>
          <a:xfrm>
            <a:off x="8222400" y="2505450"/>
            <a:ext cx="3644100" cy="184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600">
                <a:latin typeface="Calibri"/>
                <a:ea typeface="Calibri"/>
                <a:cs typeface="Calibri"/>
                <a:sym typeface="Calibri"/>
              </a:rPr>
              <a:t>Este análisis muestra que, sin un sistema de control adecuado, el motor no es capaz de mantener un comportamiento preciso, por lo que se justifica la necesidad de un controlador para regular la velocidad y la posición del rotor.</a:t>
            </a:r>
            <a:endParaRPr sz="1800"/>
          </a:p>
        </p:txBody>
      </p:sp>
      <p:pic>
        <p:nvPicPr>
          <p:cNvPr id="228" name="Google Shape;228;p21"/>
          <p:cNvPicPr preferRelativeResize="0"/>
          <p:nvPr/>
        </p:nvPicPr>
        <p:blipFill>
          <a:blip r:embed="rId3">
            <a:alphaModFix/>
          </a:blip>
          <a:stretch>
            <a:fillRect/>
          </a:stretch>
        </p:blipFill>
        <p:spPr>
          <a:xfrm>
            <a:off x="132500" y="522975"/>
            <a:ext cx="7648925" cy="57367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232" name="Shape 232"/>
        <p:cNvGrpSpPr/>
        <p:nvPr/>
      </p:nvGrpSpPr>
      <p:grpSpPr>
        <a:xfrm>
          <a:off x="0" y="0"/>
          <a:ext cx="0" cy="0"/>
          <a:chOff x="0" y="0"/>
          <a:chExt cx="0" cy="0"/>
        </a:xfrm>
      </p:grpSpPr>
      <p:sp>
        <p:nvSpPr>
          <p:cNvPr id="233" name="Google Shape;233;p22"/>
          <p:cNvSpPr txBox="1"/>
          <p:nvPr/>
        </p:nvSpPr>
        <p:spPr>
          <a:xfrm>
            <a:off x="4792800" y="157925"/>
            <a:ext cx="2606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Parámetros del sistema</a:t>
            </a:r>
            <a:endParaRPr sz="1800">
              <a:solidFill>
                <a:schemeClr val="lt1"/>
              </a:solidFill>
              <a:latin typeface="Arial"/>
              <a:ea typeface="Arial"/>
              <a:cs typeface="Arial"/>
              <a:sym typeface="Arial"/>
            </a:endParaRPr>
          </a:p>
        </p:txBody>
      </p:sp>
      <p:sp>
        <p:nvSpPr>
          <p:cNvPr id="234" name="Google Shape;234;p22"/>
          <p:cNvSpPr txBox="1"/>
          <p:nvPr/>
        </p:nvSpPr>
        <p:spPr>
          <a:xfrm>
            <a:off x="162475" y="527225"/>
            <a:ext cx="7987800" cy="3693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Clr>
                <a:srgbClr val="000000"/>
              </a:buClr>
              <a:buSzPts val="1800"/>
              <a:buFont typeface="Calibri"/>
              <a:buChar char="●"/>
            </a:pPr>
            <a:r>
              <a:rPr lang="es-MX" sz="1800">
                <a:latin typeface="Calibri"/>
                <a:ea typeface="Calibri"/>
                <a:cs typeface="Calibri"/>
                <a:sym typeface="Calibri"/>
              </a:rPr>
              <a:t>Por comparación con un polinomio característico de segundo orden genérico:</a:t>
            </a:r>
            <a:endParaRPr sz="1800">
              <a:solidFill>
                <a:srgbClr val="000000"/>
              </a:solidFill>
              <a:latin typeface="Calibri"/>
              <a:ea typeface="Calibri"/>
              <a:cs typeface="Calibri"/>
              <a:sym typeface="Calibri"/>
            </a:endParaRPr>
          </a:p>
        </p:txBody>
      </p:sp>
      <p:pic>
        <p:nvPicPr>
          <p:cNvPr id="235" name="Google Shape;235;p22"/>
          <p:cNvPicPr preferRelativeResize="0"/>
          <p:nvPr/>
        </p:nvPicPr>
        <p:blipFill>
          <a:blip r:embed="rId3">
            <a:alphaModFix/>
          </a:blip>
          <a:stretch>
            <a:fillRect/>
          </a:stretch>
        </p:blipFill>
        <p:spPr>
          <a:xfrm>
            <a:off x="162475" y="1059000"/>
            <a:ext cx="10115550" cy="771525"/>
          </a:xfrm>
          <a:prstGeom prst="rect">
            <a:avLst/>
          </a:prstGeom>
          <a:noFill/>
          <a:ln>
            <a:noFill/>
          </a:ln>
        </p:spPr>
      </p:pic>
      <p:pic>
        <p:nvPicPr>
          <p:cNvPr id="236" name="Google Shape;236;p22"/>
          <p:cNvPicPr preferRelativeResize="0"/>
          <p:nvPr/>
        </p:nvPicPr>
        <p:blipFill>
          <a:blip r:embed="rId4">
            <a:alphaModFix/>
          </a:blip>
          <a:stretch>
            <a:fillRect/>
          </a:stretch>
        </p:blipFill>
        <p:spPr>
          <a:xfrm>
            <a:off x="162475" y="1993000"/>
            <a:ext cx="3238500" cy="1933575"/>
          </a:xfrm>
          <a:prstGeom prst="rect">
            <a:avLst/>
          </a:prstGeom>
          <a:noFill/>
          <a:ln>
            <a:noFill/>
          </a:ln>
        </p:spPr>
      </p:pic>
      <p:sp>
        <p:nvSpPr>
          <p:cNvPr id="237" name="Google Shape;237;p22"/>
          <p:cNvSpPr txBox="1"/>
          <p:nvPr/>
        </p:nvSpPr>
        <p:spPr>
          <a:xfrm>
            <a:off x="162475" y="4138900"/>
            <a:ext cx="7987800" cy="3693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Clr>
                <a:srgbClr val="000000"/>
              </a:buClr>
              <a:buSzPts val="1800"/>
              <a:buFont typeface="Calibri"/>
              <a:buChar char="●"/>
            </a:pPr>
            <a:r>
              <a:rPr lang="es-MX" sz="1800">
                <a:latin typeface="Calibri"/>
                <a:ea typeface="Calibri"/>
                <a:cs typeface="Calibri"/>
                <a:sym typeface="Calibri"/>
              </a:rPr>
              <a:t>Despejando:</a:t>
            </a:r>
            <a:endParaRPr sz="1800">
              <a:solidFill>
                <a:srgbClr val="000000"/>
              </a:solidFill>
              <a:latin typeface="Calibri"/>
              <a:ea typeface="Calibri"/>
              <a:cs typeface="Calibri"/>
              <a:sym typeface="Calibri"/>
            </a:endParaRPr>
          </a:p>
        </p:txBody>
      </p:sp>
      <p:pic>
        <p:nvPicPr>
          <p:cNvPr id="238" name="Google Shape;238;p22"/>
          <p:cNvPicPr preferRelativeResize="0"/>
          <p:nvPr/>
        </p:nvPicPr>
        <p:blipFill>
          <a:blip r:embed="rId5">
            <a:alphaModFix/>
          </a:blip>
          <a:stretch>
            <a:fillRect/>
          </a:stretch>
        </p:blipFill>
        <p:spPr>
          <a:xfrm>
            <a:off x="162475" y="4610175"/>
            <a:ext cx="6610991" cy="2045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242" name="Shape 242"/>
        <p:cNvGrpSpPr/>
        <p:nvPr/>
      </p:nvGrpSpPr>
      <p:grpSpPr>
        <a:xfrm>
          <a:off x="0" y="0"/>
          <a:ext cx="0" cy="0"/>
          <a:chOff x="0" y="0"/>
          <a:chExt cx="0" cy="0"/>
        </a:xfrm>
      </p:grpSpPr>
      <p:sp>
        <p:nvSpPr>
          <p:cNvPr id="243" name="Google Shape;243;p23"/>
          <p:cNvSpPr txBox="1"/>
          <p:nvPr/>
        </p:nvSpPr>
        <p:spPr>
          <a:xfrm>
            <a:off x="4170000" y="129700"/>
            <a:ext cx="3852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MX" sz="1800" u="none" strike="noStrike">
                <a:solidFill>
                  <a:srgbClr val="000000"/>
                </a:solidFill>
                <a:latin typeface="Cambria Math"/>
                <a:ea typeface="Cambria Math"/>
                <a:cs typeface="Cambria Math"/>
                <a:sym typeface="Cambria Math"/>
              </a:rPr>
              <a:t>Análisis de Respuesta Transitoria</a:t>
            </a:r>
            <a:endParaRPr sz="1800">
              <a:solidFill>
                <a:schemeClr val="lt1"/>
              </a:solidFill>
              <a:latin typeface="Arial"/>
              <a:ea typeface="Arial"/>
              <a:cs typeface="Arial"/>
              <a:sym typeface="Arial"/>
            </a:endParaRPr>
          </a:p>
        </p:txBody>
      </p:sp>
      <p:sp>
        <p:nvSpPr>
          <p:cNvPr id="244" name="Google Shape;244;p23"/>
          <p:cNvSpPr txBox="1"/>
          <p:nvPr/>
        </p:nvSpPr>
        <p:spPr>
          <a:xfrm>
            <a:off x="162475" y="527225"/>
            <a:ext cx="7987800" cy="3693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Clr>
                <a:srgbClr val="000000"/>
              </a:buClr>
              <a:buSzPts val="1800"/>
              <a:buFont typeface="Calibri"/>
              <a:buChar char="●"/>
            </a:pPr>
            <a:r>
              <a:rPr lang="es-MX" sz="1800">
                <a:latin typeface="Calibri"/>
                <a:ea typeface="Calibri"/>
                <a:cs typeface="Calibri"/>
                <a:sym typeface="Calibri"/>
              </a:rPr>
              <a:t>Función de transferencia de la posición desde la entrada de control:</a:t>
            </a:r>
            <a:endParaRPr sz="1800">
              <a:solidFill>
                <a:srgbClr val="000000"/>
              </a:solidFill>
              <a:latin typeface="Calibri"/>
              <a:ea typeface="Calibri"/>
              <a:cs typeface="Calibri"/>
              <a:sym typeface="Calibri"/>
            </a:endParaRPr>
          </a:p>
        </p:txBody>
      </p:sp>
      <p:pic>
        <p:nvPicPr>
          <p:cNvPr id="245" name="Google Shape;245;p23"/>
          <p:cNvPicPr preferRelativeResize="0"/>
          <p:nvPr/>
        </p:nvPicPr>
        <p:blipFill>
          <a:blip r:embed="rId3">
            <a:alphaModFix/>
          </a:blip>
          <a:stretch>
            <a:fillRect/>
          </a:stretch>
        </p:blipFill>
        <p:spPr>
          <a:xfrm>
            <a:off x="162475" y="1028750"/>
            <a:ext cx="10248900" cy="1295400"/>
          </a:xfrm>
          <a:prstGeom prst="rect">
            <a:avLst/>
          </a:prstGeom>
          <a:noFill/>
          <a:ln>
            <a:noFill/>
          </a:ln>
        </p:spPr>
      </p:pic>
      <p:sp>
        <p:nvSpPr>
          <p:cNvPr id="246" name="Google Shape;246;p23"/>
          <p:cNvSpPr txBox="1"/>
          <p:nvPr/>
        </p:nvSpPr>
        <p:spPr>
          <a:xfrm>
            <a:off x="162475" y="2480725"/>
            <a:ext cx="7987800" cy="3693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Clr>
                <a:srgbClr val="000000"/>
              </a:buClr>
              <a:buSzPts val="1800"/>
              <a:buFont typeface="Calibri"/>
              <a:buChar char="●"/>
            </a:pPr>
            <a:r>
              <a:rPr lang="es-MX" sz="1800">
                <a:latin typeface="Calibri"/>
                <a:ea typeface="Calibri"/>
                <a:cs typeface="Calibri"/>
                <a:sym typeface="Calibri"/>
              </a:rPr>
              <a:t>Viendo la respuesta desde la velocidad angular</a:t>
            </a:r>
            <a:r>
              <a:rPr lang="es-MX" sz="1800">
                <a:latin typeface="Calibri"/>
                <a:ea typeface="Calibri"/>
                <a:cs typeface="Calibri"/>
                <a:sym typeface="Calibri"/>
              </a:rPr>
              <a:t>:</a:t>
            </a:r>
            <a:endParaRPr sz="1800">
              <a:solidFill>
                <a:srgbClr val="000000"/>
              </a:solidFill>
              <a:latin typeface="Calibri"/>
              <a:ea typeface="Calibri"/>
              <a:cs typeface="Calibri"/>
              <a:sym typeface="Calibri"/>
            </a:endParaRPr>
          </a:p>
        </p:txBody>
      </p:sp>
      <p:pic>
        <p:nvPicPr>
          <p:cNvPr id="247" name="Google Shape;247;p23"/>
          <p:cNvPicPr preferRelativeResize="0"/>
          <p:nvPr/>
        </p:nvPicPr>
        <p:blipFill>
          <a:blip r:embed="rId4">
            <a:alphaModFix/>
          </a:blip>
          <a:stretch>
            <a:fillRect/>
          </a:stretch>
        </p:blipFill>
        <p:spPr>
          <a:xfrm>
            <a:off x="162475" y="3006600"/>
            <a:ext cx="3162300" cy="1057275"/>
          </a:xfrm>
          <a:prstGeom prst="rect">
            <a:avLst/>
          </a:prstGeom>
          <a:noFill/>
          <a:ln>
            <a:noFill/>
          </a:ln>
        </p:spPr>
      </p:pic>
      <p:pic>
        <p:nvPicPr>
          <p:cNvPr id="248" name="Google Shape;248;p23"/>
          <p:cNvPicPr preferRelativeResize="0"/>
          <p:nvPr/>
        </p:nvPicPr>
        <p:blipFill>
          <a:blip r:embed="rId5">
            <a:alphaModFix/>
          </a:blip>
          <a:stretch>
            <a:fillRect/>
          </a:stretch>
        </p:blipFill>
        <p:spPr>
          <a:xfrm>
            <a:off x="162475" y="4831750"/>
            <a:ext cx="4791075" cy="1257300"/>
          </a:xfrm>
          <a:prstGeom prst="rect">
            <a:avLst/>
          </a:prstGeom>
          <a:noFill/>
          <a:ln>
            <a:noFill/>
          </a:ln>
        </p:spPr>
      </p:pic>
      <p:sp>
        <p:nvSpPr>
          <p:cNvPr id="249" name="Google Shape;249;p23"/>
          <p:cNvSpPr txBox="1"/>
          <p:nvPr/>
        </p:nvSpPr>
        <p:spPr>
          <a:xfrm>
            <a:off x="162475" y="4196100"/>
            <a:ext cx="7987800" cy="3693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Clr>
                <a:srgbClr val="000000"/>
              </a:buClr>
              <a:buSzPts val="1800"/>
              <a:buFont typeface="Calibri"/>
              <a:buChar char="●"/>
            </a:pPr>
            <a:r>
              <a:rPr lang="es-MX" sz="1800">
                <a:latin typeface="Calibri"/>
                <a:ea typeface="Calibri"/>
                <a:cs typeface="Calibri"/>
                <a:sym typeface="Calibri"/>
              </a:rPr>
              <a:t>Función de transferencia genérica de un sistema de segundo orden:</a:t>
            </a:r>
            <a:endParaRPr sz="1800">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253" name="Shape 253"/>
        <p:cNvGrpSpPr/>
        <p:nvPr/>
      </p:nvGrpSpPr>
      <p:grpSpPr>
        <a:xfrm>
          <a:off x="0" y="0"/>
          <a:ext cx="0" cy="0"/>
          <a:chOff x="0" y="0"/>
          <a:chExt cx="0" cy="0"/>
        </a:xfrm>
      </p:grpSpPr>
      <p:pic>
        <p:nvPicPr>
          <p:cNvPr id="254" name="Google Shape;254;p24"/>
          <p:cNvPicPr preferRelativeResize="0"/>
          <p:nvPr/>
        </p:nvPicPr>
        <p:blipFill rotWithShape="1">
          <a:blip r:embed="rId3">
            <a:alphaModFix/>
          </a:blip>
          <a:srcRect b="0" l="0" r="0" t="0"/>
          <a:stretch/>
        </p:blipFill>
        <p:spPr>
          <a:xfrm>
            <a:off x="1221701" y="759460"/>
            <a:ext cx="4293239" cy="1077586"/>
          </a:xfrm>
          <a:prstGeom prst="rect">
            <a:avLst/>
          </a:prstGeom>
          <a:noFill/>
          <a:ln>
            <a:noFill/>
          </a:ln>
        </p:spPr>
      </p:pic>
      <p:pic>
        <p:nvPicPr>
          <p:cNvPr id="255" name="Google Shape;255;p24"/>
          <p:cNvPicPr preferRelativeResize="0"/>
          <p:nvPr/>
        </p:nvPicPr>
        <p:blipFill rotWithShape="1">
          <a:blip r:embed="rId4">
            <a:alphaModFix/>
          </a:blip>
          <a:srcRect b="0" l="0" r="0" t="0"/>
          <a:stretch/>
        </p:blipFill>
        <p:spPr>
          <a:xfrm>
            <a:off x="1221702" y="2063890"/>
            <a:ext cx="4391132" cy="829285"/>
          </a:xfrm>
          <a:prstGeom prst="rect">
            <a:avLst/>
          </a:prstGeom>
          <a:noFill/>
          <a:ln>
            <a:noFill/>
          </a:ln>
        </p:spPr>
      </p:pic>
      <p:pic>
        <p:nvPicPr>
          <p:cNvPr id="256" name="Google Shape;256;p24"/>
          <p:cNvPicPr preferRelativeResize="0"/>
          <p:nvPr/>
        </p:nvPicPr>
        <p:blipFill rotWithShape="1">
          <a:blip r:embed="rId5">
            <a:alphaModFix/>
          </a:blip>
          <a:srcRect b="0" l="0" r="0" t="0"/>
          <a:stretch/>
        </p:blipFill>
        <p:spPr>
          <a:xfrm>
            <a:off x="1221702" y="5533425"/>
            <a:ext cx="4438632" cy="862180"/>
          </a:xfrm>
          <a:prstGeom prst="rect">
            <a:avLst/>
          </a:prstGeom>
          <a:noFill/>
          <a:ln>
            <a:noFill/>
          </a:ln>
        </p:spPr>
      </p:pic>
      <p:pic>
        <p:nvPicPr>
          <p:cNvPr id="257" name="Google Shape;257;p24"/>
          <p:cNvPicPr preferRelativeResize="0"/>
          <p:nvPr/>
        </p:nvPicPr>
        <p:blipFill rotWithShape="1">
          <a:blip r:embed="rId6">
            <a:alphaModFix/>
          </a:blip>
          <a:srcRect b="0" l="0" r="0" t="0"/>
          <a:stretch/>
        </p:blipFill>
        <p:spPr>
          <a:xfrm>
            <a:off x="1221702" y="3059326"/>
            <a:ext cx="2935961" cy="1070899"/>
          </a:xfrm>
          <a:prstGeom prst="rect">
            <a:avLst/>
          </a:prstGeom>
          <a:noFill/>
          <a:ln>
            <a:noFill/>
          </a:ln>
        </p:spPr>
      </p:pic>
      <p:pic>
        <p:nvPicPr>
          <p:cNvPr id="258" name="Google Shape;258;p24"/>
          <p:cNvPicPr preferRelativeResize="0"/>
          <p:nvPr/>
        </p:nvPicPr>
        <p:blipFill rotWithShape="1">
          <a:blip r:embed="rId7">
            <a:alphaModFix/>
          </a:blip>
          <a:srcRect b="0" l="0" r="0" t="0"/>
          <a:stretch/>
        </p:blipFill>
        <p:spPr>
          <a:xfrm>
            <a:off x="1221702" y="4296376"/>
            <a:ext cx="4957444" cy="1070898"/>
          </a:xfrm>
          <a:prstGeom prst="rect">
            <a:avLst/>
          </a:prstGeom>
          <a:noFill/>
          <a:ln>
            <a:noFill/>
          </a:ln>
        </p:spPr>
      </p:pic>
      <p:pic>
        <p:nvPicPr>
          <p:cNvPr id="259" name="Google Shape;259;p24"/>
          <p:cNvPicPr preferRelativeResize="0"/>
          <p:nvPr/>
        </p:nvPicPr>
        <p:blipFill rotWithShape="1">
          <a:blip r:embed="rId8">
            <a:alphaModFix/>
          </a:blip>
          <a:srcRect b="0" l="0" r="0" t="0"/>
          <a:stretch/>
        </p:blipFill>
        <p:spPr>
          <a:xfrm>
            <a:off x="6673612" y="759460"/>
            <a:ext cx="4293240" cy="1012764"/>
          </a:xfrm>
          <a:prstGeom prst="rect">
            <a:avLst/>
          </a:prstGeom>
          <a:noFill/>
          <a:ln>
            <a:noFill/>
          </a:ln>
        </p:spPr>
      </p:pic>
      <p:pic>
        <p:nvPicPr>
          <p:cNvPr id="260" name="Google Shape;260;p24"/>
          <p:cNvPicPr preferRelativeResize="0"/>
          <p:nvPr/>
        </p:nvPicPr>
        <p:blipFill rotWithShape="1">
          <a:blip r:embed="rId9">
            <a:alphaModFix/>
          </a:blip>
          <a:srcRect b="0" l="0" r="0" t="0"/>
          <a:stretch/>
        </p:blipFill>
        <p:spPr>
          <a:xfrm>
            <a:off x="6673612" y="1966744"/>
            <a:ext cx="3291484" cy="1090552"/>
          </a:xfrm>
          <a:prstGeom prst="rect">
            <a:avLst/>
          </a:prstGeom>
          <a:noFill/>
          <a:ln>
            <a:noFill/>
          </a:ln>
        </p:spPr>
      </p:pic>
      <p:pic>
        <p:nvPicPr>
          <p:cNvPr id="261" name="Google Shape;261;p24"/>
          <p:cNvPicPr preferRelativeResize="0"/>
          <p:nvPr/>
        </p:nvPicPr>
        <p:blipFill rotWithShape="1">
          <a:blip r:embed="rId10">
            <a:alphaModFix/>
          </a:blip>
          <a:srcRect b="0" l="0" r="0" t="0"/>
          <a:stretch/>
        </p:blipFill>
        <p:spPr>
          <a:xfrm>
            <a:off x="6673612" y="4298209"/>
            <a:ext cx="3291485" cy="1012764"/>
          </a:xfrm>
          <a:prstGeom prst="rect">
            <a:avLst/>
          </a:prstGeom>
          <a:noFill/>
          <a:ln>
            <a:noFill/>
          </a:ln>
        </p:spPr>
      </p:pic>
      <p:pic>
        <p:nvPicPr>
          <p:cNvPr id="262" name="Google Shape;262;p24"/>
          <p:cNvPicPr preferRelativeResize="0"/>
          <p:nvPr/>
        </p:nvPicPr>
        <p:blipFill rotWithShape="1">
          <a:blip r:embed="rId11">
            <a:alphaModFix/>
          </a:blip>
          <a:srcRect b="0" l="0" r="0" t="0"/>
          <a:stretch/>
        </p:blipFill>
        <p:spPr>
          <a:xfrm>
            <a:off x="6673612" y="3181503"/>
            <a:ext cx="3291484" cy="948722"/>
          </a:xfrm>
          <a:prstGeom prst="rect">
            <a:avLst/>
          </a:prstGeom>
          <a:noFill/>
          <a:ln>
            <a:noFill/>
          </a:ln>
        </p:spPr>
      </p:pic>
      <p:pic>
        <p:nvPicPr>
          <p:cNvPr id="263" name="Google Shape;263;p24"/>
          <p:cNvPicPr preferRelativeResize="0"/>
          <p:nvPr/>
        </p:nvPicPr>
        <p:blipFill rotWithShape="1">
          <a:blip r:embed="rId12">
            <a:alphaModFix/>
          </a:blip>
          <a:srcRect b="0" l="0" r="0" t="0"/>
          <a:stretch/>
        </p:blipFill>
        <p:spPr>
          <a:xfrm>
            <a:off x="6673612" y="5572984"/>
            <a:ext cx="3939276" cy="862181"/>
          </a:xfrm>
          <a:prstGeom prst="rect">
            <a:avLst/>
          </a:prstGeom>
          <a:noFill/>
          <a:ln>
            <a:noFill/>
          </a:ln>
        </p:spPr>
      </p:pic>
      <p:sp>
        <p:nvSpPr>
          <p:cNvPr id="264" name="Google Shape;264;p24"/>
          <p:cNvSpPr txBox="1"/>
          <p:nvPr/>
        </p:nvSpPr>
        <p:spPr>
          <a:xfrm>
            <a:off x="4170000" y="129700"/>
            <a:ext cx="38520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Parámetros que caracterizan la respuesta</a:t>
            </a:r>
            <a:endParaRPr sz="1800">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268" name="Shape 268"/>
        <p:cNvGrpSpPr/>
        <p:nvPr/>
      </p:nvGrpSpPr>
      <p:grpSpPr>
        <a:xfrm>
          <a:off x="0" y="0"/>
          <a:ext cx="0" cy="0"/>
          <a:chOff x="0" y="0"/>
          <a:chExt cx="0" cy="0"/>
        </a:xfrm>
      </p:grpSpPr>
      <p:sp>
        <p:nvSpPr>
          <p:cNvPr id="269" name="Google Shape;269;g3388f479b56_0_0"/>
          <p:cNvSpPr txBox="1"/>
          <p:nvPr/>
        </p:nvSpPr>
        <p:spPr>
          <a:xfrm>
            <a:off x="5504250" y="1569713"/>
            <a:ext cx="11835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s-MX">
                <a:latin typeface="Cambria Math"/>
                <a:ea typeface="Cambria Math"/>
                <a:cs typeface="Cambria Math"/>
                <a:sym typeface="Cambria Math"/>
              </a:rPr>
              <a:t>Jeq variable</a:t>
            </a:r>
            <a:endParaRPr b="1">
              <a:latin typeface="Cambria Math"/>
              <a:ea typeface="Cambria Math"/>
              <a:cs typeface="Cambria Math"/>
              <a:sym typeface="Cambria Math"/>
            </a:endParaRPr>
          </a:p>
        </p:txBody>
      </p:sp>
      <p:pic>
        <p:nvPicPr>
          <p:cNvPr id="270" name="Google Shape;270;g3388f479b56_0_0"/>
          <p:cNvPicPr preferRelativeResize="0"/>
          <p:nvPr/>
        </p:nvPicPr>
        <p:blipFill>
          <a:blip r:embed="rId3">
            <a:alphaModFix/>
          </a:blip>
          <a:stretch>
            <a:fillRect/>
          </a:stretch>
        </p:blipFill>
        <p:spPr>
          <a:xfrm>
            <a:off x="166675" y="2133301"/>
            <a:ext cx="5872175" cy="4104390"/>
          </a:xfrm>
          <a:prstGeom prst="rect">
            <a:avLst/>
          </a:prstGeom>
          <a:noFill/>
          <a:ln>
            <a:noFill/>
          </a:ln>
        </p:spPr>
      </p:pic>
      <p:pic>
        <p:nvPicPr>
          <p:cNvPr id="271" name="Google Shape;271;g3388f479b56_0_0"/>
          <p:cNvPicPr preferRelativeResize="0"/>
          <p:nvPr/>
        </p:nvPicPr>
        <p:blipFill rotWithShape="1">
          <a:blip r:embed="rId4">
            <a:alphaModFix/>
          </a:blip>
          <a:srcRect b="0" l="0" r="862" t="0"/>
          <a:stretch/>
        </p:blipFill>
        <p:spPr>
          <a:xfrm>
            <a:off x="6157925" y="2161838"/>
            <a:ext cx="5872175" cy="4047315"/>
          </a:xfrm>
          <a:prstGeom prst="rect">
            <a:avLst/>
          </a:prstGeom>
          <a:noFill/>
          <a:ln>
            <a:noFill/>
          </a:ln>
        </p:spPr>
      </p:pic>
      <p:sp>
        <p:nvSpPr>
          <p:cNvPr id="272" name="Google Shape;272;g3388f479b56_0_0"/>
          <p:cNvSpPr txBox="1"/>
          <p:nvPr/>
        </p:nvSpPr>
        <p:spPr>
          <a:xfrm>
            <a:off x="628500" y="796075"/>
            <a:ext cx="10935000" cy="9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600">
                <a:latin typeface="Calibri"/>
                <a:ea typeface="Calibri"/>
                <a:cs typeface="Calibri"/>
                <a:sym typeface="Calibri"/>
              </a:rPr>
              <a:t>Analizaremos cómo se modifican de los polos y propiedades del sistema cambiando los valores de los parámetros  Jeq , beq y Rs, y veremos cómo esto impacta en la respuesta del sistema para un escalón unitario en la entrada de control vq(t). Al variar un parámetro mantendremos los otros constantes.</a:t>
            </a:r>
            <a:endParaRPr sz="1800"/>
          </a:p>
        </p:txBody>
      </p:sp>
      <p:sp>
        <p:nvSpPr>
          <p:cNvPr id="273" name="Google Shape;273;g3388f479b56_0_0"/>
          <p:cNvSpPr txBox="1"/>
          <p:nvPr/>
        </p:nvSpPr>
        <p:spPr>
          <a:xfrm>
            <a:off x="3049197" y="132097"/>
            <a:ext cx="6093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Migración de propiedades variando parámetros de carga</a:t>
            </a:r>
            <a:endParaRPr sz="1800">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277" name="Shape 277"/>
        <p:cNvGrpSpPr/>
        <p:nvPr/>
      </p:nvGrpSpPr>
      <p:grpSpPr>
        <a:xfrm>
          <a:off x="0" y="0"/>
          <a:ext cx="0" cy="0"/>
          <a:chOff x="0" y="0"/>
          <a:chExt cx="0" cy="0"/>
        </a:xfrm>
      </p:grpSpPr>
      <p:sp>
        <p:nvSpPr>
          <p:cNvPr id="278" name="Google Shape;278;g3388f479b56_0_11"/>
          <p:cNvSpPr txBox="1"/>
          <p:nvPr/>
        </p:nvSpPr>
        <p:spPr>
          <a:xfrm>
            <a:off x="5506650" y="953925"/>
            <a:ext cx="11787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s-MX">
                <a:latin typeface="Cambria Math"/>
                <a:ea typeface="Cambria Math"/>
                <a:cs typeface="Cambria Math"/>
                <a:sym typeface="Cambria Math"/>
              </a:rPr>
              <a:t>b</a:t>
            </a:r>
            <a:r>
              <a:rPr b="1" lang="es-MX">
                <a:latin typeface="Cambria Math"/>
                <a:ea typeface="Cambria Math"/>
                <a:cs typeface="Cambria Math"/>
                <a:sym typeface="Cambria Math"/>
              </a:rPr>
              <a:t>eq</a:t>
            </a:r>
            <a:r>
              <a:rPr b="1" lang="es-MX">
                <a:latin typeface="Cambria Math"/>
                <a:ea typeface="Cambria Math"/>
                <a:cs typeface="Cambria Math"/>
                <a:sym typeface="Cambria Math"/>
              </a:rPr>
              <a:t> variable</a:t>
            </a:r>
            <a:endParaRPr b="1">
              <a:latin typeface="Cambria Math"/>
              <a:ea typeface="Cambria Math"/>
              <a:cs typeface="Cambria Math"/>
              <a:sym typeface="Cambria Math"/>
            </a:endParaRPr>
          </a:p>
        </p:txBody>
      </p:sp>
      <p:pic>
        <p:nvPicPr>
          <p:cNvPr id="279" name="Google Shape;279;g3388f479b56_0_11"/>
          <p:cNvPicPr preferRelativeResize="0"/>
          <p:nvPr/>
        </p:nvPicPr>
        <p:blipFill>
          <a:blip r:embed="rId3">
            <a:alphaModFix/>
          </a:blip>
          <a:stretch>
            <a:fillRect/>
          </a:stretch>
        </p:blipFill>
        <p:spPr>
          <a:xfrm>
            <a:off x="185725" y="1900225"/>
            <a:ext cx="5888824" cy="3932750"/>
          </a:xfrm>
          <a:prstGeom prst="rect">
            <a:avLst/>
          </a:prstGeom>
          <a:noFill/>
          <a:ln>
            <a:noFill/>
          </a:ln>
        </p:spPr>
      </p:pic>
      <p:pic>
        <p:nvPicPr>
          <p:cNvPr id="280" name="Google Shape;280;g3388f479b56_0_11"/>
          <p:cNvPicPr preferRelativeResize="0"/>
          <p:nvPr/>
        </p:nvPicPr>
        <p:blipFill>
          <a:blip r:embed="rId4">
            <a:alphaModFix/>
          </a:blip>
          <a:stretch>
            <a:fillRect/>
          </a:stretch>
        </p:blipFill>
        <p:spPr>
          <a:xfrm>
            <a:off x="6172225" y="1942988"/>
            <a:ext cx="5888825" cy="384722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284" name="Shape 284"/>
        <p:cNvGrpSpPr/>
        <p:nvPr/>
      </p:nvGrpSpPr>
      <p:grpSpPr>
        <a:xfrm>
          <a:off x="0" y="0"/>
          <a:ext cx="0" cy="0"/>
          <a:chOff x="0" y="0"/>
          <a:chExt cx="0" cy="0"/>
        </a:xfrm>
      </p:grpSpPr>
      <p:sp>
        <p:nvSpPr>
          <p:cNvPr id="285" name="Google Shape;285;g3388f479b56_0_20"/>
          <p:cNvSpPr txBox="1"/>
          <p:nvPr/>
        </p:nvSpPr>
        <p:spPr>
          <a:xfrm>
            <a:off x="5548200" y="671825"/>
            <a:ext cx="10956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s-MX">
                <a:latin typeface="Cambria Math"/>
                <a:ea typeface="Cambria Math"/>
                <a:cs typeface="Cambria Math"/>
                <a:sym typeface="Cambria Math"/>
              </a:rPr>
              <a:t>Rs variable</a:t>
            </a:r>
            <a:endParaRPr b="1">
              <a:latin typeface="Cambria Math"/>
              <a:ea typeface="Cambria Math"/>
              <a:cs typeface="Cambria Math"/>
              <a:sym typeface="Cambria Math"/>
            </a:endParaRPr>
          </a:p>
        </p:txBody>
      </p:sp>
      <p:pic>
        <p:nvPicPr>
          <p:cNvPr id="286" name="Google Shape;286;g3388f479b56_0_20"/>
          <p:cNvPicPr preferRelativeResize="0"/>
          <p:nvPr/>
        </p:nvPicPr>
        <p:blipFill rotWithShape="1">
          <a:blip r:embed="rId3">
            <a:alphaModFix/>
          </a:blip>
          <a:srcRect b="0" l="0" r="5908" t="0"/>
          <a:stretch/>
        </p:blipFill>
        <p:spPr>
          <a:xfrm>
            <a:off x="161925" y="1805000"/>
            <a:ext cx="6055500" cy="3963800"/>
          </a:xfrm>
          <a:prstGeom prst="rect">
            <a:avLst/>
          </a:prstGeom>
          <a:noFill/>
          <a:ln>
            <a:noFill/>
          </a:ln>
        </p:spPr>
      </p:pic>
      <p:pic>
        <p:nvPicPr>
          <p:cNvPr id="287" name="Google Shape;287;g3388f479b56_0_20"/>
          <p:cNvPicPr preferRelativeResize="0"/>
          <p:nvPr/>
        </p:nvPicPr>
        <p:blipFill>
          <a:blip r:embed="rId4">
            <a:alphaModFix/>
          </a:blip>
          <a:stretch>
            <a:fillRect/>
          </a:stretch>
        </p:blipFill>
        <p:spPr>
          <a:xfrm>
            <a:off x="6469825" y="1805000"/>
            <a:ext cx="5722177" cy="39638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291" name="Shape 291"/>
        <p:cNvGrpSpPr/>
        <p:nvPr/>
      </p:nvGrpSpPr>
      <p:grpSpPr>
        <a:xfrm>
          <a:off x="0" y="0"/>
          <a:ext cx="0" cy="0"/>
          <a:chOff x="0" y="0"/>
          <a:chExt cx="0" cy="0"/>
        </a:xfrm>
      </p:grpSpPr>
      <p:sp>
        <p:nvSpPr>
          <p:cNvPr id="292" name="Google Shape;292;g34155d50a00_0_297"/>
          <p:cNvSpPr txBox="1"/>
          <p:nvPr/>
        </p:nvSpPr>
        <p:spPr>
          <a:xfrm>
            <a:off x="609900" y="1989900"/>
            <a:ext cx="10972200" cy="287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MX" sz="1800">
                <a:latin typeface="Cambria Math"/>
                <a:ea typeface="Cambria Math"/>
                <a:cs typeface="Cambria Math"/>
                <a:sym typeface="Cambria Math"/>
              </a:rPr>
              <a:t>Conclusión de sobre migración de propiedades al variar parámetros de carga</a:t>
            </a:r>
            <a:endParaRPr sz="1800">
              <a:latin typeface="Calibri"/>
              <a:ea typeface="Calibri"/>
              <a:cs typeface="Calibri"/>
              <a:sym typeface="Calibri"/>
            </a:endParaRPr>
          </a:p>
          <a:p>
            <a:pPr indent="0" lvl="0" marL="0" rtl="0" algn="l">
              <a:lnSpc>
                <a:spcPct val="115000"/>
              </a:lnSpc>
              <a:spcBef>
                <a:spcPts val="1200"/>
              </a:spcBef>
              <a:spcAft>
                <a:spcPts val="0"/>
              </a:spcAft>
              <a:buNone/>
            </a:pPr>
            <a:r>
              <a:rPr lang="es-MX" sz="1700">
                <a:latin typeface="Calibri"/>
                <a:ea typeface="Calibri"/>
                <a:cs typeface="Calibri"/>
                <a:sym typeface="Calibri"/>
              </a:rPr>
              <a:t>Ante la variación de parámetros, los polos del sistema siempre permanecieron en el semiplano izquierdo, esto garantiza la estabilidad del sistema. La única excepción es el polo en el origen, cuyo valor es cero, dotando al sistema con un comportamiento integrador. Esto significa que la salida del sistema (posición angular) crece continuamente ante una entrada escalón.</a:t>
            </a:r>
            <a:endParaRPr sz="1700">
              <a:latin typeface="Calibri"/>
              <a:ea typeface="Calibri"/>
              <a:cs typeface="Calibri"/>
              <a:sym typeface="Calibri"/>
            </a:endParaRPr>
          </a:p>
          <a:p>
            <a:pPr indent="0" lvl="0" marL="0" rtl="0" algn="l">
              <a:lnSpc>
                <a:spcPct val="115000"/>
              </a:lnSpc>
              <a:spcBef>
                <a:spcPts val="1200"/>
              </a:spcBef>
              <a:spcAft>
                <a:spcPts val="1200"/>
              </a:spcAft>
              <a:buNone/>
            </a:pPr>
            <a:r>
              <a:rPr lang="es-MX" sz="1700">
                <a:latin typeface="Calibri"/>
                <a:ea typeface="Calibri"/>
                <a:cs typeface="Calibri"/>
                <a:sym typeface="Calibri"/>
              </a:rPr>
              <a:t>Dado que el factor de amortiguamiento es menor a 1, se concluye que el sistema en lazo abierto es subamortiguado, lo que significa que ante una perturbación, la velocidad angular del sistema responde con oscilaciones que eventualmente se atenúan debido a la disipación de energía.</a:t>
            </a:r>
            <a:endParaRPr sz="2900">
              <a:solidFill>
                <a:schemeClr val="dk1"/>
              </a:solidFill>
              <a:latin typeface="Lato"/>
              <a:ea typeface="Lato"/>
              <a:cs typeface="Lato"/>
              <a:sym typeface="La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296" name="Shape 296"/>
        <p:cNvGrpSpPr/>
        <p:nvPr/>
      </p:nvGrpSpPr>
      <p:grpSpPr>
        <a:xfrm>
          <a:off x="0" y="0"/>
          <a:ext cx="0" cy="0"/>
          <a:chOff x="0" y="0"/>
          <a:chExt cx="0" cy="0"/>
        </a:xfrm>
      </p:grpSpPr>
      <p:sp>
        <p:nvSpPr>
          <p:cNvPr id="297" name="Google Shape;297;g3388f479b56_0_44"/>
          <p:cNvSpPr txBox="1"/>
          <p:nvPr/>
        </p:nvSpPr>
        <p:spPr>
          <a:xfrm>
            <a:off x="8101500" y="167025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vq(t) = us(t), Tdeq(t) = us(t)</a:t>
            </a:r>
            <a:endParaRPr/>
          </a:p>
        </p:txBody>
      </p:sp>
      <p:sp>
        <p:nvSpPr>
          <p:cNvPr id="298" name="Google Shape;298;g3388f479b56_0_44"/>
          <p:cNvSpPr txBox="1"/>
          <p:nvPr/>
        </p:nvSpPr>
        <p:spPr>
          <a:xfrm>
            <a:off x="1804650" y="268050"/>
            <a:ext cx="8582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Influencia de las acciones de control y perturbación en la respuesta del sistema</a:t>
            </a:r>
            <a:endParaRPr sz="1800">
              <a:solidFill>
                <a:schemeClr val="lt1"/>
              </a:solidFill>
              <a:latin typeface="Arial"/>
              <a:ea typeface="Arial"/>
              <a:cs typeface="Arial"/>
              <a:sym typeface="Arial"/>
            </a:endParaRPr>
          </a:p>
        </p:txBody>
      </p:sp>
      <p:sp>
        <p:nvSpPr>
          <p:cNvPr id="299" name="Google Shape;299;g3388f479b56_0_44"/>
          <p:cNvSpPr txBox="1"/>
          <p:nvPr/>
        </p:nvSpPr>
        <p:spPr>
          <a:xfrm>
            <a:off x="243500" y="167025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vq(t) = </a:t>
            </a:r>
            <a:r>
              <a:rPr lang="es-MX"/>
              <a:t>us</a:t>
            </a:r>
            <a:r>
              <a:rPr lang="es-MX"/>
              <a:t>(t), Tdeq(t) = </a:t>
            </a:r>
            <a:r>
              <a:rPr lang="es-MX"/>
              <a:t>0</a:t>
            </a:r>
            <a:endParaRPr/>
          </a:p>
        </p:txBody>
      </p:sp>
      <p:sp>
        <p:nvSpPr>
          <p:cNvPr id="300" name="Google Shape;300;g3388f479b56_0_44"/>
          <p:cNvSpPr txBox="1"/>
          <p:nvPr/>
        </p:nvSpPr>
        <p:spPr>
          <a:xfrm>
            <a:off x="4172500" y="167025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vq(t) = 0, Tdeq(t) = us(t)</a:t>
            </a:r>
            <a:endParaRPr/>
          </a:p>
        </p:txBody>
      </p:sp>
      <p:pic>
        <p:nvPicPr>
          <p:cNvPr id="301" name="Google Shape;301;g3388f479b56_0_44"/>
          <p:cNvPicPr preferRelativeResize="0"/>
          <p:nvPr/>
        </p:nvPicPr>
        <p:blipFill>
          <a:blip r:embed="rId3">
            <a:alphaModFix/>
          </a:blip>
          <a:stretch>
            <a:fillRect/>
          </a:stretch>
        </p:blipFill>
        <p:spPr>
          <a:xfrm>
            <a:off x="4172488" y="2070458"/>
            <a:ext cx="3847025" cy="2717093"/>
          </a:xfrm>
          <a:prstGeom prst="rect">
            <a:avLst/>
          </a:prstGeom>
          <a:noFill/>
          <a:ln>
            <a:noFill/>
          </a:ln>
        </p:spPr>
      </p:pic>
      <p:pic>
        <p:nvPicPr>
          <p:cNvPr id="302" name="Google Shape;302;g3388f479b56_0_44"/>
          <p:cNvPicPr preferRelativeResize="0"/>
          <p:nvPr/>
        </p:nvPicPr>
        <p:blipFill>
          <a:blip r:embed="rId4">
            <a:alphaModFix/>
          </a:blip>
          <a:stretch>
            <a:fillRect/>
          </a:stretch>
        </p:blipFill>
        <p:spPr>
          <a:xfrm>
            <a:off x="243500" y="2070450"/>
            <a:ext cx="3847025" cy="2717094"/>
          </a:xfrm>
          <a:prstGeom prst="rect">
            <a:avLst/>
          </a:prstGeom>
          <a:noFill/>
          <a:ln>
            <a:noFill/>
          </a:ln>
        </p:spPr>
      </p:pic>
      <p:pic>
        <p:nvPicPr>
          <p:cNvPr id="303" name="Google Shape;303;g3388f479b56_0_44"/>
          <p:cNvPicPr preferRelativeResize="0"/>
          <p:nvPr/>
        </p:nvPicPr>
        <p:blipFill>
          <a:blip r:embed="rId5">
            <a:alphaModFix/>
          </a:blip>
          <a:stretch>
            <a:fillRect/>
          </a:stretch>
        </p:blipFill>
        <p:spPr>
          <a:xfrm>
            <a:off x="8101499" y="2070450"/>
            <a:ext cx="3847025" cy="2717111"/>
          </a:xfrm>
          <a:prstGeom prst="rect">
            <a:avLst/>
          </a:prstGeom>
          <a:noFill/>
          <a:ln>
            <a:noFill/>
          </a:ln>
        </p:spPr>
      </p:pic>
      <p:sp>
        <p:nvSpPr>
          <p:cNvPr id="304" name="Google Shape;304;g3388f479b56_0_44"/>
          <p:cNvSpPr txBox="1"/>
          <p:nvPr/>
        </p:nvSpPr>
        <p:spPr>
          <a:xfrm>
            <a:off x="243500" y="5423725"/>
            <a:ext cx="7574400" cy="4617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1200"/>
              </a:spcBef>
              <a:spcAft>
                <a:spcPts val="0"/>
              </a:spcAft>
              <a:buSzPts val="1800"/>
              <a:buFont typeface="Cambria Math"/>
              <a:buChar char="●"/>
            </a:pPr>
            <a:r>
              <a:rPr lang="es-MX" sz="1800">
                <a:latin typeface="Cambria Math"/>
                <a:ea typeface="Cambria Math"/>
                <a:cs typeface="Cambria Math"/>
                <a:sym typeface="Cambria Math"/>
              </a:rPr>
              <a:t>Como se tiene un sistema LTI, se cumple el principio de superposición.</a:t>
            </a:r>
            <a:endParaRPr sz="2900">
              <a:solidFill>
                <a:schemeClr val="dk1"/>
              </a:solidFill>
              <a:latin typeface="Cambria Math"/>
              <a:ea typeface="Cambria Math"/>
              <a:cs typeface="Cambria Math"/>
              <a:sym typeface="Cambria Math"/>
            </a:endParaRPr>
          </a:p>
        </p:txBody>
      </p:sp>
      <p:sp>
        <p:nvSpPr>
          <p:cNvPr id="305" name="Google Shape;305;g3388f479b56_0_44"/>
          <p:cNvSpPr txBox="1"/>
          <p:nvPr/>
        </p:nvSpPr>
        <p:spPr>
          <a:xfrm>
            <a:off x="1530413" y="763650"/>
            <a:ext cx="7947000" cy="7803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1200"/>
              </a:spcBef>
              <a:spcAft>
                <a:spcPts val="1200"/>
              </a:spcAft>
              <a:buNone/>
            </a:pPr>
            <a:r>
              <a:rPr lang="es-MX" sz="1800">
                <a:latin typeface="Cambria Math"/>
                <a:ea typeface="Cambria Math"/>
                <a:cs typeface="Cambria Math"/>
                <a:sym typeface="Cambria Math"/>
              </a:rPr>
              <a:t>Veamos cómo se ven afectadas las variables de estado de nuestro sistema LTI ante entradas escalón en las entradas de control y perturbación.</a:t>
            </a:r>
            <a:endParaRPr sz="2900">
              <a:solidFill>
                <a:schemeClr val="dk1"/>
              </a:solidFill>
              <a:latin typeface="Cambria Math"/>
              <a:ea typeface="Cambria Math"/>
              <a:cs typeface="Cambria Math"/>
              <a:sym typeface="Cambria Math"/>
            </a:endParaRPr>
          </a:p>
        </p:txBody>
      </p:sp>
      <p:sp>
        <p:nvSpPr>
          <p:cNvPr id="306" name="Google Shape;306;g3388f479b56_0_44"/>
          <p:cNvSpPr txBox="1"/>
          <p:nvPr/>
        </p:nvSpPr>
        <p:spPr>
          <a:xfrm>
            <a:off x="243500" y="4787538"/>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wm(t) = 20.7 rad/s en SS</a:t>
            </a:r>
            <a:endParaRPr/>
          </a:p>
        </p:txBody>
      </p:sp>
      <p:sp>
        <p:nvSpPr>
          <p:cNvPr id="307" name="Google Shape;307;g3388f479b56_0_44"/>
          <p:cNvSpPr txBox="1"/>
          <p:nvPr/>
        </p:nvSpPr>
        <p:spPr>
          <a:xfrm>
            <a:off x="4172500" y="478755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wm(t) = -2.63 rad/s en SS</a:t>
            </a:r>
            <a:endParaRPr/>
          </a:p>
        </p:txBody>
      </p:sp>
      <p:sp>
        <p:nvSpPr>
          <p:cNvPr id="308" name="Google Shape;308;g3388f479b56_0_44"/>
          <p:cNvSpPr txBox="1"/>
          <p:nvPr/>
        </p:nvSpPr>
        <p:spPr>
          <a:xfrm>
            <a:off x="8101500" y="4787538"/>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wm(t) = 18.1 rad/s en SS</a:t>
            </a:r>
            <a:endParaRPr/>
          </a:p>
        </p:txBody>
      </p:sp>
      <p:sp>
        <p:nvSpPr>
          <p:cNvPr id="309" name="Google Shape;309;g3388f479b56_0_44"/>
          <p:cNvSpPr txBox="1"/>
          <p:nvPr/>
        </p:nvSpPr>
        <p:spPr>
          <a:xfrm>
            <a:off x="3704575" y="4464225"/>
            <a:ext cx="2622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310" name="Google Shape;310;g3388f479b56_0_44"/>
          <p:cNvSpPr txBox="1"/>
          <p:nvPr/>
        </p:nvSpPr>
        <p:spPr>
          <a:xfrm>
            <a:off x="7627275" y="4464225"/>
            <a:ext cx="2622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311" name="Google Shape;311;g3388f479b56_0_44"/>
          <p:cNvSpPr txBox="1"/>
          <p:nvPr/>
        </p:nvSpPr>
        <p:spPr>
          <a:xfrm>
            <a:off x="11599600" y="4464225"/>
            <a:ext cx="2622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315" name="Shape 315"/>
        <p:cNvGrpSpPr/>
        <p:nvPr/>
      </p:nvGrpSpPr>
      <p:grpSpPr>
        <a:xfrm>
          <a:off x="0" y="0"/>
          <a:ext cx="0" cy="0"/>
          <a:chOff x="0" y="0"/>
          <a:chExt cx="0" cy="0"/>
        </a:xfrm>
      </p:grpSpPr>
      <p:sp>
        <p:nvSpPr>
          <p:cNvPr id="316" name="Google Shape;316;g346a895f855_0_114"/>
          <p:cNvSpPr txBox="1"/>
          <p:nvPr/>
        </p:nvSpPr>
        <p:spPr>
          <a:xfrm>
            <a:off x="8101500" y="167025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vq(t) = us(t), Tdeq(t) = us(t)</a:t>
            </a:r>
            <a:endParaRPr/>
          </a:p>
        </p:txBody>
      </p:sp>
      <p:sp>
        <p:nvSpPr>
          <p:cNvPr id="317" name="Google Shape;317;g346a895f855_0_114"/>
          <p:cNvSpPr txBox="1"/>
          <p:nvPr/>
        </p:nvSpPr>
        <p:spPr>
          <a:xfrm>
            <a:off x="1804675" y="268050"/>
            <a:ext cx="8582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Influencia de las acciones de control y perturbación en la respuesta del sistema</a:t>
            </a:r>
            <a:endParaRPr sz="1800">
              <a:solidFill>
                <a:schemeClr val="lt1"/>
              </a:solidFill>
              <a:latin typeface="Arial"/>
              <a:ea typeface="Arial"/>
              <a:cs typeface="Arial"/>
              <a:sym typeface="Arial"/>
            </a:endParaRPr>
          </a:p>
        </p:txBody>
      </p:sp>
      <p:sp>
        <p:nvSpPr>
          <p:cNvPr id="318" name="Google Shape;318;g346a895f855_0_114"/>
          <p:cNvSpPr txBox="1"/>
          <p:nvPr/>
        </p:nvSpPr>
        <p:spPr>
          <a:xfrm>
            <a:off x="243500" y="167025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vq(t) = us(t), Tdeq(t)=0</a:t>
            </a:r>
            <a:endParaRPr/>
          </a:p>
        </p:txBody>
      </p:sp>
      <p:sp>
        <p:nvSpPr>
          <p:cNvPr id="319" name="Google Shape;319;g346a895f855_0_114"/>
          <p:cNvSpPr txBox="1"/>
          <p:nvPr/>
        </p:nvSpPr>
        <p:spPr>
          <a:xfrm>
            <a:off x="4172500" y="167025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vq(t) = 0, Tdeq(t) = us(t)</a:t>
            </a:r>
            <a:endParaRPr/>
          </a:p>
        </p:txBody>
      </p:sp>
      <p:sp>
        <p:nvSpPr>
          <p:cNvPr id="320" name="Google Shape;320;g346a895f855_0_114"/>
          <p:cNvSpPr txBox="1"/>
          <p:nvPr/>
        </p:nvSpPr>
        <p:spPr>
          <a:xfrm>
            <a:off x="243500" y="4787538"/>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iq(t) = 6 mA en SS</a:t>
            </a:r>
            <a:endParaRPr/>
          </a:p>
        </p:txBody>
      </p:sp>
      <p:sp>
        <p:nvSpPr>
          <p:cNvPr id="321" name="Google Shape;321;g346a895f855_0_114"/>
          <p:cNvSpPr txBox="1"/>
          <p:nvPr/>
        </p:nvSpPr>
        <p:spPr>
          <a:xfrm>
            <a:off x="4172500" y="4787538"/>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iq(t) = 115 mA en SS</a:t>
            </a:r>
            <a:endParaRPr/>
          </a:p>
        </p:txBody>
      </p:sp>
      <p:sp>
        <p:nvSpPr>
          <p:cNvPr id="322" name="Google Shape;322;g346a895f855_0_114"/>
          <p:cNvSpPr txBox="1"/>
          <p:nvPr/>
        </p:nvSpPr>
        <p:spPr>
          <a:xfrm>
            <a:off x="8107725" y="4787538"/>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iq(t) = 121 mA en SS</a:t>
            </a:r>
            <a:endParaRPr/>
          </a:p>
        </p:txBody>
      </p:sp>
      <p:pic>
        <p:nvPicPr>
          <p:cNvPr id="323" name="Google Shape;323;g346a895f855_0_114"/>
          <p:cNvPicPr preferRelativeResize="0"/>
          <p:nvPr/>
        </p:nvPicPr>
        <p:blipFill>
          <a:blip r:embed="rId3">
            <a:alphaModFix/>
          </a:blip>
          <a:stretch>
            <a:fillRect/>
          </a:stretch>
        </p:blipFill>
        <p:spPr>
          <a:xfrm>
            <a:off x="4135487" y="2070450"/>
            <a:ext cx="3840799" cy="2717096"/>
          </a:xfrm>
          <a:prstGeom prst="rect">
            <a:avLst/>
          </a:prstGeom>
          <a:noFill/>
          <a:ln>
            <a:noFill/>
          </a:ln>
        </p:spPr>
      </p:pic>
      <p:pic>
        <p:nvPicPr>
          <p:cNvPr id="324" name="Google Shape;324;g346a895f855_0_114"/>
          <p:cNvPicPr preferRelativeResize="0"/>
          <p:nvPr/>
        </p:nvPicPr>
        <p:blipFill>
          <a:blip r:embed="rId4">
            <a:alphaModFix/>
          </a:blip>
          <a:stretch>
            <a:fillRect/>
          </a:stretch>
        </p:blipFill>
        <p:spPr>
          <a:xfrm>
            <a:off x="169475" y="2070450"/>
            <a:ext cx="3840799" cy="2717096"/>
          </a:xfrm>
          <a:prstGeom prst="rect">
            <a:avLst/>
          </a:prstGeom>
          <a:noFill/>
          <a:ln>
            <a:noFill/>
          </a:ln>
        </p:spPr>
      </p:pic>
      <p:pic>
        <p:nvPicPr>
          <p:cNvPr id="325" name="Google Shape;325;g346a895f855_0_114"/>
          <p:cNvPicPr preferRelativeResize="0"/>
          <p:nvPr/>
        </p:nvPicPr>
        <p:blipFill>
          <a:blip r:embed="rId5">
            <a:alphaModFix/>
          </a:blip>
          <a:stretch>
            <a:fillRect/>
          </a:stretch>
        </p:blipFill>
        <p:spPr>
          <a:xfrm>
            <a:off x="8101500" y="2070450"/>
            <a:ext cx="3840799" cy="2717116"/>
          </a:xfrm>
          <a:prstGeom prst="rect">
            <a:avLst/>
          </a:prstGeom>
          <a:noFill/>
          <a:ln>
            <a:noFill/>
          </a:ln>
        </p:spPr>
      </p:pic>
      <p:sp>
        <p:nvSpPr>
          <p:cNvPr id="326" name="Google Shape;326;g346a895f855_0_114"/>
          <p:cNvSpPr txBox="1"/>
          <p:nvPr/>
        </p:nvSpPr>
        <p:spPr>
          <a:xfrm>
            <a:off x="3723650" y="4482525"/>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327" name="Google Shape;327;g346a895f855_0_114"/>
          <p:cNvSpPr txBox="1"/>
          <p:nvPr/>
        </p:nvSpPr>
        <p:spPr>
          <a:xfrm>
            <a:off x="7709250" y="4482525"/>
            <a:ext cx="2622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328" name="Google Shape;328;g346a895f855_0_114"/>
          <p:cNvSpPr txBox="1"/>
          <p:nvPr/>
        </p:nvSpPr>
        <p:spPr>
          <a:xfrm>
            <a:off x="11596400" y="4482525"/>
            <a:ext cx="2622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332" name="Shape 332"/>
        <p:cNvGrpSpPr/>
        <p:nvPr/>
      </p:nvGrpSpPr>
      <p:grpSpPr>
        <a:xfrm>
          <a:off x="0" y="0"/>
          <a:ext cx="0" cy="0"/>
          <a:chOff x="0" y="0"/>
          <a:chExt cx="0" cy="0"/>
        </a:xfrm>
      </p:grpSpPr>
      <p:pic>
        <p:nvPicPr>
          <p:cNvPr id="333" name="Google Shape;333;g3388f479b56_0_59"/>
          <p:cNvPicPr preferRelativeResize="0"/>
          <p:nvPr/>
        </p:nvPicPr>
        <p:blipFill>
          <a:blip r:embed="rId3">
            <a:alphaModFix/>
          </a:blip>
          <a:stretch>
            <a:fillRect/>
          </a:stretch>
        </p:blipFill>
        <p:spPr>
          <a:xfrm>
            <a:off x="339150" y="3342050"/>
            <a:ext cx="9333999" cy="2504050"/>
          </a:xfrm>
          <a:prstGeom prst="rect">
            <a:avLst/>
          </a:prstGeom>
          <a:noFill/>
          <a:ln>
            <a:noFill/>
          </a:ln>
        </p:spPr>
      </p:pic>
      <p:sp>
        <p:nvSpPr>
          <p:cNvPr id="334" name="Google Shape;334;g3388f479b56_0_59"/>
          <p:cNvSpPr txBox="1"/>
          <p:nvPr/>
        </p:nvSpPr>
        <p:spPr>
          <a:xfrm>
            <a:off x="339150" y="6044925"/>
            <a:ext cx="11352300" cy="400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SzPts val="1400"/>
              <a:buFont typeface="Calibri"/>
              <a:buChar char="●"/>
            </a:pPr>
            <a:r>
              <a:rPr lang="es-MX">
                <a:latin typeface="Calibri"/>
                <a:ea typeface="Calibri"/>
                <a:cs typeface="Calibri"/>
                <a:sym typeface="Calibri"/>
              </a:rPr>
              <a:t>L</a:t>
            </a:r>
            <a:r>
              <a:rPr lang="es-MX">
                <a:latin typeface="Calibri"/>
                <a:ea typeface="Calibri"/>
                <a:cs typeface="Calibri"/>
                <a:sym typeface="Calibri"/>
              </a:rPr>
              <a:t>a tensión de entrada vq(t) es proporcional a Wm(t), pero es inversamente proporcional al torque de carga Tdeq(t).</a:t>
            </a:r>
            <a:endParaRPr sz="1600"/>
          </a:p>
        </p:txBody>
      </p:sp>
      <p:pic>
        <p:nvPicPr>
          <p:cNvPr id="335" name="Google Shape;335;g3388f479b56_0_59"/>
          <p:cNvPicPr preferRelativeResize="0"/>
          <p:nvPr/>
        </p:nvPicPr>
        <p:blipFill>
          <a:blip r:embed="rId4">
            <a:alphaModFix/>
          </a:blip>
          <a:stretch>
            <a:fillRect/>
          </a:stretch>
        </p:blipFill>
        <p:spPr>
          <a:xfrm>
            <a:off x="339150" y="313775"/>
            <a:ext cx="10391775" cy="2066925"/>
          </a:xfrm>
          <a:prstGeom prst="rect">
            <a:avLst/>
          </a:prstGeom>
          <a:noFill/>
          <a:ln>
            <a:noFill/>
          </a:ln>
        </p:spPr>
      </p:pic>
      <p:pic>
        <p:nvPicPr>
          <p:cNvPr id="336" name="Google Shape;336;g3388f479b56_0_59"/>
          <p:cNvPicPr preferRelativeResize="0"/>
          <p:nvPr/>
        </p:nvPicPr>
        <p:blipFill>
          <a:blip r:embed="rId5">
            <a:alphaModFix/>
          </a:blip>
          <a:stretch>
            <a:fillRect/>
          </a:stretch>
        </p:blipFill>
        <p:spPr>
          <a:xfrm>
            <a:off x="339150" y="2533100"/>
            <a:ext cx="5580675" cy="6565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340" name="Shape 340"/>
        <p:cNvGrpSpPr/>
        <p:nvPr/>
      </p:nvGrpSpPr>
      <p:grpSpPr>
        <a:xfrm>
          <a:off x="0" y="0"/>
          <a:ext cx="0" cy="0"/>
          <a:chOff x="0" y="0"/>
          <a:chExt cx="0" cy="0"/>
        </a:xfrm>
      </p:grpSpPr>
      <p:sp>
        <p:nvSpPr>
          <p:cNvPr id="341" name="Google Shape;341;g3388f479b56_0_29"/>
          <p:cNvSpPr txBox="1"/>
          <p:nvPr/>
        </p:nvSpPr>
        <p:spPr>
          <a:xfrm>
            <a:off x="4576824" y="741300"/>
            <a:ext cx="3567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Controlabilidad y observabilidad</a:t>
            </a:r>
            <a:endParaRPr sz="1800">
              <a:solidFill>
                <a:schemeClr val="lt1"/>
              </a:solidFill>
              <a:latin typeface="Arial"/>
              <a:ea typeface="Arial"/>
              <a:cs typeface="Arial"/>
              <a:sym typeface="Arial"/>
            </a:endParaRPr>
          </a:p>
        </p:txBody>
      </p:sp>
      <p:sp>
        <p:nvSpPr>
          <p:cNvPr id="342" name="Google Shape;342;g3388f479b56_0_29"/>
          <p:cNvSpPr txBox="1"/>
          <p:nvPr/>
        </p:nvSpPr>
        <p:spPr>
          <a:xfrm>
            <a:off x="419850" y="1110600"/>
            <a:ext cx="11352300" cy="10497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SzPts val="1400"/>
              <a:buFont typeface="Calibri"/>
              <a:buChar char="●"/>
            </a:pPr>
            <a:r>
              <a:rPr lang="es-MX">
                <a:latin typeface="Calibri"/>
                <a:ea typeface="Calibri"/>
                <a:cs typeface="Calibri"/>
                <a:sym typeface="Calibri"/>
              </a:rPr>
              <a:t>Controlabilidad: Cómo influyen las entradas en las variables de estado del sistema.</a:t>
            </a:r>
            <a:endParaRPr>
              <a:latin typeface="Calibri"/>
              <a:ea typeface="Calibri"/>
              <a:cs typeface="Calibri"/>
              <a:sym typeface="Calibri"/>
            </a:endParaRPr>
          </a:p>
          <a:p>
            <a:pPr indent="-317500" lvl="0" marL="457200" rtl="0" algn="l">
              <a:lnSpc>
                <a:spcPct val="115000"/>
              </a:lnSpc>
              <a:spcBef>
                <a:spcPts val="0"/>
              </a:spcBef>
              <a:spcAft>
                <a:spcPts val="0"/>
              </a:spcAft>
              <a:buSzPts val="1400"/>
              <a:buFont typeface="Calibri"/>
              <a:buChar char="●"/>
            </a:pPr>
            <a:r>
              <a:rPr lang="es-MX">
                <a:latin typeface="Calibri"/>
                <a:ea typeface="Calibri"/>
                <a:cs typeface="Calibri"/>
                <a:sym typeface="Calibri"/>
              </a:rPr>
              <a:t>Observabilidad: Tener un sistema completamente observable desde la posición nos permite implementar un observador de estados.</a:t>
            </a:r>
            <a:endParaRPr>
              <a:latin typeface="Calibri"/>
              <a:ea typeface="Calibri"/>
              <a:cs typeface="Calibri"/>
              <a:sym typeface="Calibri"/>
            </a:endParaRPr>
          </a:p>
          <a:p>
            <a:pPr indent="0" lvl="0" marL="0" rtl="0" algn="l">
              <a:lnSpc>
                <a:spcPct val="115000"/>
              </a:lnSpc>
              <a:spcBef>
                <a:spcPts val="1200"/>
              </a:spcBef>
              <a:spcAft>
                <a:spcPts val="1200"/>
              </a:spcAft>
              <a:buNone/>
            </a:pPr>
            <a:r>
              <a:rPr lang="es-MX">
                <a:latin typeface="Calibri"/>
                <a:ea typeface="Calibri"/>
                <a:cs typeface="Calibri"/>
                <a:sym typeface="Calibri"/>
              </a:rPr>
              <a:t>Para realizar este análisis utilizamos el criterio de Kalman.</a:t>
            </a:r>
            <a:endParaRPr>
              <a:latin typeface="Calibri"/>
              <a:ea typeface="Calibri"/>
              <a:cs typeface="Calibri"/>
              <a:sym typeface="Calibri"/>
            </a:endParaRPr>
          </a:p>
        </p:txBody>
      </p:sp>
      <p:pic>
        <p:nvPicPr>
          <p:cNvPr id="343" name="Google Shape;343;g3388f479b56_0_29"/>
          <p:cNvPicPr preferRelativeResize="0"/>
          <p:nvPr/>
        </p:nvPicPr>
        <p:blipFill>
          <a:blip r:embed="rId3">
            <a:alphaModFix/>
          </a:blip>
          <a:stretch>
            <a:fillRect/>
          </a:stretch>
        </p:blipFill>
        <p:spPr>
          <a:xfrm>
            <a:off x="925611" y="2160311"/>
            <a:ext cx="5241274" cy="1542696"/>
          </a:xfrm>
          <a:prstGeom prst="rect">
            <a:avLst/>
          </a:prstGeom>
          <a:noFill/>
          <a:ln>
            <a:noFill/>
          </a:ln>
        </p:spPr>
      </p:pic>
      <p:pic>
        <p:nvPicPr>
          <p:cNvPr id="344" name="Google Shape;344;g3388f479b56_0_29"/>
          <p:cNvPicPr preferRelativeResize="0"/>
          <p:nvPr/>
        </p:nvPicPr>
        <p:blipFill>
          <a:blip r:embed="rId4">
            <a:alphaModFix/>
          </a:blip>
          <a:stretch>
            <a:fillRect/>
          </a:stretch>
        </p:blipFill>
        <p:spPr>
          <a:xfrm>
            <a:off x="925600" y="3961275"/>
            <a:ext cx="5241274" cy="1409994"/>
          </a:xfrm>
          <a:prstGeom prst="rect">
            <a:avLst/>
          </a:prstGeom>
          <a:noFill/>
          <a:ln>
            <a:noFill/>
          </a:ln>
        </p:spPr>
      </p:pic>
      <p:pic>
        <p:nvPicPr>
          <p:cNvPr id="345" name="Google Shape;345;g3388f479b56_0_29"/>
          <p:cNvPicPr preferRelativeResize="0"/>
          <p:nvPr/>
        </p:nvPicPr>
        <p:blipFill>
          <a:blip r:embed="rId5">
            <a:alphaModFix/>
          </a:blip>
          <a:stretch>
            <a:fillRect/>
          </a:stretch>
        </p:blipFill>
        <p:spPr>
          <a:xfrm>
            <a:off x="6672276" y="2160300"/>
            <a:ext cx="3744081" cy="1542700"/>
          </a:xfrm>
          <a:prstGeom prst="rect">
            <a:avLst/>
          </a:prstGeom>
          <a:noFill/>
          <a:ln>
            <a:noFill/>
          </a:ln>
        </p:spPr>
      </p:pic>
      <p:pic>
        <p:nvPicPr>
          <p:cNvPr id="346" name="Google Shape;346;g3388f479b56_0_29"/>
          <p:cNvPicPr preferRelativeResize="0"/>
          <p:nvPr/>
        </p:nvPicPr>
        <p:blipFill>
          <a:blip r:embed="rId6">
            <a:alphaModFix/>
          </a:blip>
          <a:stretch>
            <a:fillRect/>
          </a:stretch>
        </p:blipFill>
        <p:spPr>
          <a:xfrm>
            <a:off x="6672275" y="3925974"/>
            <a:ext cx="5054924" cy="1480600"/>
          </a:xfrm>
          <a:prstGeom prst="rect">
            <a:avLst/>
          </a:prstGeom>
          <a:noFill/>
          <a:ln>
            <a:noFill/>
          </a:ln>
        </p:spPr>
      </p:pic>
      <p:sp>
        <p:nvSpPr>
          <p:cNvPr id="347" name="Google Shape;347;g3388f479b56_0_29"/>
          <p:cNvSpPr txBox="1"/>
          <p:nvPr/>
        </p:nvSpPr>
        <p:spPr>
          <a:xfrm>
            <a:off x="419850" y="5468700"/>
            <a:ext cx="11352300" cy="6480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SzPts val="1400"/>
              <a:buFont typeface="Calibri"/>
              <a:buChar char="●"/>
            </a:pPr>
            <a:r>
              <a:rPr lang="es-MX">
                <a:latin typeface="Calibri"/>
                <a:ea typeface="Calibri"/>
                <a:cs typeface="Calibri"/>
                <a:sym typeface="Calibri"/>
              </a:rPr>
              <a:t>Completamente controlable desde ambas entradas.</a:t>
            </a:r>
            <a:endParaRPr>
              <a:latin typeface="Calibri"/>
              <a:ea typeface="Calibri"/>
              <a:cs typeface="Calibri"/>
              <a:sym typeface="Calibri"/>
            </a:endParaRPr>
          </a:p>
          <a:p>
            <a:pPr indent="-317500" lvl="0" marL="457200" rtl="0" algn="l">
              <a:lnSpc>
                <a:spcPct val="115000"/>
              </a:lnSpc>
              <a:spcBef>
                <a:spcPts val="0"/>
              </a:spcBef>
              <a:spcAft>
                <a:spcPts val="0"/>
              </a:spcAft>
              <a:buSzPts val="1400"/>
              <a:buFont typeface="Calibri"/>
              <a:buChar char="●"/>
            </a:pPr>
            <a:r>
              <a:rPr lang="es-MX">
                <a:latin typeface="Calibri"/>
                <a:ea typeface="Calibri"/>
                <a:cs typeface="Calibri"/>
                <a:sym typeface="Calibri"/>
              </a:rPr>
              <a:t>Completamente observable desde la posición.</a:t>
            </a:r>
            <a:endParaRPr>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351" name="Shape 351"/>
        <p:cNvGrpSpPr/>
        <p:nvPr/>
      </p:nvGrpSpPr>
      <p:grpSpPr>
        <a:xfrm>
          <a:off x="0" y="0"/>
          <a:ext cx="0" cy="0"/>
          <a:chOff x="0" y="0"/>
          <a:chExt cx="0" cy="0"/>
        </a:xfrm>
      </p:grpSpPr>
      <p:sp>
        <p:nvSpPr>
          <p:cNvPr id="352" name="Google Shape;352;g3388f479b56_0_65"/>
          <p:cNvSpPr txBox="1"/>
          <p:nvPr/>
        </p:nvSpPr>
        <p:spPr>
          <a:xfrm>
            <a:off x="3656700" y="346175"/>
            <a:ext cx="4878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Field-forcing y field-weakening a lazo abierto</a:t>
            </a:r>
            <a:endParaRPr sz="1800">
              <a:solidFill>
                <a:schemeClr val="lt1"/>
              </a:solidFill>
              <a:latin typeface="Arial"/>
              <a:ea typeface="Arial"/>
              <a:cs typeface="Arial"/>
              <a:sym typeface="Arial"/>
            </a:endParaRPr>
          </a:p>
        </p:txBody>
      </p:sp>
      <p:sp>
        <p:nvSpPr>
          <p:cNvPr id="353" name="Google Shape;353;g3388f479b56_0_65"/>
          <p:cNvSpPr txBox="1"/>
          <p:nvPr/>
        </p:nvSpPr>
        <p:spPr>
          <a:xfrm>
            <a:off x="2478450" y="1013425"/>
            <a:ext cx="7235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MX"/>
              <a:t>Realizaremos las técnicas de field-forcing y field-weakening para las siguientes entradas:</a:t>
            </a:r>
            <a:endParaRPr/>
          </a:p>
        </p:txBody>
      </p:sp>
      <p:pic>
        <p:nvPicPr>
          <p:cNvPr id="354" name="Google Shape;354;g3388f479b56_0_65"/>
          <p:cNvPicPr preferRelativeResize="0"/>
          <p:nvPr/>
        </p:nvPicPr>
        <p:blipFill>
          <a:blip r:embed="rId3">
            <a:alphaModFix/>
          </a:blip>
          <a:stretch>
            <a:fillRect/>
          </a:stretch>
        </p:blipFill>
        <p:spPr>
          <a:xfrm>
            <a:off x="64425" y="1538025"/>
            <a:ext cx="5936326" cy="4199527"/>
          </a:xfrm>
          <a:prstGeom prst="rect">
            <a:avLst/>
          </a:prstGeom>
          <a:noFill/>
          <a:ln>
            <a:noFill/>
          </a:ln>
        </p:spPr>
      </p:pic>
      <p:pic>
        <p:nvPicPr>
          <p:cNvPr id="355" name="Google Shape;355;g3388f479b56_0_65"/>
          <p:cNvPicPr preferRelativeResize="0"/>
          <p:nvPr/>
        </p:nvPicPr>
        <p:blipFill>
          <a:blip r:embed="rId4">
            <a:alphaModFix/>
          </a:blip>
          <a:stretch>
            <a:fillRect/>
          </a:stretch>
        </p:blipFill>
        <p:spPr>
          <a:xfrm>
            <a:off x="6046725" y="1538026"/>
            <a:ext cx="5936326" cy="4199523"/>
          </a:xfrm>
          <a:prstGeom prst="rect">
            <a:avLst/>
          </a:prstGeom>
          <a:noFill/>
          <a:ln>
            <a:noFill/>
          </a:ln>
        </p:spPr>
      </p:pic>
      <p:sp>
        <p:nvSpPr>
          <p:cNvPr id="356" name="Google Shape;356;g3388f479b56_0_65"/>
          <p:cNvSpPr txBox="1"/>
          <p:nvPr/>
        </p:nvSpPr>
        <p:spPr>
          <a:xfrm>
            <a:off x="11831400" y="5509250"/>
            <a:ext cx="914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400">
              <a:solidFill>
                <a:schemeClr val="dk1"/>
              </a:solidFill>
              <a:latin typeface="Lato"/>
              <a:ea typeface="Lato"/>
              <a:cs typeface="Lato"/>
              <a:sym typeface="Lato"/>
            </a:endParaRPr>
          </a:p>
        </p:txBody>
      </p:sp>
      <p:sp>
        <p:nvSpPr>
          <p:cNvPr id="357" name="Google Shape;357;g3388f479b56_0_65"/>
          <p:cNvSpPr txBox="1"/>
          <p:nvPr/>
        </p:nvSpPr>
        <p:spPr>
          <a:xfrm>
            <a:off x="11720850" y="5337350"/>
            <a:ext cx="2622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358" name="Google Shape;358;g3388f479b56_0_65"/>
          <p:cNvSpPr txBox="1"/>
          <p:nvPr/>
        </p:nvSpPr>
        <p:spPr>
          <a:xfrm>
            <a:off x="5738550" y="5337350"/>
            <a:ext cx="2622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362" name="Shape 362"/>
        <p:cNvGrpSpPr/>
        <p:nvPr/>
      </p:nvGrpSpPr>
      <p:grpSpPr>
        <a:xfrm>
          <a:off x="0" y="0"/>
          <a:ext cx="0" cy="0"/>
          <a:chOff x="0" y="0"/>
          <a:chExt cx="0" cy="0"/>
        </a:xfrm>
      </p:grpSpPr>
      <p:sp>
        <p:nvSpPr>
          <p:cNvPr id="363" name="Google Shape;363;g3388f479b56_0_105"/>
          <p:cNvSpPr txBox="1"/>
          <p:nvPr/>
        </p:nvSpPr>
        <p:spPr>
          <a:xfrm>
            <a:off x="2198700" y="1861663"/>
            <a:ext cx="77946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latin typeface="Calibri"/>
                <a:ea typeface="Calibri"/>
                <a:cs typeface="Calibri"/>
                <a:sym typeface="Calibri"/>
              </a:rPr>
              <a:t>Se </a:t>
            </a:r>
            <a:r>
              <a:rPr lang="es-MX">
                <a:latin typeface="Calibri"/>
                <a:ea typeface="Calibri"/>
                <a:cs typeface="Calibri"/>
                <a:sym typeface="Calibri"/>
              </a:rPr>
              <a:t> mantendrá estable una corriente id(t) diferente de 0 en el sistema, cuyo signo positivo o negativo dependerá si se le suma o si se le resta un voltaje extra al eje d.</a:t>
            </a:r>
            <a:endParaRPr sz="1600"/>
          </a:p>
        </p:txBody>
      </p:sp>
      <p:pic>
        <p:nvPicPr>
          <p:cNvPr id="364" name="Google Shape;364;g3388f479b56_0_105"/>
          <p:cNvPicPr preferRelativeResize="0"/>
          <p:nvPr/>
        </p:nvPicPr>
        <p:blipFill>
          <a:blip r:embed="rId3">
            <a:alphaModFix/>
          </a:blip>
          <a:stretch>
            <a:fillRect/>
          </a:stretch>
        </p:blipFill>
        <p:spPr>
          <a:xfrm>
            <a:off x="3343275" y="818025"/>
            <a:ext cx="5505450" cy="876300"/>
          </a:xfrm>
          <a:prstGeom prst="rect">
            <a:avLst/>
          </a:prstGeom>
          <a:noFill/>
          <a:ln>
            <a:noFill/>
          </a:ln>
        </p:spPr>
      </p:pic>
      <p:sp>
        <p:nvSpPr>
          <p:cNvPr id="365" name="Google Shape;365;g3388f479b56_0_105"/>
          <p:cNvSpPr txBox="1"/>
          <p:nvPr/>
        </p:nvSpPr>
        <p:spPr>
          <a:xfrm>
            <a:off x="4281762" y="255400"/>
            <a:ext cx="3628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Acción de control extra en el eje d</a:t>
            </a:r>
            <a:endParaRPr sz="1800">
              <a:solidFill>
                <a:schemeClr val="lt1"/>
              </a:solidFill>
              <a:latin typeface="Arial"/>
              <a:ea typeface="Arial"/>
              <a:cs typeface="Arial"/>
              <a:sym typeface="Arial"/>
            </a:endParaRPr>
          </a:p>
        </p:txBody>
      </p:sp>
      <p:pic>
        <p:nvPicPr>
          <p:cNvPr id="366" name="Google Shape;366;g3388f479b56_0_105"/>
          <p:cNvPicPr preferRelativeResize="0"/>
          <p:nvPr/>
        </p:nvPicPr>
        <p:blipFill>
          <a:blip r:embed="rId4">
            <a:alphaModFix/>
          </a:blip>
          <a:stretch>
            <a:fillRect/>
          </a:stretch>
        </p:blipFill>
        <p:spPr>
          <a:xfrm>
            <a:off x="2198702" y="2509677"/>
            <a:ext cx="7794600" cy="414338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370" name="Shape 370"/>
        <p:cNvGrpSpPr/>
        <p:nvPr/>
      </p:nvGrpSpPr>
      <p:grpSpPr>
        <a:xfrm>
          <a:off x="0" y="0"/>
          <a:ext cx="0" cy="0"/>
          <a:chOff x="0" y="0"/>
          <a:chExt cx="0" cy="0"/>
        </a:xfrm>
      </p:grpSpPr>
      <p:sp>
        <p:nvSpPr>
          <p:cNvPr id="371" name="Google Shape;371;g346a895f855_0_170"/>
          <p:cNvSpPr txBox="1"/>
          <p:nvPr/>
        </p:nvSpPr>
        <p:spPr>
          <a:xfrm>
            <a:off x="5335045" y="114225"/>
            <a:ext cx="1528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Comparación</a:t>
            </a:r>
            <a:endParaRPr sz="1800">
              <a:solidFill>
                <a:schemeClr val="lt1"/>
              </a:solidFill>
              <a:latin typeface="Arial"/>
              <a:ea typeface="Arial"/>
              <a:cs typeface="Arial"/>
              <a:sym typeface="Arial"/>
            </a:endParaRPr>
          </a:p>
        </p:txBody>
      </p:sp>
      <p:pic>
        <p:nvPicPr>
          <p:cNvPr id="372" name="Google Shape;372;g346a895f855_0_170"/>
          <p:cNvPicPr preferRelativeResize="0"/>
          <p:nvPr/>
        </p:nvPicPr>
        <p:blipFill>
          <a:blip r:embed="rId3">
            <a:alphaModFix/>
          </a:blip>
          <a:stretch>
            <a:fillRect/>
          </a:stretch>
        </p:blipFill>
        <p:spPr>
          <a:xfrm>
            <a:off x="101825" y="847700"/>
            <a:ext cx="3903224" cy="2761251"/>
          </a:xfrm>
          <a:prstGeom prst="rect">
            <a:avLst/>
          </a:prstGeom>
          <a:noFill/>
          <a:ln>
            <a:noFill/>
          </a:ln>
        </p:spPr>
      </p:pic>
      <p:pic>
        <p:nvPicPr>
          <p:cNvPr id="373" name="Google Shape;373;g346a895f855_0_170"/>
          <p:cNvPicPr preferRelativeResize="0"/>
          <p:nvPr/>
        </p:nvPicPr>
        <p:blipFill>
          <a:blip r:embed="rId4">
            <a:alphaModFix/>
          </a:blip>
          <a:stretch>
            <a:fillRect/>
          </a:stretch>
        </p:blipFill>
        <p:spPr>
          <a:xfrm>
            <a:off x="101825" y="3694750"/>
            <a:ext cx="3903224" cy="2761257"/>
          </a:xfrm>
          <a:prstGeom prst="rect">
            <a:avLst/>
          </a:prstGeom>
          <a:noFill/>
          <a:ln>
            <a:noFill/>
          </a:ln>
        </p:spPr>
      </p:pic>
      <p:pic>
        <p:nvPicPr>
          <p:cNvPr id="374" name="Google Shape;374;g346a895f855_0_170"/>
          <p:cNvPicPr preferRelativeResize="0"/>
          <p:nvPr/>
        </p:nvPicPr>
        <p:blipFill>
          <a:blip r:embed="rId5">
            <a:alphaModFix/>
          </a:blip>
          <a:stretch>
            <a:fillRect/>
          </a:stretch>
        </p:blipFill>
        <p:spPr>
          <a:xfrm>
            <a:off x="4147825" y="847700"/>
            <a:ext cx="3903224" cy="2761232"/>
          </a:xfrm>
          <a:prstGeom prst="rect">
            <a:avLst/>
          </a:prstGeom>
          <a:noFill/>
          <a:ln>
            <a:noFill/>
          </a:ln>
        </p:spPr>
      </p:pic>
      <p:pic>
        <p:nvPicPr>
          <p:cNvPr id="375" name="Google Shape;375;g346a895f855_0_170"/>
          <p:cNvPicPr preferRelativeResize="0"/>
          <p:nvPr/>
        </p:nvPicPr>
        <p:blipFill>
          <a:blip r:embed="rId6">
            <a:alphaModFix/>
          </a:blip>
          <a:stretch>
            <a:fillRect/>
          </a:stretch>
        </p:blipFill>
        <p:spPr>
          <a:xfrm>
            <a:off x="4144388" y="3694750"/>
            <a:ext cx="3903224" cy="2761269"/>
          </a:xfrm>
          <a:prstGeom prst="rect">
            <a:avLst/>
          </a:prstGeom>
          <a:noFill/>
          <a:ln>
            <a:noFill/>
          </a:ln>
        </p:spPr>
      </p:pic>
      <p:pic>
        <p:nvPicPr>
          <p:cNvPr id="376" name="Google Shape;376;g346a895f855_0_170"/>
          <p:cNvPicPr preferRelativeResize="0"/>
          <p:nvPr/>
        </p:nvPicPr>
        <p:blipFill>
          <a:blip r:embed="rId7">
            <a:alphaModFix/>
          </a:blip>
          <a:stretch>
            <a:fillRect/>
          </a:stretch>
        </p:blipFill>
        <p:spPr>
          <a:xfrm>
            <a:off x="8193825" y="847700"/>
            <a:ext cx="3903180" cy="2761224"/>
          </a:xfrm>
          <a:prstGeom prst="rect">
            <a:avLst/>
          </a:prstGeom>
          <a:noFill/>
          <a:ln>
            <a:noFill/>
          </a:ln>
        </p:spPr>
      </p:pic>
      <p:pic>
        <p:nvPicPr>
          <p:cNvPr id="377" name="Google Shape;377;g346a895f855_0_170"/>
          <p:cNvPicPr preferRelativeResize="0"/>
          <p:nvPr/>
        </p:nvPicPr>
        <p:blipFill>
          <a:blip r:embed="rId8">
            <a:alphaModFix/>
          </a:blip>
          <a:stretch>
            <a:fillRect/>
          </a:stretch>
        </p:blipFill>
        <p:spPr>
          <a:xfrm>
            <a:off x="8186950" y="3694750"/>
            <a:ext cx="3903224" cy="2761260"/>
          </a:xfrm>
          <a:prstGeom prst="rect">
            <a:avLst/>
          </a:prstGeom>
          <a:noFill/>
          <a:ln>
            <a:noFill/>
          </a:ln>
        </p:spPr>
      </p:pic>
      <p:sp>
        <p:nvSpPr>
          <p:cNvPr id="378" name="Google Shape;378;g346a895f855_0_170"/>
          <p:cNvSpPr txBox="1"/>
          <p:nvPr/>
        </p:nvSpPr>
        <p:spPr>
          <a:xfrm>
            <a:off x="3737150" y="6055825"/>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379" name="Google Shape;379;g346a895f855_0_170"/>
          <p:cNvSpPr txBox="1"/>
          <p:nvPr/>
        </p:nvSpPr>
        <p:spPr>
          <a:xfrm>
            <a:off x="3737150" y="32289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380" name="Google Shape;380;g346a895f855_0_170"/>
          <p:cNvSpPr txBox="1"/>
          <p:nvPr/>
        </p:nvSpPr>
        <p:spPr>
          <a:xfrm>
            <a:off x="7739200" y="6055825"/>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381" name="Google Shape;381;g346a895f855_0_170"/>
          <p:cNvSpPr txBox="1"/>
          <p:nvPr/>
        </p:nvSpPr>
        <p:spPr>
          <a:xfrm>
            <a:off x="7739200" y="32289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382" name="Google Shape;382;g346a895f855_0_170"/>
          <p:cNvSpPr txBox="1"/>
          <p:nvPr/>
        </p:nvSpPr>
        <p:spPr>
          <a:xfrm>
            <a:off x="11781775" y="6055825"/>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383" name="Google Shape;383;g346a895f855_0_170"/>
          <p:cNvSpPr txBox="1"/>
          <p:nvPr/>
        </p:nvSpPr>
        <p:spPr>
          <a:xfrm>
            <a:off x="11830550" y="32289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384" name="Google Shape;384;g346a895f855_0_170"/>
          <p:cNvSpPr txBox="1"/>
          <p:nvPr/>
        </p:nvSpPr>
        <p:spPr>
          <a:xfrm>
            <a:off x="101825" y="44750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id(t) = 0 A</a:t>
            </a:r>
            <a:endParaRPr/>
          </a:p>
        </p:txBody>
      </p:sp>
      <p:sp>
        <p:nvSpPr>
          <p:cNvPr id="385" name="Google Shape;385;g346a895f855_0_170"/>
          <p:cNvSpPr txBox="1"/>
          <p:nvPr/>
        </p:nvSpPr>
        <p:spPr>
          <a:xfrm>
            <a:off x="4147825" y="44750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Field-forcing</a:t>
            </a:r>
            <a:endParaRPr/>
          </a:p>
        </p:txBody>
      </p:sp>
      <p:sp>
        <p:nvSpPr>
          <p:cNvPr id="386" name="Google Shape;386;g346a895f855_0_170"/>
          <p:cNvSpPr txBox="1"/>
          <p:nvPr/>
        </p:nvSpPr>
        <p:spPr>
          <a:xfrm>
            <a:off x="8193825" y="44750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Field-weakening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390" name="Shape 390"/>
        <p:cNvGrpSpPr/>
        <p:nvPr/>
      </p:nvGrpSpPr>
      <p:grpSpPr>
        <a:xfrm>
          <a:off x="0" y="0"/>
          <a:ext cx="0" cy="0"/>
          <a:chOff x="0" y="0"/>
          <a:chExt cx="0" cy="0"/>
        </a:xfrm>
      </p:grpSpPr>
      <p:pic>
        <p:nvPicPr>
          <p:cNvPr id="391" name="Google Shape;391;g346a895f855_0_185"/>
          <p:cNvPicPr preferRelativeResize="0"/>
          <p:nvPr/>
        </p:nvPicPr>
        <p:blipFill>
          <a:blip r:embed="rId3">
            <a:alphaModFix/>
          </a:blip>
          <a:stretch>
            <a:fillRect/>
          </a:stretch>
        </p:blipFill>
        <p:spPr>
          <a:xfrm>
            <a:off x="101825" y="3690025"/>
            <a:ext cx="3903261" cy="2761275"/>
          </a:xfrm>
          <a:prstGeom prst="rect">
            <a:avLst/>
          </a:prstGeom>
          <a:noFill/>
          <a:ln>
            <a:noFill/>
          </a:ln>
        </p:spPr>
      </p:pic>
      <p:pic>
        <p:nvPicPr>
          <p:cNvPr id="392" name="Google Shape;392;g346a895f855_0_185"/>
          <p:cNvPicPr preferRelativeResize="0"/>
          <p:nvPr/>
        </p:nvPicPr>
        <p:blipFill>
          <a:blip r:embed="rId4">
            <a:alphaModFix/>
          </a:blip>
          <a:stretch>
            <a:fillRect/>
          </a:stretch>
        </p:blipFill>
        <p:spPr>
          <a:xfrm>
            <a:off x="101825" y="847688"/>
            <a:ext cx="3903272" cy="2761275"/>
          </a:xfrm>
          <a:prstGeom prst="rect">
            <a:avLst/>
          </a:prstGeom>
          <a:noFill/>
          <a:ln>
            <a:noFill/>
          </a:ln>
        </p:spPr>
      </p:pic>
      <p:pic>
        <p:nvPicPr>
          <p:cNvPr id="393" name="Google Shape;393;g346a895f855_0_185"/>
          <p:cNvPicPr preferRelativeResize="0"/>
          <p:nvPr/>
        </p:nvPicPr>
        <p:blipFill>
          <a:blip r:embed="rId5">
            <a:alphaModFix/>
          </a:blip>
          <a:stretch>
            <a:fillRect/>
          </a:stretch>
        </p:blipFill>
        <p:spPr>
          <a:xfrm>
            <a:off x="4144375" y="847688"/>
            <a:ext cx="3903261" cy="2761275"/>
          </a:xfrm>
          <a:prstGeom prst="rect">
            <a:avLst/>
          </a:prstGeom>
          <a:noFill/>
          <a:ln>
            <a:noFill/>
          </a:ln>
        </p:spPr>
      </p:pic>
      <p:pic>
        <p:nvPicPr>
          <p:cNvPr id="394" name="Google Shape;394;g346a895f855_0_185"/>
          <p:cNvPicPr preferRelativeResize="0"/>
          <p:nvPr/>
        </p:nvPicPr>
        <p:blipFill>
          <a:blip r:embed="rId6">
            <a:alphaModFix/>
          </a:blip>
          <a:stretch>
            <a:fillRect/>
          </a:stretch>
        </p:blipFill>
        <p:spPr>
          <a:xfrm>
            <a:off x="4144376" y="3690024"/>
            <a:ext cx="3903274" cy="2761268"/>
          </a:xfrm>
          <a:prstGeom prst="rect">
            <a:avLst/>
          </a:prstGeom>
          <a:noFill/>
          <a:ln>
            <a:noFill/>
          </a:ln>
        </p:spPr>
      </p:pic>
      <p:pic>
        <p:nvPicPr>
          <p:cNvPr id="395" name="Google Shape;395;g346a895f855_0_185"/>
          <p:cNvPicPr preferRelativeResize="0"/>
          <p:nvPr/>
        </p:nvPicPr>
        <p:blipFill>
          <a:blip r:embed="rId7">
            <a:alphaModFix/>
          </a:blip>
          <a:stretch>
            <a:fillRect/>
          </a:stretch>
        </p:blipFill>
        <p:spPr>
          <a:xfrm>
            <a:off x="8186900" y="847700"/>
            <a:ext cx="3903257" cy="2761275"/>
          </a:xfrm>
          <a:prstGeom prst="rect">
            <a:avLst/>
          </a:prstGeom>
          <a:noFill/>
          <a:ln>
            <a:noFill/>
          </a:ln>
        </p:spPr>
      </p:pic>
      <p:pic>
        <p:nvPicPr>
          <p:cNvPr id="396" name="Google Shape;396;g346a895f855_0_185"/>
          <p:cNvPicPr preferRelativeResize="0"/>
          <p:nvPr/>
        </p:nvPicPr>
        <p:blipFill>
          <a:blip r:embed="rId8">
            <a:alphaModFix/>
          </a:blip>
          <a:stretch>
            <a:fillRect/>
          </a:stretch>
        </p:blipFill>
        <p:spPr>
          <a:xfrm>
            <a:off x="8186950" y="3690025"/>
            <a:ext cx="3903274" cy="2761288"/>
          </a:xfrm>
          <a:prstGeom prst="rect">
            <a:avLst/>
          </a:prstGeom>
          <a:noFill/>
          <a:ln>
            <a:noFill/>
          </a:ln>
        </p:spPr>
      </p:pic>
      <p:sp>
        <p:nvSpPr>
          <p:cNvPr id="397" name="Google Shape;397;g346a895f855_0_185"/>
          <p:cNvSpPr txBox="1"/>
          <p:nvPr/>
        </p:nvSpPr>
        <p:spPr>
          <a:xfrm>
            <a:off x="3696700" y="32289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398" name="Google Shape;398;g346a895f855_0_185"/>
          <p:cNvSpPr txBox="1"/>
          <p:nvPr/>
        </p:nvSpPr>
        <p:spPr>
          <a:xfrm>
            <a:off x="7739225" y="32289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399" name="Google Shape;399;g346a895f855_0_185"/>
          <p:cNvSpPr txBox="1"/>
          <p:nvPr/>
        </p:nvSpPr>
        <p:spPr>
          <a:xfrm>
            <a:off x="11781750" y="32289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00" name="Google Shape;400;g346a895f855_0_185"/>
          <p:cNvSpPr txBox="1"/>
          <p:nvPr/>
        </p:nvSpPr>
        <p:spPr>
          <a:xfrm>
            <a:off x="3696675" y="60511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01" name="Google Shape;401;g346a895f855_0_185"/>
          <p:cNvSpPr txBox="1"/>
          <p:nvPr/>
        </p:nvSpPr>
        <p:spPr>
          <a:xfrm>
            <a:off x="7739225" y="60511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02" name="Google Shape;402;g346a895f855_0_185"/>
          <p:cNvSpPr txBox="1"/>
          <p:nvPr/>
        </p:nvSpPr>
        <p:spPr>
          <a:xfrm>
            <a:off x="11781775" y="60511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03" name="Google Shape;403;g346a895f855_0_185"/>
          <p:cNvSpPr txBox="1"/>
          <p:nvPr/>
        </p:nvSpPr>
        <p:spPr>
          <a:xfrm>
            <a:off x="101825" y="44750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id(t) = 0 A</a:t>
            </a:r>
            <a:endParaRPr/>
          </a:p>
        </p:txBody>
      </p:sp>
      <p:sp>
        <p:nvSpPr>
          <p:cNvPr id="404" name="Google Shape;404;g346a895f855_0_185"/>
          <p:cNvSpPr txBox="1"/>
          <p:nvPr/>
        </p:nvSpPr>
        <p:spPr>
          <a:xfrm>
            <a:off x="4147825" y="44750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Field-forcing</a:t>
            </a:r>
            <a:endParaRPr/>
          </a:p>
        </p:txBody>
      </p:sp>
      <p:sp>
        <p:nvSpPr>
          <p:cNvPr id="405" name="Google Shape;405;g346a895f855_0_185"/>
          <p:cNvSpPr txBox="1"/>
          <p:nvPr/>
        </p:nvSpPr>
        <p:spPr>
          <a:xfrm>
            <a:off x="8193825" y="44750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Field-weakening</a:t>
            </a:r>
            <a:endParaRPr/>
          </a:p>
        </p:txBody>
      </p:sp>
      <p:sp>
        <p:nvSpPr>
          <p:cNvPr id="406" name="Google Shape;406;g346a895f855_0_185"/>
          <p:cNvSpPr txBox="1"/>
          <p:nvPr/>
        </p:nvSpPr>
        <p:spPr>
          <a:xfrm>
            <a:off x="5335045" y="114225"/>
            <a:ext cx="1528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Comparación</a:t>
            </a:r>
            <a:endParaRPr sz="1800">
              <a:solidFill>
                <a:schemeClr val="lt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410" name="Shape 410"/>
        <p:cNvGrpSpPr/>
        <p:nvPr/>
      </p:nvGrpSpPr>
      <p:grpSpPr>
        <a:xfrm>
          <a:off x="0" y="0"/>
          <a:ext cx="0" cy="0"/>
          <a:chOff x="0" y="0"/>
          <a:chExt cx="0" cy="0"/>
        </a:xfrm>
      </p:grpSpPr>
      <p:pic>
        <p:nvPicPr>
          <p:cNvPr id="411" name="Google Shape;411;g346a895f855_0_197"/>
          <p:cNvPicPr preferRelativeResize="0"/>
          <p:nvPr/>
        </p:nvPicPr>
        <p:blipFill>
          <a:blip r:embed="rId3">
            <a:alphaModFix/>
          </a:blip>
          <a:stretch>
            <a:fillRect/>
          </a:stretch>
        </p:blipFill>
        <p:spPr>
          <a:xfrm>
            <a:off x="101825" y="849925"/>
            <a:ext cx="3903250" cy="2756816"/>
          </a:xfrm>
          <a:prstGeom prst="rect">
            <a:avLst/>
          </a:prstGeom>
          <a:noFill/>
          <a:ln>
            <a:noFill/>
          </a:ln>
        </p:spPr>
      </p:pic>
      <p:pic>
        <p:nvPicPr>
          <p:cNvPr id="412" name="Google Shape;412;g346a895f855_0_197"/>
          <p:cNvPicPr preferRelativeResize="0"/>
          <p:nvPr/>
        </p:nvPicPr>
        <p:blipFill>
          <a:blip r:embed="rId4">
            <a:alphaModFix/>
          </a:blip>
          <a:stretch>
            <a:fillRect/>
          </a:stretch>
        </p:blipFill>
        <p:spPr>
          <a:xfrm>
            <a:off x="4157475" y="847700"/>
            <a:ext cx="3903250" cy="2756807"/>
          </a:xfrm>
          <a:prstGeom prst="rect">
            <a:avLst/>
          </a:prstGeom>
          <a:noFill/>
          <a:ln>
            <a:noFill/>
          </a:ln>
        </p:spPr>
      </p:pic>
      <p:pic>
        <p:nvPicPr>
          <p:cNvPr id="413" name="Google Shape;413;g346a895f855_0_197"/>
          <p:cNvPicPr preferRelativeResize="0"/>
          <p:nvPr/>
        </p:nvPicPr>
        <p:blipFill>
          <a:blip r:embed="rId5">
            <a:alphaModFix/>
          </a:blip>
          <a:stretch>
            <a:fillRect/>
          </a:stretch>
        </p:blipFill>
        <p:spPr>
          <a:xfrm>
            <a:off x="8213125" y="847688"/>
            <a:ext cx="3903250" cy="2756819"/>
          </a:xfrm>
          <a:prstGeom prst="rect">
            <a:avLst/>
          </a:prstGeom>
          <a:noFill/>
          <a:ln>
            <a:noFill/>
          </a:ln>
        </p:spPr>
      </p:pic>
      <p:pic>
        <p:nvPicPr>
          <p:cNvPr id="414" name="Google Shape;414;g346a895f855_0_197"/>
          <p:cNvPicPr preferRelativeResize="0"/>
          <p:nvPr/>
        </p:nvPicPr>
        <p:blipFill>
          <a:blip r:embed="rId6">
            <a:alphaModFix/>
          </a:blip>
          <a:stretch>
            <a:fillRect/>
          </a:stretch>
        </p:blipFill>
        <p:spPr>
          <a:xfrm>
            <a:off x="101825" y="3692249"/>
            <a:ext cx="3903250" cy="2756796"/>
          </a:xfrm>
          <a:prstGeom prst="rect">
            <a:avLst/>
          </a:prstGeom>
          <a:noFill/>
          <a:ln>
            <a:noFill/>
          </a:ln>
        </p:spPr>
      </p:pic>
      <p:pic>
        <p:nvPicPr>
          <p:cNvPr id="415" name="Google Shape;415;g346a895f855_0_197"/>
          <p:cNvPicPr preferRelativeResize="0"/>
          <p:nvPr/>
        </p:nvPicPr>
        <p:blipFill>
          <a:blip r:embed="rId7">
            <a:alphaModFix/>
          </a:blip>
          <a:stretch>
            <a:fillRect/>
          </a:stretch>
        </p:blipFill>
        <p:spPr>
          <a:xfrm>
            <a:off x="8213125" y="3692250"/>
            <a:ext cx="3903250" cy="2756801"/>
          </a:xfrm>
          <a:prstGeom prst="rect">
            <a:avLst/>
          </a:prstGeom>
          <a:noFill/>
          <a:ln>
            <a:noFill/>
          </a:ln>
        </p:spPr>
      </p:pic>
      <p:pic>
        <p:nvPicPr>
          <p:cNvPr id="416" name="Google Shape;416;g346a895f855_0_197"/>
          <p:cNvPicPr preferRelativeResize="0"/>
          <p:nvPr/>
        </p:nvPicPr>
        <p:blipFill>
          <a:blip r:embed="rId8">
            <a:alphaModFix/>
          </a:blip>
          <a:stretch>
            <a:fillRect/>
          </a:stretch>
        </p:blipFill>
        <p:spPr>
          <a:xfrm>
            <a:off x="4157475" y="3692250"/>
            <a:ext cx="3903250" cy="2756801"/>
          </a:xfrm>
          <a:prstGeom prst="rect">
            <a:avLst/>
          </a:prstGeom>
          <a:noFill/>
          <a:ln>
            <a:noFill/>
          </a:ln>
        </p:spPr>
      </p:pic>
      <p:sp>
        <p:nvSpPr>
          <p:cNvPr id="417" name="Google Shape;417;g346a895f855_0_197"/>
          <p:cNvSpPr txBox="1"/>
          <p:nvPr/>
        </p:nvSpPr>
        <p:spPr>
          <a:xfrm>
            <a:off x="3696675" y="32289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18" name="Google Shape;418;g346a895f855_0_197"/>
          <p:cNvSpPr txBox="1"/>
          <p:nvPr/>
        </p:nvSpPr>
        <p:spPr>
          <a:xfrm>
            <a:off x="7752325" y="32043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19" name="Google Shape;419;g346a895f855_0_197"/>
          <p:cNvSpPr txBox="1"/>
          <p:nvPr/>
        </p:nvSpPr>
        <p:spPr>
          <a:xfrm>
            <a:off x="11807975" y="32043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20" name="Google Shape;420;g346a895f855_0_197"/>
          <p:cNvSpPr txBox="1"/>
          <p:nvPr/>
        </p:nvSpPr>
        <p:spPr>
          <a:xfrm>
            <a:off x="3696675" y="604885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21" name="Google Shape;421;g346a895f855_0_197"/>
          <p:cNvSpPr txBox="1"/>
          <p:nvPr/>
        </p:nvSpPr>
        <p:spPr>
          <a:xfrm>
            <a:off x="7752325" y="604885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22" name="Google Shape;422;g346a895f855_0_197"/>
          <p:cNvSpPr txBox="1"/>
          <p:nvPr/>
        </p:nvSpPr>
        <p:spPr>
          <a:xfrm>
            <a:off x="11807975" y="604885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23" name="Google Shape;423;g346a895f855_0_197"/>
          <p:cNvSpPr txBox="1"/>
          <p:nvPr/>
        </p:nvSpPr>
        <p:spPr>
          <a:xfrm>
            <a:off x="101825" y="44750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id(t) = 0 A</a:t>
            </a:r>
            <a:endParaRPr/>
          </a:p>
        </p:txBody>
      </p:sp>
      <p:sp>
        <p:nvSpPr>
          <p:cNvPr id="424" name="Google Shape;424;g346a895f855_0_197"/>
          <p:cNvSpPr txBox="1"/>
          <p:nvPr/>
        </p:nvSpPr>
        <p:spPr>
          <a:xfrm>
            <a:off x="4147825" y="44750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Field-forcing</a:t>
            </a:r>
            <a:endParaRPr/>
          </a:p>
        </p:txBody>
      </p:sp>
      <p:sp>
        <p:nvSpPr>
          <p:cNvPr id="425" name="Google Shape;425;g346a895f855_0_197"/>
          <p:cNvSpPr txBox="1"/>
          <p:nvPr/>
        </p:nvSpPr>
        <p:spPr>
          <a:xfrm>
            <a:off x="8193825" y="44750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Field-weakening</a:t>
            </a:r>
            <a:endParaRPr/>
          </a:p>
        </p:txBody>
      </p:sp>
      <p:sp>
        <p:nvSpPr>
          <p:cNvPr id="426" name="Google Shape;426;g346a895f855_0_197"/>
          <p:cNvSpPr txBox="1"/>
          <p:nvPr/>
        </p:nvSpPr>
        <p:spPr>
          <a:xfrm>
            <a:off x="5335045" y="114225"/>
            <a:ext cx="1528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Comparación</a:t>
            </a:r>
            <a:endParaRPr sz="1800">
              <a:solidFill>
                <a:schemeClr val="lt1"/>
              </a:solidFill>
              <a:latin typeface="Arial"/>
              <a:ea typeface="Arial"/>
              <a:cs typeface="Arial"/>
              <a:sym typeface="Arial"/>
            </a:endParaRPr>
          </a:p>
        </p:txBody>
      </p:sp>
      <p:sp>
        <p:nvSpPr>
          <p:cNvPr id="427" name="Google Shape;427;g346a895f855_0_197"/>
          <p:cNvSpPr/>
          <p:nvPr/>
        </p:nvSpPr>
        <p:spPr>
          <a:xfrm>
            <a:off x="1477625" y="1043225"/>
            <a:ext cx="952500" cy="543000"/>
          </a:xfrm>
          <a:prstGeom prst="donut">
            <a:avLst>
              <a:gd fmla="val 7918"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28" name="Google Shape;428;g346a895f855_0_197"/>
          <p:cNvSpPr/>
          <p:nvPr/>
        </p:nvSpPr>
        <p:spPr>
          <a:xfrm>
            <a:off x="1803675" y="1586225"/>
            <a:ext cx="170100" cy="24492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29" name="Google Shape;429;g346a895f855_0_197"/>
          <p:cNvSpPr/>
          <p:nvPr/>
        </p:nvSpPr>
        <p:spPr>
          <a:xfrm>
            <a:off x="5591150" y="1190300"/>
            <a:ext cx="1035900" cy="543000"/>
          </a:xfrm>
          <a:prstGeom prst="donut">
            <a:avLst>
              <a:gd fmla="val 7918"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0" name="Google Shape;430;g346a895f855_0_197"/>
          <p:cNvSpPr/>
          <p:nvPr/>
        </p:nvSpPr>
        <p:spPr>
          <a:xfrm>
            <a:off x="5850325" y="1678000"/>
            <a:ext cx="170100" cy="24492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1" name="Google Shape;431;g346a895f855_0_197"/>
          <p:cNvSpPr/>
          <p:nvPr/>
        </p:nvSpPr>
        <p:spPr>
          <a:xfrm>
            <a:off x="9896975" y="1733300"/>
            <a:ext cx="170100" cy="24492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2" name="Google Shape;432;g346a895f855_0_197"/>
          <p:cNvSpPr/>
          <p:nvPr/>
        </p:nvSpPr>
        <p:spPr>
          <a:xfrm>
            <a:off x="9621575" y="1190300"/>
            <a:ext cx="1035900" cy="543000"/>
          </a:xfrm>
          <a:prstGeom prst="donut">
            <a:avLst>
              <a:gd fmla="val 7918"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436" name="Shape 436"/>
        <p:cNvGrpSpPr/>
        <p:nvPr/>
      </p:nvGrpSpPr>
      <p:grpSpPr>
        <a:xfrm>
          <a:off x="0" y="0"/>
          <a:ext cx="0" cy="0"/>
          <a:chOff x="0" y="0"/>
          <a:chExt cx="0" cy="0"/>
        </a:xfrm>
      </p:grpSpPr>
      <p:pic>
        <p:nvPicPr>
          <p:cNvPr id="437" name="Google Shape;437;g346a895f855_0_203"/>
          <p:cNvPicPr preferRelativeResize="0"/>
          <p:nvPr/>
        </p:nvPicPr>
        <p:blipFill>
          <a:blip r:embed="rId3">
            <a:alphaModFix/>
          </a:blip>
          <a:stretch>
            <a:fillRect/>
          </a:stretch>
        </p:blipFill>
        <p:spPr>
          <a:xfrm>
            <a:off x="101825" y="847688"/>
            <a:ext cx="3903250" cy="2761277"/>
          </a:xfrm>
          <a:prstGeom prst="rect">
            <a:avLst/>
          </a:prstGeom>
          <a:noFill/>
          <a:ln>
            <a:noFill/>
          </a:ln>
        </p:spPr>
      </p:pic>
      <p:pic>
        <p:nvPicPr>
          <p:cNvPr id="438" name="Google Shape;438;g346a895f855_0_203"/>
          <p:cNvPicPr preferRelativeResize="0"/>
          <p:nvPr/>
        </p:nvPicPr>
        <p:blipFill>
          <a:blip r:embed="rId4">
            <a:alphaModFix/>
          </a:blip>
          <a:stretch>
            <a:fillRect/>
          </a:stretch>
        </p:blipFill>
        <p:spPr>
          <a:xfrm>
            <a:off x="4157475" y="845450"/>
            <a:ext cx="3903250" cy="2761275"/>
          </a:xfrm>
          <a:prstGeom prst="rect">
            <a:avLst/>
          </a:prstGeom>
          <a:noFill/>
          <a:ln>
            <a:noFill/>
          </a:ln>
        </p:spPr>
      </p:pic>
      <p:pic>
        <p:nvPicPr>
          <p:cNvPr id="439" name="Google Shape;439;g346a895f855_0_203"/>
          <p:cNvPicPr preferRelativeResize="0"/>
          <p:nvPr/>
        </p:nvPicPr>
        <p:blipFill>
          <a:blip r:embed="rId5">
            <a:alphaModFix/>
          </a:blip>
          <a:stretch>
            <a:fillRect/>
          </a:stretch>
        </p:blipFill>
        <p:spPr>
          <a:xfrm>
            <a:off x="8213125" y="847700"/>
            <a:ext cx="3903250" cy="2761271"/>
          </a:xfrm>
          <a:prstGeom prst="rect">
            <a:avLst/>
          </a:prstGeom>
          <a:noFill/>
          <a:ln>
            <a:noFill/>
          </a:ln>
        </p:spPr>
      </p:pic>
      <p:pic>
        <p:nvPicPr>
          <p:cNvPr id="440" name="Google Shape;440;g346a895f855_0_203"/>
          <p:cNvPicPr preferRelativeResize="0"/>
          <p:nvPr/>
        </p:nvPicPr>
        <p:blipFill>
          <a:blip r:embed="rId6">
            <a:alphaModFix/>
          </a:blip>
          <a:stretch>
            <a:fillRect/>
          </a:stretch>
        </p:blipFill>
        <p:spPr>
          <a:xfrm>
            <a:off x="8213125" y="3679925"/>
            <a:ext cx="3903250" cy="2761252"/>
          </a:xfrm>
          <a:prstGeom prst="rect">
            <a:avLst/>
          </a:prstGeom>
          <a:noFill/>
          <a:ln>
            <a:noFill/>
          </a:ln>
        </p:spPr>
      </p:pic>
      <p:pic>
        <p:nvPicPr>
          <p:cNvPr id="441" name="Google Shape;441;g346a895f855_0_203"/>
          <p:cNvPicPr preferRelativeResize="0"/>
          <p:nvPr/>
        </p:nvPicPr>
        <p:blipFill>
          <a:blip r:embed="rId7">
            <a:alphaModFix/>
          </a:blip>
          <a:stretch>
            <a:fillRect/>
          </a:stretch>
        </p:blipFill>
        <p:spPr>
          <a:xfrm>
            <a:off x="101825" y="3679925"/>
            <a:ext cx="3903250" cy="2761252"/>
          </a:xfrm>
          <a:prstGeom prst="rect">
            <a:avLst/>
          </a:prstGeom>
          <a:noFill/>
          <a:ln>
            <a:noFill/>
          </a:ln>
        </p:spPr>
      </p:pic>
      <p:sp>
        <p:nvSpPr>
          <p:cNvPr id="442" name="Google Shape;442;g346a895f855_0_203"/>
          <p:cNvSpPr txBox="1"/>
          <p:nvPr/>
        </p:nvSpPr>
        <p:spPr>
          <a:xfrm>
            <a:off x="101825" y="44750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id(t) = 0 A</a:t>
            </a:r>
            <a:endParaRPr/>
          </a:p>
        </p:txBody>
      </p:sp>
      <p:sp>
        <p:nvSpPr>
          <p:cNvPr id="443" name="Google Shape;443;g346a895f855_0_203"/>
          <p:cNvSpPr txBox="1"/>
          <p:nvPr/>
        </p:nvSpPr>
        <p:spPr>
          <a:xfrm>
            <a:off x="4147825" y="44750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Field-forcing</a:t>
            </a:r>
            <a:endParaRPr/>
          </a:p>
        </p:txBody>
      </p:sp>
      <p:sp>
        <p:nvSpPr>
          <p:cNvPr id="444" name="Google Shape;444;g346a895f855_0_203"/>
          <p:cNvSpPr txBox="1"/>
          <p:nvPr/>
        </p:nvSpPr>
        <p:spPr>
          <a:xfrm>
            <a:off x="8193825" y="44750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Field-weakening</a:t>
            </a:r>
            <a:endParaRPr/>
          </a:p>
        </p:txBody>
      </p:sp>
      <p:sp>
        <p:nvSpPr>
          <p:cNvPr id="445" name="Google Shape;445;g346a895f855_0_203"/>
          <p:cNvSpPr txBox="1"/>
          <p:nvPr/>
        </p:nvSpPr>
        <p:spPr>
          <a:xfrm>
            <a:off x="5335045" y="114225"/>
            <a:ext cx="1528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Comparación</a:t>
            </a:r>
            <a:endParaRPr sz="1800">
              <a:solidFill>
                <a:schemeClr val="lt1"/>
              </a:solidFill>
              <a:latin typeface="Arial"/>
              <a:ea typeface="Arial"/>
              <a:cs typeface="Arial"/>
              <a:sym typeface="Arial"/>
            </a:endParaRPr>
          </a:p>
        </p:txBody>
      </p:sp>
      <p:sp>
        <p:nvSpPr>
          <p:cNvPr id="446" name="Google Shape;446;g346a895f855_0_203"/>
          <p:cNvSpPr txBox="1"/>
          <p:nvPr/>
        </p:nvSpPr>
        <p:spPr>
          <a:xfrm>
            <a:off x="3696675" y="32289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47" name="Google Shape;447;g346a895f855_0_203"/>
          <p:cNvSpPr txBox="1"/>
          <p:nvPr/>
        </p:nvSpPr>
        <p:spPr>
          <a:xfrm>
            <a:off x="3615975" y="6040975"/>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48" name="Google Shape;448;g346a895f855_0_203"/>
          <p:cNvSpPr txBox="1"/>
          <p:nvPr/>
        </p:nvSpPr>
        <p:spPr>
          <a:xfrm>
            <a:off x="7752325" y="32289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49" name="Google Shape;449;g346a895f855_0_203"/>
          <p:cNvSpPr txBox="1"/>
          <p:nvPr/>
        </p:nvSpPr>
        <p:spPr>
          <a:xfrm>
            <a:off x="11767625" y="6040975"/>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50" name="Google Shape;450;g346a895f855_0_203"/>
          <p:cNvSpPr txBox="1"/>
          <p:nvPr/>
        </p:nvSpPr>
        <p:spPr>
          <a:xfrm>
            <a:off x="11807975" y="3206525"/>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pic>
        <p:nvPicPr>
          <p:cNvPr id="451" name="Google Shape;451;g346a895f855_0_203"/>
          <p:cNvPicPr preferRelativeResize="0"/>
          <p:nvPr/>
        </p:nvPicPr>
        <p:blipFill>
          <a:blip r:embed="rId8">
            <a:alphaModFix/>
          </a:blip>
          <a:stretch>
            <a:fillRect/>
          </a:stretch>
        </p:blipFill>
        <p:spPr>
          <a:xfrm>
            <a:off x="4157475" y="3679925"/>
            <a:ext cx="3903294" cy="2761275"/>
          </a:xfrm>
          <a:prstGeom prst="rect">
            <a:avLst/>
          </a:prstGeom>
          <a:noFill/>
          <a:ln>
            <a:noFill/>
          </a:ln>
        </p:spPr>
      </p:pic>
      <p:sp>
        <p:nvSpPr>
          <p:cNvPr id="452" name="Google Shape;452;g346a895f855_0_203"/>
          <p:cNvSpPr txBox="1"/>
          <p:nvPr/>
        </p:nvSpPr>
        <p:spPr>
          <a:xfrm>
            <a:off x="7711975" y="60410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53" name="Google Shape;453;g346a895f855_0_203"/>
          <p:cNvSpPr/>
          <p:nvPr/>
        </p:nvSpPr>
        <p:spPr>
          <a:xfrm>
            <a:off x="1904700" y="1553500"/>
            <a:ext cx="1338000" cy="1746300"/>
          </a:xfrm>
          <a:prstGeom prst="donut">
            <a:avLst>
              <a:gd fmla="val 3182"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54" name="Google Shape;454;g346a895f855_0_203"/>
          <p:cNvSpPr/>
          <p:nvPr/>
        </p:nvSpPr>
        <p:spPr>
          <a:xfrm>
            <a:off x="5923800" y="1644550"/>
            <a:ext cx="1338000" cy="1746300"/>
          </a:xfrm>
          <a:prstGeom prst="donut">
            <a:avLst>
              <a:gd fmla="val 3182"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55" name="Google Shape;455;g346a895f855_0_203"/>
          <p:cNvSpPr/>
          <p:nvPr/>
        </p:nvSpPr>
        <p:spPr>
          <a:xfrm>
            <a:off x="10023825" y="1553500"/>
            <a:ext cx="1338000" cy="1746300"/>
          </a:xfrm>
          <a:prstGeom prst="donut">
            <a:avLst>
              <a:gd fmla="val 3182"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56" name="Google Shape;456;g346a895f855_0_203"/>
          <p:cNvSpPr/>
          <p:nvPr/>
        </p:nvSpPr>
        <p:spPr>
          <a:xfrm>
            <a:off x="2679475" y="3261450"/>
            <a:ext cx="192000" cy="8289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57" name="Google Shape;457;g346a895f855_0_203"/>
          <p:cNvSpPr/>
          <p:nvPr/>
        </p:nvSpPr>
        <p:spPr>
          <a:xfrm>
            <a:off x="6753825" y="3299800"/>
            <a:ext cx="192000" cy="8289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58" name="Google Shape;458;g346a895f855_0_203"/>
          <p:cNvSpPr/>
          <p:nvPr/>
        </p:nvSpPr>
        <p:spPr>
          <a:xfrm>
            <a:off x="10828175" y="3228900"/>
            <a:ext cx="192000" cy="8289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462" name="Shape 462"/>
        <p:cNvGrpSpPr/>
        <p:nvPr/>
      </p:nvGrpSpPr>
      <p:grpSpPr>
        <a:xfrm>
          <a:off x="0" y="0"/>
          <a:ext cx="0" cy="0"/>
          <a:chOff x="0" y="0"/>
          <a:chExt cx="0" cy="0"/>
        </a:xfrm>
      </p:grpSpPr>
      <p:pic>
        <p:nvPicPr>
          <p:cNvPr id="463" name="Google Shape;463;g346a895f855_0_209"/>
          <p:cNvPicPr preferRelativeResize="0"/>
          <p:nvPr/>
        </p:nvPicPr>
        <p:blipFill>
          <a:blip r:embed="rId3">
            <a:alphaModFix/>
          </a:blip>
          <a:stretch>
            <a:fillRect/>
          </a:stretch>
        </p:blipFill>
        <p:spPr>
          <a:xfrm>
            <a:off x="4144375" y="2048363"/>
            <a:ext cx="3903246" cy="2761275"/>
          </a:xfrm>
          <a:prstGeom prst="rect">
            <a:avLst/>
          </a:prstGeom>
          <a:noFill/>
          <a:ln>
            <a:noFill/>
          </a:ln>
        </p:spPr>
      </p:pic>
      <p:pic>
        <p:nvPicPr>
          <p:cNvPr id="464" name="Google Shape;464;g346a895f855_0_209"/>
          <p:cNvPicPr preferRelativeResize="0"/>
          <p:nvPr/>
        </p:nvPicPr>
        <p:blipFill>
          <a:blip r:embed="rId4">
            <a:alphaModFix/>
          </a:blip>
          <a:stretch>
            <a:fillRect/>
          </a:stretch>
        </p:blipFill>
        <p:spPr>
          <a:xfrm>
            <a:off x="8176800" y="2048375"/>
            <a:ext cx="3903250" cy="2761271"/>
          </a:xfrm>
          <a:prstGeom prst="rect">
            <a:avLst/>
          </a:prstGeom>
          <a:noFill/>
          <a:ln>
            <a:noFill/>
          </a:ln>
        </p:spPr>
      </p:pic>
      <p:sp>
        <p:nvSpPr>
          <p:cNvPr id="465" name="Google Shape;465;g346a895f855_0_209"/>
          <p:cNvSpPr txBox="1"/>
          <p:nvPr/>
        </p:nvSpPr>
        <p:spPr>
          <a:xfrm>
            <a:off x="7739225" y="4482525"/>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66" name="Google Shape;466;g346a895f855_0_209"/>
          <p:cNvSpPr txBox="1"/>
          <p:nvPr/>
        </p:nvSpPr>
        <p:spPr>
          <a:xfrm>
            <a:off x="11771650" y="4482525"/>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67" name="Google Shape;467;g346a895f855_0_209"/>
          <p:cNvSpPr txBox="1"/>
          <p:nvPr/>
        </p:nvSpPr>
        <p:spPr>
          <a:xfrm>
            <a:off x="71575" y="1648175"/>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id(t) = 0 A</a:t>
            </a:r>
            <a:endParaRPr/>
          </a:p>
        </p:txBody>
      </p:sp>
      <p:sp>
        <p:nvSpPr>
          <p:cNvPr id="468" name="Google Shape;468;g346a895f855_0_209"/>
          <p:cNvSpPr txBox="1"/>
          <p:nvPr/>
        </p:nvSpPr>
        <p:spPr>
          <a:xfrm>
            <a:off x="4117575" y="1648175"/>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Field-forcing</a:t>
            </a:r>
            <a:endParaRPr/>
          </a:p>
        </p:txBody>
      </p:sp>
      <p:sp>
        <p:nvSpPr>
          <p:cNvPr id="469" name="Google Shape;469;g346a895f855_0_209"/>
          <p:cNvSpPr txBox="1"/>
          <p:nvPr/>
        </p:nvSpPr>
        <p:spPr>
          <a:xfrm>
            <a:off x="8163575" y="1648175"/>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Field-weakening</a:t>
            </a:r>
            <a:endParaRPr/>
          </a:p>
        </p:txBody>
      </p:sp>
      <p:sp>
        <p:nvSpPr>
          <p:cNvPr id="470" name="Google Shape;470;g346a895f855_0_209"/>
          <p:cNvSpPr txBox="1"/>
          <p:nvPr/>
        </p:nvSpPr>
        <p:spPr>
          <a:xfrm>
            <a:off x="5335045" y="114225"/>
            <a:ext cx="1528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Comparación</a:t>
            </a:r>
            <a:endParaRPr sz="1800">
              <a:solidFill>
                <a:schemeClr val="lt1"/>
              </a:solidFill>
              <a:latin typeface="Arial"/>
              <a:ea typeface="Arial"/>
              <a:cs typeface="Arial"/>
              <a:sym typeface="Arial"/>
            </a:endParaRPr>
          </a:p>
        </p:txBody>
      </p:sp>
      <p:pic>
        <p:nvPicPr>
          <p:cNvPr id="471" name="Google Shape;471;g346a895f855_0_209"/>
          <p:cNvPicPr preferRelativeResize="0"/>
          <p:nvPr/>
        </p:nvPicPr>
        <p:blipFill>
          <a:blip r:embed="rId5">
            <a:alphaModFix/>
          </a:blip>
          <a:stretch>
            <a:fillRect/>
          </a:stretch>
        </p:blipFill>
        <p:spPr>
          <a:xfrm>
            <a:off x="103925" y="2048375"/>
            <a:ext cx="3911272" cy="2761275"/>
          </a:xfrm>
          <a:prstGeom prst="rect">
            <a:avLst/>
          </a:prstGeom>
          <a:noFill/>
          <a:ln>
            <a:noFill/>
          </a:ln>
        </p:spPr>
      </p:pic>
      <p:sp>
        <p:nvSpPr>
          <p:cNvPr id="472" name="Google Shape;472;g346a895f855_0_209"/>
          <p:cNvSpPr txBox="1"/>
          <p:nvPr/>
        </p:nvSpPr>
        <p:spPr>
          <a:xfrm>
            <a:off x="3706800" y="4482525"/>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476" name="Shape 476"/>
        <p:cNvGrpSpPr/>
        <p:nvPr/>
      </p:nvGrpSpPr>
      <p:grpSpPr>
        <a:xfrm>
          <a:off x="0" y="0"/>
          <a:ext cx="0" cy="0"/>
          <a:chOff x="0" y="0"/>
          <a:chExt cx="0" cy="0"/>
        </a:xfrm>
      </p:grpSpPr>
      <p:pic>
        <p:nvPicPr>
          <p:cNvPr id="477" name="Google Shape;477;g346a895f855_0_339"/>
          <p:cNvPicPr preferRelativeResize="0"/>
          <p:nvPr/>
        </p:nvPicPr>
        <p:blipFill>
          <a:blip r:embed="rId3">
            <a:alphaModFix/>
          </a:blip>
          <a:stretch>
            <a:fillRect/>
          </a:stretch>
        </p:blipFill>
        <p:spPr>
          <a:xfrm>
            <a:off x="8213125" y="847700"/>
            <a:ext cx="3903242" cy="2761251"/>
          </a:xfrm>
          <a:prstGeom prst="rect">
            <a:avLst/>
          </a:prstGeom>
          <a:noFill/>
          <a:ln>
            <a:noFill/>
          </a:ln>
        </p:spPr>
      </p:pic>
      <p:pic>
        <p:nvPicPr>
          <p:cNvPr id="478" name="Google Shape;478;g346a895f855_0_339"/>
          <p:cNvPicPr preferRelativeResize="0"/>
          <p:nvPr/>
        </p:nvPicPr>
        <p:blipFill>
          <a:blip r:embed="rId4">
            <a:alphaModFix/>
          </a:blip>
          <a:stretch>
            <a:fillRect/>
          </a:stretch>
        </p:blipFill>
        <p:spPr>
          <a:xfrm>
            <a:off x="8213125" y="3679926"/>
            <a:ext cx="3903224" cy="2761262"/>
          </a:xfrm>
          <a:prstGeom prst="rect">
            <a:avLst/>
          </a:prstGeom>
          <a:noFill/>
          <a:ln>
            <a:noFill/>
          </a:ln>
        </p:spPr>
      </p:pic>
      <p:pic>
        <p:nvPicPr>
          <p:cNvPr id="479" name="Google Shape;479;g346a895f855_0_339"/>
          <p:cNvPicPr preferRelativeResize="0"/>
          <p:nvPr/>
        </p:nvPicPr>
        <p:blipFill>
          <a:blip r:embed="rId5">
            <a:alphaModFix/>
          </a:blip>
          <a:stretch>
            <a:fillRect/>
          </a:stretch>
        </p:blipFill>
        <p:spPr>
          <a:xfrm>
            <a:off x="101825" y="3679925"/>
            <a:ext cx="3903250" cy="2761277"/>
          </a:xfrm>
          <a:prstGeom prst="rect">
            <a:avLst/>
          </a:prstGeom>
          <a:noFill/>
          <a:ln>
            <a:noFill/>
          </a:ln>
        </p:spPr>
      </p:pic>
      <p:pic>
        <p:nvPicPr>
          <p:cNvPr id="480" name="Google Shape;480;g346a895f855_0_339"/>
          <p:cNvPicPr preferRelativeResize="0"/>
          <p:nvPr/>
        </p:nvPicPr>
        <p:blipFill>
          <a:blip r:embed="rId6">
            <a:alphaModFix/>
          </a:blip>
          <a:stretch>
            <a:fillRect/>
          </a:stretch>
        </p:blipFill>
        <p:spPr>
          <a:xfrm>
            <a:off x="101825" y="847700"/>
            <a:ext cx="3903235" cy="2761251"/>
          </a:xfrm>
          <a:prstGeom prst="rect">
            <a:avLst/>
          </a:prstGeom>
          <a:noFill/>
          <a:ln>
            <a:noFill/>
          </a:ln>
        </p:spPr>
      </p:pic>
      <p:pic>
        <p:nvPicPr>
          <p:cNvPr id="481" name="Google Shape;481;g346a895f855_0_339"/>
          <p:cNvPicPr preferRelativeResize="0"/>
          <p:nvPr/>
        </p:nvPicPr>
        <p:blipFill>
          <a:blip r:embed="rId7">
            <a:alphaModFix/>
          </a:blip>
          <a:stretch>
            <a:fillRect/>
          </a:stretch>
        </p:blipFill>
        <p:spPr>
          <a:xfrm>
            <a:off x="4157475" y="847704"/>
            <a:ext cx="3903250" cy="2761271"/>
          </a:xfrm>
          <a:prstGeom prst="rect">
            <a:avLst/>
          </a:prstGeom>
          <a:noFill/>
          <a:ln>
            <a:noFill/>
          </a:ln>
        </p:spPr>
      </p:pic>
      <p:pic>
        <p:nvPicPr>
          <p:cNvPr id="482" name="Google Shape;482;g346a895f855_0_339"/>
          <p:cNvPicPr preferRelativeResize="0"/>
          <p:nvPr/>
        </p:nvPicPr>
        <p:blipFill>
          <a:blip r:embed="rId8">
            <a:alphaModFix/>
          </a:blip>
          <a:stretch>
            <a:fillRect/>
          </a:stretch>
        </p:blipFill>
        <p:spPr>
          <a:xfrm>
            <a:off x="4157475" y="3679925"/>
            <a:ext cx="3903250" cy="2761275"/>
          </a:xfrm>
          <a:prstGeom prst="rect">
            <a:avLst/>
          </a:prstGeom>
          <a:noFill/>
          <a:ln>
            <a:noFill/>
          </a:ln>
        </p:spPr>
      </p:pic>
      <p:sp>
        <p:nvSpPr>
          <p:cNvPr id="483" name="Google Shape;483;g346a895f855_0_339"/>
          <p:cNvSpPr txBox="1"/>
          <p:nvPr/>
        </p:nvSpPr>
        <p:spPr>
          <a:xfrm>
            <a:off x="101825" y="44750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id(t) = 0 A</a:t>
            </a:r>
            <a:endParaRPr/>
          </a:p>
        </p:txBody>
      </p:sp>
      <p:sp>
        <p:nvSpPr>
          <p:cNvPr id="484" name="Google Shape;484;g346a895f855_0_339"/>
          <p:cNvSpPr txBox="1"/>
          <p:nvPr/>
        </p:nvSpPr>
        <p:spPr>
          <a:xfrm>
            <a:off x="4147825" y="44750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Field-forcing</a:t>
            </a:r>
            <a:endParaRPr/>
          </a:p>
        </p:txBody>
      </p:sp>
      <p:sp>
        <p:nvSpPr>
          <p:cNvPr id="485" name="Google Shape;485;g346a895f855_0_339"/>
          <p:cNvSpPr txBox="1"/>
          <p:nvPr/>
        </p:nvSpPr>
        <p:spPr>
          <a:xfrm>
            <a:off x="8193825" y="447500"/>
            <a:ext cx="2328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Field-weakening</a:t>
            </a:r>
            <a:endParaRPr/>
          </a:p>
        </p:txBody>
      </p:sp>
      <p:sp>
        <p:nvSpPr>
          <p:cNvPr id="486" name="Google Shape;486;g346a895f855_0_339"/>
          <p:cNvSpPr txBox="1"/>
          <p:nvPr/>
        </p:nvSpPr>
        <p:spPr>
          <a:xfrm>
            <a:off x="5335045" y="114225"/>
            <a:ext cx="1528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Comparación</a:t>
            </a:r>
            <a:endParaRPr sz="1800">
              <a:solidFill>
                <a:schemeClr val="lt1"/>
              </a:solidFill>
              <a:latin typeface="Arial"/>
              <a:ea typeface="Arial"/>
              <a:cs typeface="Arial"/>
              <a:sym typeface="Arial"/>
            </a:endParaRPr>
          </a:p>
        </p:txBody>
      </p:sp>
      <p:sp>
        <p:nvSpPr>
          <p:cNvPr id="487" name="Google Shape;487;g346a895f855_0_339"/>
          <p:cNvSpPr txBox="1"/>
          <p:nvPr/>
        </p:nvSpPr>
        <p:spPr>
          <a:xfrm>
            <a:off x="3696675" y="6040975"/>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88" name="Google Shape;488;g346a895f855_0_339"/>
          <p:cNvSpPr txBox="1"/>
          <p:nvPr/>
        </p:nvSpPr>
        <p:spPr>
          <a:xfrm>
            <a:off x="7752325" y="32289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89" name="Google Shape;489;g346a895f855_0_339"/>
          <p:cNvSpPr txBox="1"/>
          <p:nvPr/>
        </p:nvSpPr>
        <p:spPr>
          <a:xfrm>
            <a:off x="11807975" y="6040975"/>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90" name="Google Shape;490;g346a895f855_0_339"/>
          <p:cNvSpPr txBox="1"/>
          <p:nvPr/>
        </p:nvSpPr>
        <p:spPr>
          <a:xfrm>
            <a:off x="11807975" y="32289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91" name="Google Shape;491;g346a895f855_0_339"/>
          <p:cNvSpPr txBox="1"/>
          <p:nvPr/>
        </p:nvSpPr>
        <p:spPr>
          <a:xfrm>
            <a:off x="7752325" y="6040975"/>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492" name="Google Shape;492;g346a895f855_0_339"/>
          <p:cNvSpPr txBox="1"/>
          <p:nvPr/>
        </p:nvSpPr>
        <p:spPr>
          <a:xfrm>
            <a:off x="3696675" y="32289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496" name="Shape 496"/>
        <p:cNvGrpSpPr/>
        <p:nvPr/>
      </p:nvGrpSpPr>
      <p:grpSpPr>
        <a:xfrm>
          <a:off x="0" y="0"/>
          <a:ext cx="0" cy="0"/>
          <a:chOff x="0" y="0"/>
          <a:chExt cx="0" cy="0"/>
        </a:xfrm>
      </p:grpSpPr>
      <p:sp>
        <p:nvSpPr>
          <p:cNvPr id="497" name="Google Shape;497;g3388f479b56_0_203"/>
          <p:cNvSpPr txBox="1"/>
          <p:nvPr/>
        </p:nvSpPr>
        <p:spPr>
          <a:xfrm>
            <a:off x="4099650" y="245325"/>
            <a:ext cx="3992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Motorización y frenado regenerativo</a:t>
            </a:r>
            <a:endParaRPr sz="1800">
              <a:solidFill>
                <a:schemeClr val="lt1"/>
              </a:solidFill>
              <a:latin typeface="Arial"/>
              <a:ea typeface="Arial"/>
              <a:cs typeface="Arial"/>
              <a:sym typeface="Arial"/>
            </a:endParaRPr>
          </a:p>
        </p:txBody>
      </p:sp>
      <p:pic>
        <p:nvPicPr>
          <p:cNvPr id="498" name="Google Shape;498;g3388f479b56_0_203"/>
          <p:cNvPicPr preferRelativeResize="0"/>
          <p:nvPr/>
        </p:nvPicPr>
        <p:blipFill>
          <a:blip r:embed="rId3">
            <a:alphaModFix/>
          </a:blip>
          <a:stretch>
            <a:fillRect/>
          </a:stretch>
        </p:blipFill>
        <p:spPr>
          <a:xfrm>
            <a:off x="152400" y="767025"/>
            <a:ext cx="11887199" cy="5280236"/>
          </a:xfrm>
          <a:prstGeom prst="rect">
            <a:avLst/>
          </a:prstGeom>
          <a:noFill/>
          <a:ln>
            <a:noFill/>
          </a:ln>
        </p:spPr>
      </p:pic>
      <p:sp>
        <p:nvSpPr>
          <p:cNvPr id="499" name="Google Shape;499;g3388f479b56_0_203"/>
          <p:cNvSpPr txBox="1"/>
          <p:nvPr/>
        </p:nvSpPr>
        <p:spPr>
          <a:xfrm>
            <a:off x="11560075" y="5355675"/>
            <a:ext cx="5619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Nm</a:t>
            </a:r>
            <a:endParaRPr/>
          </a:p>
        </p:txBody>
      </p:sp>
      <p:sp>
        <p:nvSpPr>
          <p:cNvPr id="500" name="Google Shape;500;g3388f479b56_0_203"/>
          <p:cNvSpPr txBox="1"/>
          <p:nvPr/>
        </p:nvSpPr>
        <p:spPr>
          <a:xfrm>
            <a:off x="6166950" y="651475"/>
            <a:ext cx="6555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rad/s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504" name="Shape 504"/>
        <p:cNvGrpSpPr/>
        <p:nvPr/>
      </p:nvGrpSpPr>
      <p:grpSpPr>
        <a:xfrm>
          <a:off x="0" y="0"/>
          <a:ext cx="0" cy="0"/>
          <a:chOff x="0" y="0"/>
          <a:chExt cx="0" cy="0"/>
        </a:xfrm>
      </p:grpSpPr>
      <p:sp>
        <p:nvSpPr>
          <p:cNvPr id="505" name="Google Shape;505;g3388f479b56_0_210"/>
          <p:cNvSpPr txBox="1"/>
          <p:nvPr/>
        </p:nvSpPr>
        <p:spPr>
          <a:xfrm>
            <a:off x="3656400" y="220650"/>
            <a:ext cx="4879200" cy="160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MX">
                <a:latin typeface="Calibri"/>
                <a:ea typeface="Calibri"/>
                <a:cs typeface="Calibri"/>
                <a:sym typeface="Calibri"/>
              </a:rPr>
              <a:t>Primer cuadrante: motor girando en sentido directo (+T , +w)</a:t>
            </a:r>
            <a:endParaRPr>
              <a:latin typeface="Calibri"/>
              <a:ea typeface="Calibri"/>
              <a:cs typeface="Calibri"/>
              <a:sym typeface="Calibri"/>
            </a:endParaRPr>
          </a:p>
          <a:p>
            <a:pPr indent="0" lvl="0" marL="0" rtl="0" algn="l">
              <a:lnSpc>
                <a:spcPct val="115000"/>
              </a:lnSpc>
              <a:spcBef>
                <a:spcPts val="1200"/>
              </a:spcBef>
              <a:spcAft>
                <a:spcPts val="0"/>
              </a:spcAft>
              <a:buNone/>
            </a:pPr>
            <a:r>
              <a:rPr lang="es-MX">
                <a:latin typeface="Calibri"/>
                <a:ea typeface="Calibri"/>
                <a:cs typeface="Calibri"/>
                <a:sym typeface="Calibri"/>
              </a:rPr>
              <a:t>Segundo cuadrante: frenado en sentido directo (-T , +w)</a:t>
            </a:r>
            <a:endParaRPr>
              <a:latin typeface="Calibri"/>
              <a:ea typeface="Calibri"/>
              <a:cs typeface="Calibri"/>
              <a:sym typeface="Calibri"/>
            </a:endParaRPr>
          </a:p>
          <a:p>
            <a:pPr indent="0" lvl="0" marL="0" rtl="0" algn="l">
              <a:lnSpc>
                <a:spcPct val="115000"/>
              </a:lnSpc>
              <a:spcBef>
                <a:spcPts val="1200"/>
              </a:spcBef>
              <a:spcAft>
                <a:spcPts val="0"/>
              </a:spcAft>
              <a:buNone/>
            </a:pPr>
            <a:r>
              <a:rPr lang="es-MX">
                <a:latin typeface="Calibri"/>
                <a:ea typeface="Calibri"/>
                <a:cs typeface="Calibri"/>
                <a:sym typeface="Calibri"/>
              </a:rPr>
              <a:t>Tercer cuadrante: motor girando en sentido inverso (-T , -w)</a:t>
            </a:r>
            <a:endParaRPr>
              <a:latin typeface="Calibri"/>
              <a:ea typeface="Calibri"/>
              <a:cs typeface="Calibri"/>
              <a:sym typeface="Calibri"/>
            </a:endParaRPr>
          </a:p>
          <a:p>
            <a:pPr indent="0" lvl="0" marL="0" rtl="0" algn="l">
              <a:lnSpc>
                <a:spcPct val="115000"/>
              </a:lnSpc>
              <a:spcBef>
                <a:spcPts val="1200"/>
              </a:spcBef>
              <a:spcAft>
                <a:spcPts val="1200"/>
              </a:spcAft>
              <a:buNone/>
            </a:pPr>
            <a:r>
              <a:rPr lang="es-MX">
                <a:latin typeface="Calibri"/>
                <a:ea typeface="Calibri"/>
                <a:cs typeface="Calibri"/>
                <a:sym typeface="Calibri"/>
              </a:rPr>
              <a:t>Cuarto cuadrante: frenado en sentido inverso (+T , -w)</a:t>
            </a:r>
            <a:endParaRPr/>
          </a:p>
        </p:txBody>
      </p:sp>
      <p:pic>
        <p:nvPicPr>
          <p:cNvPr id="506" name="Google Shape;506;g3388f479b56_0_210"/>
          <p:cNvPicPr preferRelativeResize="0"/>
          <p:nvPr/>
        </p:nvPicPr>
        <p:blipFill>
          <a:blip r:embed="rId3">
            <a:alphaModFix/>
          </a:blip>
          <a:stretch>
            <a:fillRect/>
          </a:stretch>
        </p:blipFill>
        <p:spPr>
          <a:xfrm>
            <a:off x="2695388" y="1825950"/>
            <a:ext cx="6801218" cy="4811376"/>
          </a:xfrm>
          <a:prstGeom prst="rect">
            <a:avLst/>
          </a:prstGeom>
          <a:noFill/>
          <a:ln>
            <a:noFill/>
          </a:ln>
        </p:spPr>
      </p:pic>
      <p:sp>
        <p:nvSpPr>
          <p:cNvPr id="507" name="Google Shape;507;g3388f479b56_0_210"/>
          <p:cNvSpPr txBox="1"/>
          <p:nvPr/>
        </p:nvSpPr>
        <p:spPr>
          <a:xfrm>
            <a:off x="8593700" y="6193800"/>
            <a:ext cx="308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511" name="Shape 511"/>
        <p:cNvGrpSpPr/>
        <p:nvPr/>
      </p:nvGrpSpPr>
      <p:grpSpPr>
        <a:xfrm>
          <a:off x="0" y="0"/>
          <a:ext cx="0" cy="0"/>
          <a:chOff x="0" y="0"/>
          <a:chExt cx="0" cy="0"/>
        </a:xfrm>
      </p:grpSpPr>
      <p:sp>
        <p:nvSpPr>
          <p:cNvPr id="512" name="Google Shape;512;g3388f479b56_0_217"/>
          <p:cNvSpPr txBox="1"/>
          <p:nvPr/>
        </p:nvSpPr>
        <p:spPr>
          <a:xfrm>
            <a:off x="322788" y="4355350"/>
            <a:ext cx="11812500" cy="145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MX">
                <a:latin typeface="Calibri"/>
                <a:ea typeface="Calibri"/>
                <a:cs typeface="Calibri"/>
                <a:sym typeface="Calibri"/>
              </a:rPr>
              <a:t>C</a:t>
            </a:r>
            <a:r>
              <a:rPr lang="es-MX">
                <a:latin typeface="Calibri"/>
                <a:ea typeface="Calibri"/>
                <a:cs typeface="Calibri"/>
                <a:sym typeface="Calibri"/>
              </a:rPr>
              <a:t>uando 𝛿(𝑡) &gt; 0 el motor se encuentra en motorización directa (primer cuadrante) o frenado regenerativo inverso (cuarto cuadrante).</a:t>
            </a:r>
            <a:endParaRPr>
              <a:latin typeface="Calibri"/>
              <a:ea typeface="Calibri"/>
              <a:cs typeface="Calibri"/>
              <a:sym typeface="Calibri"/>
            </a:endParaRPr>
          </a:p>
          <a:p>
            <a:pPr indent="0" lvl="0" marL="0" rtl="0" algn="l">
              <a:lnSpc>
                <a:spcPct val="115000"/>
              </a:lnSpc>
              <a:spcBef>
                <a:spcPts val="1200"/>
              </a:spcBef>
              <a:spcAft>
                <a:spcPts val="0"/>
              </a:spcAft>
              <a:buNone/>
            </a:pPr>
            <a:r>
              <a:rPr lang="es-MX">
                <a:latin typeface="Calibri"/>
                <a:ea typeface="Calibri"/>
                <a:cs typeface="Calibri"/>
                <a:sym typeface="Calibri"/>
              </a:rPr>
              <a:t>Cuando 𝛿(𝑡) &lt; 0 el motor se encuentra en frenado regenerativo directo (segundo cuadrante) o motorización inversa (tercer cuadrante). </a:t>
            </a:r>
            <a:endParaRPr>
              <a:latin typeface="Calibri"/>
              <a:ea typeface="Calibri"/>
              <a:cs typeface="Calibri"/>
              <a:sym typeface="Calibri"/>
            </a:endParaRPr>
          </a:p>
          <a:p>
            <a:pPr indent="0" lvl="0" marL="0" rtl="0" algn="l">
              <a:lnSpc>
                <a:spcPct val="115000"/>
              </a:lnSpc>
              <a:spcBef>
                <a:spcPts val="1200"/>
              </a:spcBef>
              <a:spcAft>
                <a:spcPts val="1200"/>
              </a:spcAft>
              <a:buNone/>
            </a:pPr>
            <a:r>
              <a:rPr lang="es-MX">
                <a:latin typeface="Calibri"/>
                <a:ea typeface="Calibri"/>
                <a:cs typeface="Calibri"/>
                <a:sym typeface="Calibri"/>
              </a:rPr>
              <a:t>Mientras el ángulo de torque del motor es positivo se está en el cuadrante 1 o 4 y cuando es negativo se está en el cuadrante 2 o 3, 𝛿(𝑡) tiene el mismo signo del Torque motor.</a:t>
            </a:r>
            <a:endParaRPr sz="1600"/>
          </a:p>
        </p:txBody>
      </p:sp>
      <p:sp>
        <p:nvSpPr>
          <p:cNvPr id="513" name="Google Shape;513;g3388f479b56_0_217"/>
          <p:cNvSpPr txBox="1"/>
          <p:nvPr/>
        </p:nvSpPr>
        <p:spPr>
          <a:xfrm>
            <a:off x="3857550" y="257025"/>
            <a:ext cx="4476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Evolución del ángulo de torque del rotor</a:t>
            </a:r>
            <a:endParaRPr sz="1800">
              <a:solidFill>
                <a:schemeClr val="lt1"/>
              </a:solidFill>
              <a:latin typeface="Arial"/>
              <a:ea typeface="Arial"/>
              <a:cs typeface="Arial"/>
              <a:sym typeface="Arial"/>
            </a:endParaRPr>
          </a:p>
        </p:txBody>
      </p:sp>
      <p:pic>
        <p:nvPicPr>
          <p:cNvPr id="514" name="Google Shape;514;g3388f479b56_0_217"/>
          <p:cNvPicPr preferRelativeResize="0"/>
          <p:nvPr/>
        </p:nvPicPr>
        <p:blipFill>
          <a:blip r:embed="rId3">
            <a:alphaModFix/>
          </a:blip>
          <a:stretch>
            <a:fillRect/>
          </a:stretch>
        </p:blipFill>
        <p:spPr>
          <a:xfrm>
            <a:off x="144413" y="1051238"/>
            <a:ext cx="7502351" cy="3084976"/>
          </a:xfrm>
          <a:prstGeom prst="rect">
            <a:avLst/>
          </a:prstGeom>
          <a:noFill/>
          <a:ln>
            <a:noFill/>
          </a:ln>
        </p:spPr>
      </p:pic>
      <p:pic>
        <p:nvPicPr>
          <p:cNvPr id="515" name="Google Shape;515;g3388f479b56_0_217"/>
          <p:cNvPicPr preferRelativeResize="0"/>
          <p:nvPr/>
        </p:nvPicPr>
        <p:blipFill>
          <a:blip r:embed="rId4">
            <a:alphaModFix/>
          </a:blip>
          <a:stretch>
            <a:fillRect/>
          </a:stretch>
        </p:blipFill>
        <p:spPr>
          <a:xfrm>
            <a:off x="7759475" y="1051250"/>
            <a:ext cx="4300601" cy="3084975"/>
          </a:xfrm>
          <a:prstGeom prst="rect">
            <a:avLst/>
          </a:prstGeom>
          <a:noFill/>
          <a:ln>
            <a:noFill/>
          </a:ln>
        </p:spPr>
      </p:pic>
      <p:sp>
        <p:nvSpPr>
          <p:cNvPr id="516" name="Google Shape;516;g3388f479b56_0_217"/>
          <p:cNvSpPr txBox="1"/>
          <p:nvPr/>
        </p:nvSpPr>
        <p:spPr>
          <a:xfrm flipH="1">
            <a:off x="11667325" y="38283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520" name="Shape 520"/>
        <p:cNvGrpSpPr/>
        <p:nvPr/>
      </p:nvGrpSpPr>
      <p:grpSpPr>
        <a:xfrm>
          <a:off x="0" y="0"/>
          <a:ext cx="0" cy="0"/>
          <a:chOff x="0" y="0"/>
          <a:chExt cx="0" cy="0"/>
        </a:xfrm>
      </p:grpSpPr>
      <p:pic>
        <p:nvPicPr>
          <p:cNvPr id="521" name="Google Shape;521;g3388f479b56_0_232"/>
          <p:cNvPicPr preferRelativeResize="0"/>
          <p:nvPr/>
        </p:nvPicPr>
        <p:blipFill rotWithShape="1">
          <a:blip r:embed="rId3">
            <a:alphaModFix/>
          </a:blip>
          <a:srcRect b="0" l="1526" r="0" t="5087"/>
          <a:stretch/>
        </p:blipFill>
        <p:spPr>
          <a:xfrm>
            <a:off x="2883950" y="1175025"/>
            <a:ext cx="6424100" cy="4507950"/>
          </a:xfrm>
          <a:prstGeom prst="rect">
            <a:avLst/>
          </a:prstGeom>
          <a:noFill/>
          <a:ln>
            <a:noFill/>
          </a:ln>
        </p:spPr>
      </p:pic>
      <p:sp>
        <p:nvSpPr>
          <p:cNvPr id="522" name="Google Shape;522;g3388f479b56_0_232"/>
          <p:cNvSpPr txBox="1"/>
          <p:nvPr/>
        </p:nvSpPr>
        <p:spPr>
          <a:xfrm>
            <a:off x="3266701" y="334250"/>
            <a:ext cx="56586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MX" sz="1800">
                <a:latin typeface="Cambria Math"/>
                <a:ea typeface="Cambria Math"/>
                <a:cs typeface="Cambria Math"/>
                <a:sym typeface="Cambria Math"/>
              </a:rPr>
              <a:t>Diseño del lazo de corriente, controlador PID y observador reducido de estados</a:t>
            </a:r>
            <a:endParaRPr sz="1800">
              <a:solidFill>
                <a:schemeClr val="lt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526" name="Shape 526"/>
        <p:cNvGrpSpPr/>
        <p:nvPr/>
      </p:nvGrpSpPr>
      <p:grpSpPr>
        <a:xfrm>
          <a:off x="0" y="0"/>
          <a:ext cx="0" cy="0"/>
          <a:chOff x="0" y="0"/>
          <a:chExt cx="0" cy="0"/>
        </a:xfrm>
      </p:grpSpPr>
      <p:sp>
        <p:nvSpPr>
          <p:cNvPr id="527" name="Google Shape;527;g3388f479b56_0_247"/>
          <p:cNvSpPr txBox="1"/>
          <p:nvPr/>
        </p:nvSpPr>
        <p:spPr>
          <a:xfrm>
            <a:off x="4515000" y="253100"/>
            <a:ext cx="3162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Desacoplamientos eléctricos</a:t>
            </a:r>
            <a:endParaRPr sz="1800">
              <a:solidFill>
                <a:schemeClr val="lt1"/>
              </a:solidFill>
              <a:latin typeface="Arial"/>
              <a:ea typeface="Arial"/>
              <a:cs typeface="Arial"/>
              <a:sym typeface="Arial"/>
            </a:endParaRPr>
          </a:p>
        </p:txBody>
      </p:sp>
      <p:pic>
        <p:nvPicPr>
          <p:cNvPr id="528" name="Google Shape;528;g3388f479b56_0_247"/>
          <p:cNvPicPr preferRelativeResize="0"/>
          <p:nvPr/>
        </p:nvPicPr>
        <p:blipFill>
          <a:blip r:embed="rId3">
            <a:alphaModFix/>
          </a:blip>
          <a:stretch>
            <a:fillRect/>
          </a:stretch>
        </p:blipFill>
        <p:spPr>
          <a:xfrm>
            <a:off x="2709863" y="724375"/>
            <a:ext cx="6772275" cy="4000500"/>
          </a:xfrm>
          <a:prstGeom prst="rect">
            <a:avLst/>
          </a:prstGeom>
          <a:noFill/>
          <a:ln>
            <a:noFill/>
          </a:ln>
        </p:spPr>
      </p:pic>
      <p:sp>
        <p:nvSpPr>
          <p:cNvPr id="529" name="Google Shape;529;g3388f479b56_0_247"/>
          <p:cNvSpPr txBox="1"/>
          <p:nvPr/>
        </p:nvSpPr>
        <p:spPr>
          <a:xfrm>
            <a:off x="189750" y="4971125"/>
            <a:ext cx="11812500" cy="4464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1200"/>
              </a:spcBef>
              <a:spcAft>
                <a:spcPts val="0"/>
              </a:spcAft>
              <a:buSzPts val="1700"/>
              <a:buChar char="●"/>
            </a:pPr>
            <a:r>
              <a:rPr lang="es-MX" sz="1500">
                <a:latin typeface="Calibri"/>
                <a:ea typeface="Calibri"/>
                <a:cs typeface="Calibri"/>
                <a:sym typeface="Calibri"/>
              </a:rPr>
              <a:t>Deseamos compensar las retroalimentaciones naturales que tiene el sistema, para lograr un control directo y óptimo de la corriente iq(t).</a:t>
            </a:r>
            <a:endParaRPr sz="17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533" name="Shape 533"/>
        <p:cNvGrpSpPr/>
        <p:nvPr/>
      </p:nvGrpSpPr>
      <p:grpSpPr>
        <a:xfrm>
          <a:off x="0" y="0"/>
          <a:ext cx="0" cy="0"/>
          <a:chOff x="0" y="0"/>
          <a:chExt cx="0" cy="0"/>
        </a:xfrm>
      </p:grpSpPr>
      <p:sp>
        <p:nvSpPr>
          <p:cNvPr id="534" name="Google Shape;534;g3388f479b56_0_240"/>
          <p:cNvSpPr txBox="1"/>
          <p:nvPr/>
        </p:nvSpPr>
        <p:spPr>
          <a:xfrm>
            <a:off x="956813" y="1917888"/>
            <a:ext cx="9984000" cy="400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SzPts val="1400"/>
              <a:buFont typeface="Calibri"/>
              <a:buChar char="●"/>
            </a:pPr>
            <a:r>
              <a:rPr lang="es-MX">
                <a:latin typeface="Calibri"/>
                <a:ea typeface="Calibri"/>
                <a:cs typeface="Calibri"/>
                <a:sym typeface="Calibri"/>
              </a:rPr>
              <a:t>Asumiendo al inversor de tensión con ganancia unitaria y ancho de banda infinito:</a:t>
            </a:r>
            <a:endParaRPr sz="1600"/>
          </a:p>
        </p:txBody>
      </p:sp>
      <p:sp>
        <p:nvSpPr>
          <p:cNvPr id="535" name="Google Shape;535;g3388f479b56_0_240"/>
          <p:cNvSpPr txBox="1"/>
          <p:nvPr/>
        </p:nvSpPr>
        <p:spPr>
          <a:xfrm>
            <a:off x="907050" y="783613"/>
            <a:ext cx="9984000" cy="400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SzPts val="1400"/>
              <a:buFont typeface="Calibri"/>
              <a:buChar char="●"/>
            </a:pPr>
            <a:r>
              <a:rPr lang="es-MX">
                <a:latin typeface="Calibri"/>
                <a:ea typeface="Calibri"/>
                <a:cs typeface="Calibri"/>
                <a:sym typeface="Calibri"/>
              </a:rPr>
              <a:t>A la salida del lazo de corriente, luego de realizar los desacoples de tensión:</a:t>
            </a:r>
            <a:endParaRPr sz="1600"/>
          </a:p>
        </p:txBody>
      </p:sp>
      <p:pic>
        <p:nvPicPr>
          <p:cNvPr id="536" name="Google Shape;536;g3388f479b56_0_240"/>
          <p:cNvPicPr preferRelativeResize="0"/>
          <p:nvPr/>
        </p:nvPicPr>
        <p:blipFill>
          <a:blip r:embed="rId3">
            <a:alphaModFix/>
          </a:blip>
          <a:stretch>
            <a:fillRect/>
          </a:stretch>
        </p:blipFill>
        <p:spPr>
          <a:xfrm>
            <a:off x="907050" y="2318088"/>
            <a:ext cx="1924050" cy="638175"/>
          </a:xfrm>
          <a:prstGeom prst="rect">
            <a:avLst/>
          </a:prstGeom>
          <a:noFill/>
          <a:ln>
            <a:noFill/>
          </a:ln>
        </p:spPr>
      </p:pic>
      <p:sp>
        <p:nvSpPr>
          <p:cNvPr id="537" name="Google Shape;537;g3388f479b56_0_240"/>
          <p:cNvSpPr txBox="1"/>
          <p:nvPr/>
        </p:nvSpPr>
        <p:spPr>
          <a:xfrm>
            <a:off x="956813" y="2956263"/>
            <a:ext cx="9984000" cy="400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SzPts val="1400"/>
              <a:buFont typeface="Calibri"/>
              <a:buChar char="●"/>
            </a:pPr>
            <a:r>
              <a:rPr lang="es-MX">
                <a:latin typeface="Calibri"/>
                <a:ea typeface="Calibri"/>
                <a:cs typeface="Calibri"/>
                <a:sym typeface="Calibri"/>
              </a:rPr>
              <a:t>Por lo que la ecuación de tensión en el eje q quedará de la siguiente manera:</a:t>
            </a:r>
            <a:endParaRPr sz="1600"/>
          </a:p>
        </p:txBody>
      </p:sp>
      <p:pic>
        <p:nvPicPr>
          <p:cNvPr id="538" name="Google Shape;538;g3388f479b56_0_240"/>
          <p:cNvPicPr preferRelativeResize="0"/>
          <p:nvPr/>
        </p:nvPicPr>
        <p:blipFill>
          <a:blip r:embed="rId4">
            <a:alphaModFix/>
          </a:blip>
          <a:stretch>
            <a:fillRect/>
          </a:stretch>
        </p:blipFill>
        <p:spPr>
          <a:xfrm>
            <a:off x="907050" y="1098988"/>
            <a:ext cx="9858302" cy="807800"/>
          </a:xfrm>
          <a:prstGeom prst="rect">
            <a:avLst/>
          </a:prstGeom>
          <a:noFill/>
          <a:ln>
            <a:noFill/>
          </a:ln>
        </p:spPr>
      </p:pic>
      <p:pic>
        <p:nvPicPr>
          <p:cNvPr id="539" name="Google Shape;539;g3388f479b56_0_240"/>
          <p:cNvPicPr preferRelativeResize="0"/>
          <p:nvPr/>
        </p:nvPicPr>
        <p:blipFill>
          <a:blip r:embed="rId5">
            <a:alphaModFix/>
          </a:blip>
          <a:stretch>
            <a:fillRect/>
          </a:stretch>
        </p:blipFill>
        <p:spPr>
          <a:xfrm>
            <a:off x="907050" y="3367563"/>
            <a:ext cx="6153150" cy="1047750"/>
          </a:xfrm>
          <a:prstGeom prst="rect">
            <a:avLst/>
          </a:prstGeom>
          <a:noFill/>
          <a:ln>
            <a:noFill/>
          </a:ln>
        </p:spPr>
      </p:pic>
      <p:sp>
        <p:nvSpPr>
          <p:cNvPr id="540" name="Google Shape;540;g3388f479b56_0_240"/>
          <p:cNvSpPr txBox="1"/>
          <p:nvPr/>
        </p:nvSpPr>
        <p:spPr>
          <a:xfrm>
            <a:off x="907038" y="4426413"/>
            <a:ext cx="9984000" cy="400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SzPts val="1400"/>
              <a:buFont typeface="Calibri"/>
              <a:buChar char="●"/>
            </a:pPr>
            <a:r>
              <a:rPr lang="es-MX">
                <a:latin typeface="Calibri"/>
                <a:ea typeface="Calibri"/>
                <a:cs typeface="Calibri"/>
                <a:sym typeface="Calibri"/>
              </a:rPr>
              <a:t>Llevando la expresión al dominio complejo de Laplace, podemos obtener la función de transferencia de iq(t) desde iq*(t):</a:t>
            </a:r>
            <a:endParaRPr sz="1600"/>
          </a:p>
        </p:txBody>
      </p:sp>
      <p:pic>
        <p:nvPicPr>
          <p:cNvPr id="541" name="Google Shape;541;g3388f479b56_0_240"/>
          <p:cNvPicPr preferRelativeResize="0"/>
          <p:nvPr/>
        </p:nvPicPr>
        <p:blipFill>
          <a:blip r:embed="rId6">
            <a:alphaModFix/>
          </a:blip>
          <a:stretch>
            <a:fillRect/>
          </a:stretch>
        </p:blipFill>
        <p:spPr>
          <a:xfrm>
            <a:off x="907050" y="4826613"/>
            <a:ext cx="3590925" cy="1247775"/>
          </a:xfrm>
          <a:prstGeom prst="rect">
            <a:avLst/>
          </a:prstGeom>
          <a:noFill/>
          <a:ln>
            <a:noFill/>
          </a:ln>
        </p:spPr>
      </p:pic>
      <p:sp>
        <p:nvSpPr>
          <p:cNvPr id="542" name="Google Shape;542;g3388f479b56_0_240"/>
          <p:cNvSpPr txBox="1"/>
          <p:nvPr/>
        </p:nvSpPr>
        <p:spPr>
          <a:xfrm>
            <a:off x="4565550" y="373150"/>
            <a:ext cx="3060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Diseño del lazo de corriente</a:t>
            </a:r>
            <a:endParaRPr sz="1800">
              <a:solidFill>
                <a:schemeClr val="lt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546" name="Shape 546"/>
        <p:cNvGrpSpPr/>
        <p:nvPr/>
      </p:nvGrpSpPr>
      <p:grpSpPr>
        <a:xfrm>
          <a:off x="0" y="0"/>
          <a:ext cx="0" cy="0"/>
          <a:chOff x="0" y="0"/>
          <a:chExt cx="0" cy="0"/>
        </a:xfrm>
      </p:grpSpPr>
      <p:sp>
        <p:nvSpPr>
          <p:cNvPr id="547" name="Google Shape;547;g3388f479b56_0_257"/>
          <p:cNvSpPr txBox="1"/>
          <p:nvPr/>
        </p:nvSpPr>
        <p:spPr>
          <a:xfrm>
            <a:off x="1103988" y="1385738"/>
            <a:ext cx="9984000" cy="400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SzPts val="1400"/>
              <a:buFont typeface="Calibri"/>
              <a:buChar char="●"/>
            </a:pPr>
            <a:r>
              <a:rPr lang="es-MX">
                <a:latin typeface="Calibri"/>
                <a:ea typeface="Calibri"/>
                <a:cs typeface="Calibri"/>
                <a:sym typeface="Calibri"/>
              </a:rPr>
              <a:t>Teniendo la </a:t>
            </a:r>
            <a:r>
              <a:rPr lang="es-MX">
                <a:latin typeface="Calibri"/>
                <a:ea typeface="Calibri"/>
                <a:cs typeface="Calibri"/>
                <a:sym typeface="Calibri"/>
              </a:rPr>
              <a:t>función</a:t>
            </a:r>
            <a:r>
              <a:rPr lang="es-MX">
                <a:latin typeface="Calibri"/>
                <a:ea typeface="Calibri"/>
                <a:cs typeface="Calibri"/>
                <a:sym typeface="Calibri"/>
              </a:rPr>
              <a:t> de transferencia, podemos posicionar el polo del lazo de control con el valor de Ra’:</a:t>
            </a:r>
            <a:endParaRPr sz="1600"/>
          </a:p>
        </p:txBody>
      </p:sp>
      <p:sp>
        <p:nvSpPr>
          <p:cNvPr id="548" name="Google Shape;548;g3388f479b56_0_257"/>
          <p:cNvSpPr txBox="1"/>
          <p:nvPr/>
        </p:nvSpPr>
        <p:spPr>
          <a:xfrm>
            <a:off x="4565550" y="373150"/>
            <a:ext cx="3060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Diseño del lazo de corriente</a:t>
            </a:r>
            <a:endParaRPr sz="1800">
              <a:solidFill>
                <a:schemeClr val="lt1"/>
              </a:solidFill>
              <a:latin typeface="Arial"/>
              <a:ea typeface="Arial"/>
              <a:cs typeface="Arial"/>
              <a:sym typeface="Arial"/>
            </a:endParaRPr>
          </a:p>
        </p:txBody>
      </p:sp>
      <p:pic>
        <p:nvPicPr>
          <p:cNvPr id="549" name="Google Shape;549;g3388f479b56_0_257"/>
          <p:cNvPicPr preferRelativeResize="0"/>
          <p:nvPr/>
        </p:nvPicPr>
        <p:blipFill>
          <a:blip r:embed="rId3">
            <a:alphaModFix/>
          </a:blip>
          <a:stretch>
            <a:fillRect/>
          </a:stretch>
        </p:blipFill>
        <p:spPr>
          <a:xfrm>
            <a:off x="1104000" y="1785938"/>
            <a:ext cx="2952750" cy="1781175"/>
          </a:xfrm>
          <a:prstGeom prst="rect">
            <a:avLst/>
          </a:prstGeom>
          <a:noFill/>
          <a:ln>
            <a:noFill/>
          </a:ln>
        </p:spPr>
      </p:pic>
      <p:sp>
        <p:nvSpPr>
          <p:cNvPr id="550" name="Google Shape;550;g3388f479b56_0_257"/>
          <p:cNvSpPr txBox="1"/>
          <p:nvPr/>
        </p:nvSpPr>
        <p:spPr>
          <a:xfrm>
            <a:off x="1103988" y="3567113"/>
            <a:ext cx="9984000" cy="400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SzPts val="1400"/>
              <a:buFont typeface="Calibri"/>
              <a:buChar char="●"/>
            </a:pPr>
            <a:r>
              <a:rPr lang="es-MX">
                <a:latin typeface="Calibri"/>
                <a:ea typeface="Calibri"/>
                <a:cs typeface="Calibri"/>
                <a:sym typeface="Calibri"/>
              </a:rPr>
              <a:t>Posicionando el polo en s = -5000:</a:t>
            </a:r>
            <a:endParaRPr sz="1600"/>
          </a:p>
        </p:txBody>
      </p:sp>
      <p:pic>
        <p:nvPicPr>
          <p:cNvPr id="551" name="Google Shape;551;g3388f479b56_0_257"/>
          <p:cNvPicPr preferRelativeResize="0"/>
          <p:nvPr/>
        </p:nvPicPr>
        <p:blipFill>
          <a:blip r:embed="rId4">
            <a:alphaModFix/>
          </a:blip>
          <a:stretch>
            <a:fillRect/>
          </a:stretch>
        </p:blipFill>
        <p:spPr>
          <a:xfrm>
            <a:off x="1104000" y="3967313"/>
            <a:ext cx="2590800" cy="15049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555" name="Shape 555"/>
        <p:cNvGrpSpPr/>
        <p:nvPr/>
      </p:nvGrpSpPr>
      <p:grpSpPr>
        <a:xfrm>
          <a:off x="0" y="0"/>
          <a:ext cx="0" cy="0"/>
          <a:chOff x="0" y="0"/>
          <a:chExt cx="0" cy="0"/>
        </a:xfrm>
      </p:grpSpPr>
      <p:pic>
        <p:nvPicPr>
          <p:cNvPr id="556" name="Google Shape;556;g3388f479b56_0_268"/>
          <p:cNvPicPr preferRelativeResize="0"/>
          <p:nvPr/>
        </p:nvPicPr>
        <p:blipFill>
          <a:blip r:embed="rId3">
            <a:alphaModFix/>
          </a:blip>
          <a:stretch>
            <a:fillRect/>
          </a:stretch>
        </p:blipFill>
        <p:spPr>
          <a:xfrm>
            <a:off x="0" y="862200"/>
            <a:ext cx="5867400" cy="5191125"/>
          </a:xfrm>
          <a:prstGeom prst="rect">
            <a:avLst/>
          </a:prstGeom>
          <a:noFill/>
          <a:ln>
            <a:noFill/>
          </a:ln>
        </p:spPr>
      </p:pic>
      <p:pic>
        <p:nvPicPr>
          <p:cNvPr id="557" name="Google Shape;557;g3388f479b56_0_268"/>
          <p:cNvPicPr preferRelativeResize="0"/>
          <p:nvPr/>
        </p:nvPicPr>
        <p:blipFill>
          <a:blip r:embed="rId4">
            <a:alphaModFix/>
          </a:blip>
          <a:stretch>
            <a:fillRect/>
          </a:stretch>
        </p:blipFill>
        <p:spPr>
          <a:xfrm>
            <a:off x="6122250" y="862200"/>
            <a:ext cx="6069750" cy="51911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561" name="Shape 561"/>
        <p:cNvGrpSpPr/>
        <p:nvPr/>
      </p:nvGrpSpPr>
      <p:grpSpPr>
        <a:xfrm>
          <a:off x="0" y="0"/>
          <a:ext cx="0" cy="0"/>
          <a:chOff x="0" y="0"/>
          <a:chExt cx="0" cy="0"/>
        </a:xfrm>
      </p:grpSpPr>
      <p:sp>
        <p:nvSpPr>
          <p:cNvPr id="562" name="Google Shape;562;g3388f479b56_0_282"/>
          <p:cNvSpPr txBox="1"/>
          <p:nvPr/>
        </p:nvSpPr>
        <p:spPr>
          <a:xfrm>
            <a:off x="4525200" y="71550"/>
            <a:ext cx="3141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Desacoplamientos de torque</a:t>
            </a:r>
            <a:endParaRPr sz="1800">
              <a:solidFill>
                <a:schemeClr val="lt1"/>
              </a:solidFill>
              <a:latin typeface="Arial"/>
              <a:ea typeface="Arial"/>
              <a:cs typeface="Arial"/>
              <a:sym typeface="Arial"/>
            </a:endParaRPr>
          </a:p>
        </p:txBody>
      </p:sp>
      <p:pic>
        <p:nvPicPr>
          <p:cNvPr id="563" name="Google Shape;563;g3388f479b56_0_282"/>
          <p:cNvPicPr preferRelativeResize="0"/>
          <p:nvPr/>
        </p:nvPicPr>
        <p:blipFill>
          <a:blip r:embed="rId3">
            <a:alphaModFix/>
          </a:blip>
          <a:stretch>
            <a:fillRect/>
          </a:stretch>
        </p:blipFill>
        <p:spPr>
          <a:xfrm>
            <a:off x="1659450" y="440850"/>
            <a:ext cx="8873092" cy="5616826"/>
          </a:xfrm>
          <a:prstGeom prst="rect">
            <a:avLst/>
          </a:prstGeom>
          <a:noFill/>
          <a:ln>
            <a:noFill/>
          </a:ln>
        </p:spPr>
      </p:pic>
      <p:sp>
        <p:nvSpPr>
          <p:cNvPr id="564" name="Google Shape;564;g3388f479b56_0_282"/>
          <p:cNvSpPr txBox="1"/>
          <p:nvPr/>
        </p:nvSpPr>
        <p:spPr>
          <a:xfrm>
            <a:off x="189750" y="6057675"/>
            <a:ext cx="11812500" cy="4464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1200"/>
              </a:spcBef>
              <a:spcAft>
                <a:spcPts val="0"/>
              </a:spcAft>
              <a:buSzPts val="1700"/>
              <a:buChar char="●"/>
            </a:pPr>
            <a:r>
              <a:rPr lang="es-MX" sz="1500">
                <a:latin typeface="Calibri"/>
                <a:ea typeface="Calibri"/>
                <a:cs typeface="Calibri"/>
                <a:sym typeface="Calibri"/>
              </a:rPr>
              <a:t>Con el objetivo de lograr un control óptimo de la posición, desacoplaremos las realimentaciones naturales de torque que tenga el sistema.</a:t>
            </a:r>
            <a:endParaRPr sz="17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568" name="Shape 568"/>
        <p:cNvGrpSpPr/>
        <p:nvPr/>
      </p:nvGrpSpPr>
      <p:grpSpPr>
        <a:xfrm>
          <a:off x="0" y="0"/>
          <a:ext cx="0" cy="0"/>
          <a:chOff x="0" y="0"/>
          <a:chExt cx="0" cy="0"/>
        </a:xfrm>
      </p:grpSpPr>
      <p:pic>
        <p:nvPicPr>
          <p:cNvPr id="569" name="Google Shape;569;g3388f479b56_0_275"/>
          <p:cNvPicPr preferRelativeResize="0"/>
          <p:nvPr/>
        </p:nvPicPr>
        <p:blipFill>
          <a:blip r:embed="rId3">
            <a:alphaModFix/>
          </a:blip>
          <a:stretch>
            <a:fillRect/>
          </a:stretch>
        </p:blipFill>
        <p:spPr>
          <a:xfrm>
            <a:off x="374588" y="401038"/>
            <a:ext cx="11442825" cy="5151175"/>
          </a:xfrm>
          <a:prstGeom prst="rect">
            <a:avLst/>
          </a:prstGeom>
          <a:noFill/>
          <a:ln>
            <a:noFill/>
          </a:ln>
        </p:spPr>
      </p:pic>
      <p:sp>
        <p:nvSpPr>
          <p:cNvPr id="570" name="Google Shape;570;g3388f479b56_0_275"/>
          <p:cNvSpPr txBox="1"/>
          <p:nvPr/>
        </p:nvSpPr>
        <p:spPr>
          <a:xfrm>
            <a:off x="492125" y="5746750"/>
            <a:ext cx="10764900" cy="6810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Se diseñará un lazo de control de posición con control PID para lograr un seguimiento de consigna estable y rápido.</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Se utiliza el error de velocidad para evitar el uso de derivadores.</a:t>
            </a:r>
            <a:endParaRPr sz="1500">
              <a:latin typeface="Calibri"/>
              <a:ea typeface="Calibri"/>
              <a:cs typeface="Calibri"/>
              <a:sym typeface="Calibri"/>
            </a:endParaRPr>
          </a:p>
        </p:txBody>
      </p:sp>
      <p:sp>
        <p:nvSpPr>
          <p:cNvPr id="571" name="Google Shape;571;g3388f479b56_0_275"/>
          <p:cNvSpPr txBox="1"/>
          <p:nvPr/>
        </p:nvSpPr>
        <p:spPr>
          <a:xfrm>
            <a:off x="4595700" y="0"/>
            <a:ext cx="3000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Diseño del controlador PID</a:t>
            </a:r>
            <a:endParaRPr sz="1800">
              <a:solidFill>
                <a:schemeClr val="lt1"/>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575" name="Shape 575"/>
        <p:cNvGrpSpPr/>
        <p:nvPr/>
      </p:nvGrpSpPr>
      <p:grpSpPr>
        <a:xfrm>
          <a:off x="0" y="0"/>
          <a:ext cx="0" cy="0"/>
          <a:chOff x="0" y="0"/>
          <a:chExt cx="0" cy="0"/>
        </a:xfrm>
      </p:grpSpPr>
      <p:sp>
        <p:nvSpPr>
          <p:cNvPr id="576" name="Google Shape;576;g3388f479b56_0_288"/>
          <p:cNvSpPr txBox="1"/>
          <p:nvPr/>
        </p:nvSpPr>
        <p:spPr>
          <a:xfrm>
            <a:off x="4595700" y="0"/>
            <a:ext cx="3000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Diseño del controlador PID</a:t>
            </a:r>
            <a:endParaRPr sz="1800">
              <a:solidFill>
                <a:schemeClr val="lt1"/>
              </a:solidFill>
              <a:latin typeface="Arial"/>
              <a:ea typeface="Arial"/>
              <a:cs typeface="Arial"/>
              <a:sym typeface="Arial"/>
            </a:endParaRPr>
          </a:p>
        </p:txBody>
      </p:sp>
      <p:sp>
        <p:nvSpPr>
          <p:cNvPr id="577" name="Google Shape;577;g3388f479b56_0_288"/>
          <p:cNvSpPr txBox="1"/>
          <p:nvPr/>
        </p:nvSpPr>
        <p:spPr>
          <a:xfrm>
            <a:off x="532475" y="633500"/>
            <a:ext cx="107649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La salida del controlador PID </a:t>
            </a:r>
            <a:r>
              <a:rPr lang="es-MX" sz="1500">
                <a:latin typeface="Calibri"/>
                <a:ea typeface="Calibri"/>
                <a:cs typeface="Calibri"/>
                <a:sym typeface="Calibri"/>
              </a:rPr>
              <a:t>tendrá</a:t>
            </a:r>
            <a:r>
              <a:rPr lang="es-MX" sz="1500">
                <a:latin typeface="Calibri"/>
                <a:ea typeface="Calibri"/>
                <a:cs typeface="Calibri"/>
                <a:sym typeface="Calibri"/>
              </a:rPr>
              <a:t> la siguiente forma:</a:t>
            </a:r>
            <a:endParaRPr sz="1500">
              <a:latin typeface="Calibri"/>
              <a:ea typeface="Calibri"/>
              <a:cs typeface="Calibri"/>
              <a:sym typeface="Calibri"/>
            </a:endParaRPr>
          </a:p>
        </p:txBody>
      </p:sp>
      <p:pic>
        <p:nvPicPr>
          <p:cNvPr id="578" name="Google Shape;578;g3388f479b56_0_288"/>
          <p:cNvPicPr preferRelativeResize="0"/>
          <p:nvPr/>
        </p:nvPicPr>
        <p:blipFill>
          <a:blip r:embed="rId3">
            <a:alphaModFix/>
          </a:blip>
          <a:stretch>
            <a:fillRect/>
          </a:stretch>
        </p:blipFill>
        <p:spPr>
          <a:xfrm>
            <a:off x="636475" y="1049000"/>
            <a:ext cx="9048750" cy="933450"/>
          </a:xfrm>
          <a:prstGeom prst="rect">
            <a:avLst/>
          </a:prstGeom>
          <a:noFill/>
          <a:ln>
            <a:noFill/>
          </a:ln>
        </p:spPr>
      </p:pic>
      <p:sp>
        <p:nvSpPr>
          <p:cNvPr id="579" name="Google Shape;579;g3388f479b56_0_288"/>
          <p:cNvSpPr txBox="1"/>
          <p:nvPr/>
        </p:nvSpPr>
        <p:spPr>
          <a:xfrm>
            <a:off x="636475" y="1982450"/>
            <a:ext cx="107649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El error de posición </a:t>
            </a:r>
            <a:r>
              <a:rPr lang="es-MX" sz="1500">
                <a:latin typeface="Calibri"/>
                <a:ea typeface="Calibri"/>
                <a:cs typeface="Calibri"/>
                <a:sym typeface="Calibri"/>
              </a:rPr>
              <a:t>está</a:t>
            </a:r>
            <a:r>
              <a:rPr lang="es-MX" sz="1500">
                <a:latin typeface="Calibri"/>
                <a:ea typeface="Calibri"/>
                <a:cs typeface="Calibri"/>
                <a:sym typeface="Calibri"/>
              </a:rPr>
              <a:t> relacionado con el de velocidad mediante la siguiente relación:</a:t>
            </a:r>
            <a:endParaRPr sz="1500">
              <a:latin typeface="Calibri"/>
              <a:ea typeface="Calibri"/>
              <a:cs typeface="Calibri"/>
              <a:sym typeface="Calibri"/>
            </a:endParaRPr>
          </a:p>
        </p:txBody>
      </p:sp>
      <p:sp>
        <p:nvSpPr>
          <p:cNvPr id="580" name="Google Shape;580;g3388f479b56_0_288"/>
          <p:cNvSpPr txBox="1"/>
          <p:nvPr/>
        </p:nvSpPr>
        <p:spPr>
          <a:xfrm>
            <a:off x="636475" y="3169475"/>
            <a:ext cx="107649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Luego de realizar los desacoples de torque, y asumiendo al lazo de corriente con ganancia unitaria y ancho de banda infinito:</a:t>
            </a:r>
            <a:endParaRPr sz="1500">
              <a:latin typeface="Calibri"/>
              <a:ea typeface="Calibri"/>
              <a:cs typeface="Calibri"/>
              <a:sym typeface="Calibri"/>
            </a:endParaRPr>
          </a:p>
        </p:txBody>
      </p:sp>
      <p:pic>
        <p:nvPicPr>
          <p:cNvPr id="581" name="Google Shape;581;g3388f479b56_0_288"/>
          <p:cNvPicPr preferRelativeResize="0"/>
          <p:nvPr/>
        </p:nvPicPr>
        <p:blipFill>
          <a:blip r:embed="rId4">
            <a:alphaModFix/>
          </a:blip>
          <a:stretch>
            <a:fillRect/>
          </a:stretch>
        </p:blipFill>
        <p:spPr>
          <a:xfrm>
            <a:off x="636475" y="3584975"/>
            <a:ext cx="10267950" cy="781050"/>
          </a:xfrm>
          <a:prstGeom prst="rect">
            <a:avLst/>
          </a:prstGeom>
          <a:noFill/>
          <a:ln>
            <a:noFill/>
          </a:ln>
        </p:spPr>
      </p:pic>
      <p:sp>
        <p:nvSpPr>
          <p:cNvPr id="582" name="Google Shape;582;g3388f479b56_0_288"/>
          <p:cNvSpPr txBox="1"/>
          <p:nvPr/>
        </p:nvSpPr>
        <p:spPr>
          <a:xfrm>
            <a:off x="636475" y="4356500"/>
            <a:ext cx="107649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Expandiendo la expresión del error de posición, y </a:t>
            </a:r>
            <a:r>
              <a:rPr lang="es-MX" sz="1500">
                <a:latin typeface="Calibri"/>
                <a:ea typeface="Calibri"/>
                <a:cs typeface="Calibri"/>
                <a:sym typeface="Calibri"/>
              </a:rPr>
              <a:t>despejando</a:t>
            </a:r>
            <a:r>
              <a:rPr lang="es-MX" sz="1500">
                <a:latin typeface="Calibri"/>
                <a:ea typeface="Calibri"/>
                <a:cs typeface="Calibri"/>
                <a:sym typeface="Calibri"/>
              </a:rPr>
              <a:t> la posición llegamos a la función de transferencia del controlador:</a:t>
            </a:r>
            <a:endParaRPr sz="1500">
              <a:latin typeface="Calibri"/>
              <a:ea typeface="Calibri"/>
              <a:cs typeface="Calibri"/>
              <a:sym typeface="Calibri"/>
            </a:endParaRPr>
          </a:p>
        </p:txBody>
      </p:sp>
      <p:pic>
        <p:nvPicPr>
          <p:cNvPr id="583" name="Google Shape;583;g3388f479b56_0_288"/>
          <p:cNvPicPr preferRelativeResize="0"/>
          <p:nvPr/>
        </p:nvPicPr>
        <p:blipFill>
          <a:blip r:embed="rId5">
            <a:alphaModFix/>
          </a:blip>
          <a:stretch>
            <a:fillRect/>
          </a:stretch>
        </p:blipFill>
        <p:spPr>
          <a:xfrm>
            <a:off x="636475" y="4781525"/>
            <a:ext cx="9974721" cy="1781200"/>
          </a:xfrm>
          <a:prstGeom prst="rect">
            <a:avLst/>
          </a:prstGeom>
          <a:noFill/>
          <a:ln>
            <a:noFill/>
          </a:ln>
        </p:spPr>
      </p:pic>
      <p:pic>
        <p:nvPicPr>
          <p:cNvPr id="584" name="Google Shape;584;g3388f479b56_0_288"/>
          <p:cNvPicPr preferRelativeResize="0"/>
          <p:nvPr/>
        </p:nvPicPr>
        <p:blipFill>
          <a:blip r:embed="rId6">
            <a:alphaModFix/>
          </a:blip>
          <a:stretch>
            <a:fillRect/>
          </a:stretch>
        </p:blipFill>
        <p:spPr>
          <a:xfrm>
            <a:off x="636475" y="2340788"/>
            <a:ext cx="5772150" cy="8858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588" name="Shape 588"/>
        <p:cNvGrpSpPr/>
        <p:nvPr/>
      </p:nvGrpSpPr>
      <p:grpSpPr>
        <a:xfrm>
          <a:off x="0" y="0"/>
          <a:ext cx="0" cy="0"/>
          <a:chOff x="0" y="0"/>
          <a:chExt cx="0" cy="0"/>
        </a:xfrm>
      </p:grpSpPr>
      <p:sp>
        <p:nvSpPr>
          <p:cNvPr id="589" name="Google Shape;589;g3388f479b56_0_301"/>
          <p:cNvSpPr txBox="1"/>
          <p:nvPr/>
        </p:nvSpPr>
        <p:spPr>
          <a:xfrm>
            <a:off x="4595700" y="0"/>
            <a:ext cx="3000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Diseño del controlador PID</a:t>
            </a:r>
            <a:endParaRPr sz="1800">
              <a:solidFill>
                <a:schemeClr val="lt1"/>
              </a:solidFill>
              <a:latin typeface="Arial"/>
              <a:ea typeface="Arial"/>
              <a:cs typeface="Arial"/>
              <a:sym typeface="Arial"/>
            </a:endParaRPr>
          </a:p>
        </p:txBody>
      </p:sp>
      <p:sp>
        <p:nvSpPr>
          <p:cNvPr id="590" name="Google Shape;590;g3388f479b56_0_301"/>
          <p:cNvSpPr txBox="1"/>
          <p:nvPr/>
        </p:nvSpPr>
        <p:spPr>
          <a:xfrm>
            <a:off x="532475" y="633500"/>
            <a:ext cx="109662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Extraemos el polinomio característico y lo compararlo con el polinomio característico genérico de tercer orden:</a:t>
            </a:r>
            <a:endParaRPr sz="1500">
              <a:latin typeface="Calibri"/>
              <a:ea typeface="Calibri"/>
              <a:cs typeface="Calibri"/>
              <a:sym typeface="Calibri"/>
            </a:endParaRPr>
          </a:p>
        </p:txBody>
      </p:sp>
      <p:pic>
        <p:nvPicPr>
          <p:cNvPr id="591" name="Google Shape;591;g3388f479b56_0_301"/>
          <p:cNvPicPr preferRelativeResize="0"/>
          <p:nvPr/>
        </p:nvPicPr>
        <p:blipFill>
          <a:blip r:embed="rId3">
            <a:alphaModFix/>
          </a:blip>
          <a:stretch>
            <a:fillRect/>
          </a:stretch>
        </p:blipFill>
        <p:spPr>
          <a:xfrm>
            <a:off x="532475" y="1049000"/>
            <a:ext cx="6400799" cy="733425"/>
          </a:xfrm>
          <a:prstGeom prst="rect">
            <a:avLst/>
          </a:prstGeom>
          <a:noFill/>
          <a:ln>
            <a:noFill/>
          </a:ln>
        </p:spPr>
      </p:pic>
      <p:pic>
        <p:nvPicPr>
          <p:cNvPr id="592" name="Google Shape;592;g3388f479b56_0_301"/>
          <p:cNvPicPr preferRelativeResize="0"/>
          <p:nvPr/>
        </p:nvPicPr>
        <p:blipFill>
          <a:blip r:embed="rId4">
            <a:alphaModFix/>
          </a:blip>
          <a:stretch>
            <a:fillRect/>
          </a:stretch>
        </p:blipFill>
        <p:spPr>
          <a:xfrm>
            <a:off x="532475" y="1904575"/>
            <a:ext cx="6400800" cy="781050"/>
          </a:xfrm>
          <a:prstGeom prst="rect">
            <a:avLst/>
          </a:prstGeom>
          <a:noFill/>
          <a:ln>
            <a:noFill/>
          </a:ln>
        </p:spPr>
      </p:pic>
      <p:sp>
        <p:nvSpPr>
          <p:cNvPr id="593" name="Google Shape;593;g3388f479b56_0_301"/>
          <p:cNvSpPr txBox="1"/>
          <p:nvPr/>
        </p:nvSpPr>
        <p:spPr>
          <a:xfrm>
            <a:off x="532475" y="3606025"/>
            <a:ext cx="109662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Por comparación podemos determinar los valores de las ganancias del controlador PID:</a:t>
            </a:r>
            <a:endParaRPr sz="1500">
              <a:latin typeface="Calibri"/>
              <a:ea typeface="Calibri"/>
              <a:cs typeface="Calibri"/>
              <a:sym typeface="Calibri"/>
            </a:endParaRPr>
          </a:p>
        </p:txBody>
      </p:sp>
      <p:pic>
        <p:nvPicPr>
          <p:cNvPr id="594" name="Google Shape;594;g3388f479b56_0_301"/>
          <p:cNvPicPr preferRelativeResize="0"/>
          <p:nvPr/>
        </p:nvPicPr>
        <p:blipFill>
          <a:blip r:embed="rId5">
            <a:alphaModFix/>
          </a:blip>
          <a:stretch>
            <a:fillRect/>
          </a:stretch>
        </p:blipFill>
        <p:spPr>
          <a:xfrm>
            <a:off x="532475" y="2812400"/>
            <a:ext cx="8036543" cy="793625"/>
          </a:xfrm>
          <a:prstGeom prst="rect">
            <a:avLst/>
          </a:prstGeom>
          <a:noFill/>
          <a:ln>
            <a:noFill/>
          </a:ln>
        </p:spPr>
      </p:pic>
      <p:pic>
        <p:nvPicPr>
          <p:cNvPr id="595" name="Google Shape;595;g3388f479b56_0_301"/>
          <p:cNvPicPr preferRelativeResize="0"/>
          <p:nvPr/>
        </p:nvPicPr>
        <p:blipFill>
          <a:blip r:embed="rId6">
            <a:alphaModFix/>
          </a:blip>
          <a:stretch>
            <a:fillRect/>
          </a:stretch>
        </p:blipFill>
        <p:spPr>
          <a:xfrm>
            <a:off x="2330825" y="5240025"/>
            <a:ext cx="1971675" cy="581025"/>
          </a:xfrm>
          <a:prstGeom prst="rect">
            <a:avLst/>
          </a:prstGeom>
          <a:noFill/>
          <a:ln>
            <a:noFill/>
          </a:ln>
        </p:spPr>
      </p:pic>
      <p:pic>
        <p:nvPicPr>
          <p:cNvPr id="596" name="Google Shape;596;g3388f479b56_0_301"/>
          <p:cNvPicPr preferRelativeResize="0"/>
          <p:nvPr/>
        </p:nvPicPr>
        <p:blipFill>
          <a:blip r:embed="rId7">
            <a:alphaModFix/>
          </a:blip>
          <a:stretch>
            <a:fillRect/>
          </a:stretch>
        </p:blipFill>
        <p:spPr>
          <a:xfrm>
            <a:off x="4675638" y="4264700"/>
            <a:ext cx="2840737" cy="25316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600" name="Shape 600"/>
        <p:cNvGrpSpPr/>
        <p:nvPr/>
      </p:nvGrpSpPr>
      <p:grpSpPr>
        <a:xfrm>
          <a:off x="0" y="0"/>
          <a:ext cx="0" cy="0"/>
          <a:chOff x="0" y="0"/>
          <a:chExt cx="0" cy="0"/>
        </a:xfrm>
      </p:grpSpPr>
      <p:pic>
        <p:nvPicPr>
          <p:cNvPr id="601" name="Google Shape;601;g3388f479b56_0_305"/>
          <p:cNvPicPr preferRelativeResize="0"/>
          <p:nvPr/>
        </p:nvPicPr>
        <p:blipFill>
          <a:blip r:embed="rId3">
            <a:alphaModFix/>
          </a:blip>
          <a:stretch>
            <a:fillRect/>
          </a:stretch>
        </p:blipFill>
        <p:spPr>
          <a:xfrm>
            <a:off x="822825" y="1572400"/>
            <a:ext cx="5417750" cy="4268800"/>
          </a:xfrm>
          <a:prstGeom prst="rect">
            <a:avLst/>
          </a:prstGeom>
          <a:noFill/>
          <a:ln>
            <a:noFill/>
          </a:ln>
        </p:spPr>
      </p:pic>
      <p:sp>
        <p:nvSpPr>
          <p:cNvPr id="602" name="Google Shape;602;g3388f479b56_0_305"/>
          <p:cNvSpPr txBox="1"/>
          <p:nvPr/>
        </p:nvSpPr>
        <p:spPr>
          <a:xfrm>
            <a:off x="4595700" y="0"/>
            <a:ext cx="3000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Diseño del controlador PID</a:t>
            </a:r>
            <a:endParaRPr sz="1800">
              <a:solidFill>
                <a:schemeClr val="lt1"/>
              </a:solidFill>
              <a:latin typeface="Arial"/>
              <a:ea typeface="Arial"/>
              <a:cs typeface="Arial"/>
              <a:sym typeface="Arial"/>
            </a:endParaRPr>
          </a:p>
        </p:txBody>
      </p:sp>
      <p:sp>
        <p:nvSpPr>
          <p:cNvPr id="603" name="Google Shape;603;g3388f479b56_0_305"/>
          <p:cNvSpPr txBox="1"/>
          <p:nvPr/>
        </p:nvSpPr>
        <p:spPr>
          <a:xfrm>
            <a:off x="532475" y="501400"/>
            <a:ext cx="109662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Posicionando los polos con frecuencia natural de 800 rad/s y 0.75 de factor de amortiguamiento (ml = 0kg):</a:t>
            </a:r>
            <a:endParaRPr sz="1500">
              <a:latin typeface="Calibri"/>
              <a:ea typeface="Calibri"/>
              <a:cs typeface="Calibri"/>
              <a:sym typeface="Calibri"/>
            </a:endParaRPr>
          </a:p>
        </p:txBody>
      </p:sp>
      <p:pic>
        <p:nvPicPr>
          <p:cNvPr id="604" name="Google Shape;604;g3388f479b56_0_305"/>
          <p:cNvPicPr preferRelativeResize="0"/>
          <p:nvPr/>
        </p:nvPicPr>
        <p:blipFill>
          <a:blip r:embed="rId4">
            <a:alphaModFix/>
          </a:blip>
          <a:stretch>
            <a:fillRect/>
          </a:stretch>
        </p:blipFill>
        <p:spPr>
          <a:xfrm>
            <a:off x="6333250" y="1049000"/>
            <a:ext cx="4875075" cy="2676525"/>
          </a:xfrm>
          <a:prstGeom prst="rect">
            <a:avLst/>
          </a:prstGeom>
          <a:noFill/>
          <a:ln>
            <a:noFill/>
          </a:ln>
        </p:spPr>
      </p:pic>
      <p:pic>
        <p:nvPicPr>
          <p:cNvPr id="605" name="Google Shape;605;g3388f479b56_0_305"/>
          <p:cNvPicPr preferRelativeResize="0"/>
          <p:nvPr/>
        </p:nvPicPr>
        <p:blipFill>
          <a:blip r:embed="rId5">
            <a:alphaModFix/>
          </a:blip>
          <a:stretch>
            <a:fillRect/>
          </a:stretch>
        </p:blipFill>
        <p:spPr>
          <a:xfrm>
            <a:off x="6333250" y="3837550"/>
            <a:ext cx="4875075" cy="27908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609" name="Shape 609"/>
        <p:cNvGrpSpPr/>
        <p:nvPr/>
      </p:nvGrpSpPr>
      <p:grpSpPr>
        <a:xfrm>
          <a:off x="0" y="0"/>
          <a:ext cx="0" cy="0"/>
          <a:chOff x="0" y="0"/>
          <a:chExt cx="0" cy="0"/>
        </a:xfrm>
      </p:grpSpPr>
      <p:pic>
        <p:nvPicPr>
          <p:cNvPr id="610" name="Google Shape;610;g3388f479b56_0_314"/>
          <p:cNvPicPr preferRelativeResize="0"/>
          <p:nvPr/>
        </p:nvPicPr>
        <p:blipFill>
          <a:blip r:embed="rId3">
            <a:alphaModFix/>
          </a:blip>
          <a:stretch>
            <a:fillRect/>
          </a:stretch>
        </p:blipFill>
        <p:spPr>
          <a:xfrm>
            <a:off x="747675" y="772675"/>
            <a:ext cx="6304225" cy="4806825"/>
          </a:xfrm>
          <a:prstGeom prst="rect">
            <a:avLst/>
          </a:prstGeom>
          <a:noFill/>
          <a:ln>
            <a:noFill/>
          </a:ln>
        </p:spPr>
      </p:pic>
      <p:sp>
        <p:nvSpPr>
          <p:cNvPr id="611" name="Google Shape;611;g3388f479b56_0_314"/>
          <p:cNvSpPr txBox="1"/>
          <p:nvPr/>
        </p:nvSpPr>
        <p:spPr>
          <a:xfrm>
            <a:off x="121125" y="5818525"/>
            <a:ext cx="11604900" cy="9975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SzPts val="1600"/>
              <a:buFont typeface="Calibri"/>
              <a:buChar char="●"/>
            </a:pPr>
            <a:r>
              <a:rPr lang="es-MX" sz="1600">
                <a:latin typeface="Calibri"/>
                <a:ea typeface="Calibri"/>
                <a:cs typeface="Calibri"/>
                <a:sym typeface="Calibri"/>
              </a:rPr>
              <a:t>Si mantenemos las ganancias pero aumenta la carga, la respuesta del sistema es </a:t>
            </a:r>
            <a:r>
              <a:rPr lang="es-MX" sz="1600">
                <a:latin typeface="Calibri"/>
                <a:ea typeface="Calibri"/>
                <a:cs typeface="Calibri"/>
                <a:sym typeface="Calibri"/>
              </a:rPr>
              <a:t>más</a:t>
            </a:r>
            <a:r>
              <a:rPr lang="es-MX" sz="1600">
                <a:latin typeface="Calibri"/>
                <a:ea typeface="Calibri"/>
                <a:cs typeface="Calibri"/>
                <a:sym typeface="Calibri"/>
              </a:rPr>
              <a:t> lenta y oscilatoria.</a:t>
            </a:r>
            <a:endParaRPr sz="1600">
              <a:latin typeface="Calibri"/>
              <a:ea typeface="Calibri"/>
              <a:cs typeface="Calibri"/>
              <a:sym typeface="Calibri"/>
            </a:endParaRPr>
          </a:p>
          <a:p>
            <a:pPr indent="-330200" lvl="0" marL="457200" rtl="0" algn="l">
              <a:lnSpc>
                <a:spcPct val="115000"/>
              </a:lnSpc>
              <a:spcBef>
                <a:spcPts val="0"/>
              </a:spcBef>
              <a:spcAft>
                <a:spcPts val="0"/>
              </a:spcAft>
              <a:buSzPts val="1600"/>
              <a:buFont typeface="Calibri"/>
              <a:buChar char="●"/>
            </a:pPr>
            <a:r>
              <a:rPr lang="es-MX" sz="1600">
                <a:latin typeface="Calibri"/>
                <a:ea typeface="Calibri"/>
                <a:cs typeface="Calibri"/>
                <a:sym typeface="Calibri"/>
              </a:rPr>
              <a:t>Si calculamos las ganancias para una carga </a:t>
            </a:r>
            <a:r>
              <a:rPr lang="es-MX" sz="1600">
                <a:latin typeface="Calibri"/>
                <a:ea typeface="Calibri"/>
                <a:cs typeface="Calibri"/>
                <a:sym typeface="Calibri"/>
              </a:rPr>
              <a:t>más</a:t>
            </a:r>
            <a:r>
              <a:rPr lang="es-MX" sz="1600">
                <a:latin typeface="Calibri"/>
                <a:ea typeface="Calibri"/>
                <a:cs typeface="Calibri"/>
                <a:sym typeface="Calibri"/>
              </a:rPr>
              <a:t> grande, manteniendo los polos, aumentan los valores de las misma, ya que debe aumentar el </a:t>
            </a:r>
            <a:r>
              <a:rPr lang="es-MX" sz="1600">
                <a:latin typeface="Calibri"/>
                <a:ea typeface="Calibri"/>
                <a:cs typeface="Calibri"/>
                <a:sym typeface="Calibri"/>
              </a:rPr>
              <a:t>esfuerzo</a:t>
            </a:r>
            <a:r>
              <a:rPr lang="es-MX" sz="1600">
                <a:latin typeface="Calibri"/>
                <a:ea typeface="Calibri"/>
                <a:cs typeface="Calibri"/>
                <a:sym typeface="Calibri"/>
              </a:rPr>
              <a:t> de control.</a:t>
            </a:r>
            <a:endParaRPr sz="1600">
              <a:latin typeface="Calibri"/>
              <a:ea typeface="Calibri"/>
              <a:cs typeface="Calibri"/>
              <a:sym typeface="Calibri"/>
            </a:endParaRPr>
          </a:p>
        </p:txBody>
      </p:sp>
      <p:sp>
        <p:nvSpPr>
          <p:cNvPr id="612" name="Google Shape;612;g3388f479b56_0_314"/>
          <p:cNvSpPr txBox="1"/>
          <p:nvPr/>
        </p:nvSpPr>
        <p:spPr>
          <a:xfrm>
            <a:off x="5034750" y="100850"/>
            <a:ext cx="2122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Migración de polos</a:t>
            </a:r>
            <a:endParaRPr sz="1800">
              <a:solidFill>
                <a:schemeClr val="lt1"/>
              </a:solidFill>
              <a:latin typeface="Arial"/>
              <a:ea typeface="Arial"/>
              <a:cs typeface="Arial"/>
              <a:sym typeface="Arial"/>
            </a:endParaRPr>
          </a:p>
        </p:txBody>
      </p:sp>
      <p:pic>
        <p:nvPicPr>
          <p:cNvPr id="613" name="Google Shape;613;g3388f479b56_0_314"/>
          <p:cNvPicPr preferRelativeResize="0"/>
          <p:nvPr/>
        </p:nvPicPr>
        <p:blipFill>
          <a:blip r:embed="rId4">
            <a:alphaModFix/>
          </a:blip>
          <a:stretch>
            <a:fillRect/>
          </a:stretch>
        </p:blipFill>
        <p:spPr>
          <a:xfrm>
            <a:off x="7802700" y="772675"/>
            <a:ext cx="3702475" cy="2245870"/>
          </a:xfrm>
          <a:prstGeom prst="rect">
            <a:avLst/>
          </a:prstGeom>
          <a:noFill/>
          <a:ln>
            <a:noFill/>
          </a:ln>
        </p:spPr>
      </p:pic>
      <p:pic>
        <p:nvPicPr>
          <p:cNvPr id="614" name="Google Shape;614;g3388f479b56_0_314"/>
          <p:cNvPicPr preferRelativeResize="0"/>
          <p:nvPr/>
        </p:nvPicPr>
        <p:blipFill>
          <a:blip r:embed="rId5">
            <a:alphaModFix/>
          </a:blip>
          <a:stretch>
            <a:fillRect/>
          </a:stretch>
        </p:blipFill>
        <p:spPr>
          <a:xfrm>
            <a:off x="7802700" y="3431075"/>
            <a:ext cx="3702474" cy="21484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618" name="Shape 618"/>
        <p:cNvGrpSpPr/>
        <p:nvPr/>
      </p:nvGrpSpPr>
      <p:grpSpPr>
        <a:xfrm>
          <a:off x="0" y="0"/>
          <a:ext cx="0" cy="0"/>
          <a:chOff x="0" y="0"/>
          <a:chExt cx="0" cy="0"/>
        </a:xfrm>
      </p:grpSpPr>
      <p:sp>
        <p:nvSpPr>
          <p:cNvPr id="619" name="Google Shape;619;g34155d50a00_0_326"/>
          <p:cNvSpPr txBox="1"/>
          <p:nvPr/>
        </p:nvSpPr>
        <p:spPr>
          <a:xfrm>
            <a:off x="406200" y="2315400"/>
            <a:ext cx="11379600" cy="1857900"/>
          </a:xfrm>
          <a:prstGeom prst="rect">
            <a:avLst/>
          </a:prstGeom>
          <a:noFill/>
          <a:ln>
            <a:noFill/>
          </a:ln>
        </p:spPr>
        <p:txBody>
          <a:bodyPr anchorCtr="0" anchor="t" bIns="91425" lIns="91425" spcFirstLastPara="1" rIns="91425" wrap="square" tIns="91425">
            <a:spAutoFit/>
          </a:bodyPr>
          <a:lstStyle/>
          <a:p>
            <a:pPr indent="-361950" lvl="0" marL="457200" rtl="0" algn="l">
              <a:lnSpc>
                <a:spcPct val="115000"/>
              </a:lnSpc>
              <a:spcBef>
                <a:spcPts val="1200"/>
              </a:spcBef>
              <a:spcAft>
                <a:spcPts val="0"/>
              </a:spcAft>
              <a:buSzPts val="2100"/>
              <a:buChar char="●"/>
            </a:pPr>
            <a:r>
              <a:rPr lang="es-MX" sz="1900">
                <a:latin typeface="Calibri"/>
                <a:ea typeface="Calibri"/>
                <a:cs typeface="Calibri"/>
                <a:sym typeface="Calibri"/>
              </a:rPr>
              <a:t>Por teorema del valor final, podemos ver que la posición sigue a la consigna que se le da al controlador PID.</a:t>
            </a:r>
            <a:endParaRPr sz="1900">
              <a:latin typeface="Calibri"/>
              <a:ea typeface="Calibri"/>
              <a:cs typeface="Calibri"/>
              <a:sym typeface="Calibri"/>
            </a:endParaRPr>
          </a:p>
          <a:p>
            <a:pPr indent="-349250" lvl="0" marL="457200" rtl="0" algn="l">
              <a:lnSpc>
                <a:spcPct val="115000"/>
              </a:lnSpc>
              <a:spcBef>
                <a:spcPts val="0"/>
              </a:spcBef>
              <a:spcAft>
                <a:spcPts val="0"/>
              </a:spcAft>
              <a:buSzPts val="1900"/>
              <a:buFont typeface="Calibri"/>
              <a:buChar char="●"/>
            </a:pPr>
            <a:r>
              <a:rPr lang="es-MX" sz="1900">
                <a:latin typeface="Calibri"/>
                <a:ea typeface="Calibri"/>
                <a:cs typeface="Calibri"/>
                <a:sym typeface="Calibri"/>
              </a:rPr>
              <a:t>Gl(s) tiene un cero en origen </a:t>
            </a:r>
            <a:r>
              <a:rPr lang="es-MX" sz="1900">
                <a:latin typeface="Calibri"/>
                <a:ea typeface="Calibri"/>
                <a:cs typeface="Calibri"/>
                <a:sym typeface="Calibri"/>
              </a:rPr>
              <a:t>cancelando</a:t>
            </a:r>
            <a:r>
              <a:rPr lang="es-MX" sz="1900">
                <a:latin typeface="Calibri"/>
                <a:ea typeface="Calibri"/>
                <a:cs typeface="Calibri"/>
                <a:sym typeface="Calibri"/>
              </a:rPr>
              <a:t> el efecto de una perturbación </a:t>
            </a:r>
            <a:r>
              <a:rPr lang="es-MX" sz="1900">
                <a:latin typeface="Calibri"/>
                <a:ea typeface="Calibri"/>
                <a:cs typeface="Calibri"/>
                <a:sym typeface="Calibri"/>
              </a:rPr>
              <a:t>constante.</a:t>
            </a:r>
            <a:endParaRPr sz="1900">
              <a:latin typeface="Calibri"/>
              <a:ea typeface="Calibri"/>
              <a:cs typeface="Calibri"/>
              <a:sym typeface="Calibri"/>
            </a:endParaRPr>
          </a:p>
          <a:p>
            <a:pPr indent="-349250" lvl="0" marL="457200" rtl="0" algn="l">
              <a:lnSpc>
                <a:spcPct val="115000"/>
              </a:lnSpc>
              <a:spcBef>
                <a:spcPts val="0"/>
              </a:spcBef>
              <a:spcAft>
                <a:spcPts val="0"/>
              </a:spcAft>
              <a:buSzPts val="1900"/>
              <a:buFont typeface="Calibri"/>
              <a:buChar char="●"/>
            </a:pPr>
            <a:r>
              <a:rPr lang="es-MX" sz="1900">
                <a:latin typeface="Calibri"/>
                <a:ea typeface="Calibri"/>
                <a:cs typeface="Calibri"/>
                <a:sym typeface="Calibri"/>
              </a:rPr>
              <a:t>Sin acción integral se tendría error de estado estacionario cuando se tiene presente una carga, ya que al aplicar el teorema del valor final:  Gl(s→0) = 1/Ksa.</a:t>
            </a:r>
            <a:endParaRPr sz="1900">
              <a:latin typeface="Calibri"/>
              <a:ea typeface="Calibri"/>
              <a:cs typeface="Calibri"/>
              <a:sym typeface="Calibri"/>
            </a:endParaRPr>
          </a:p>
          <a:p>
            <a:pPr indent="-349250" lvl="0" marL="457200" rtl="0" algn="l">
              <a:lnSpc>
                <a:spcPct val="115000"/>
              </a:lnSpc>
              <a:spcBef>
                <a:spcPts val="0"/>
              </a:spcBef>
              <a:spcAft>
                <a:spcPts val="0"/>
              </a:spcAft>
              <a:buSzPts val="1900"/>
              <a:buFont typeface="Calibri"/>
              <a:buChar char="●"/>
            </a:pPr>
            <a:r>
              <a:rPr lang="es-MX" sz="1900">
                <a:latin typeface="Calibri"/>
                <a:ea typeface="Calibri"/>
                <a:cs typeface="Calibri"/>
                <a:sym typeface="Calibri"/>
              </a:rPr>
              <a:t>Con más integradores </a:t>
            </a:r>
            <a:r>
              <a:rPr lang="es-MX" sz="1900">
                <a:latin typeface="Calibri"/>
                <a:ea typeface="Calibri"/>
                <a:cs typeface="Calibri"/>
                <a:sym typeface="Calibri"/>
              </a:rPr>
              <a:t>compensamos</a:t>
            </a:r>
            <a:r>
              <a:rPr lang="es-MX" sz="1900">
                <a:latin typeface="Calibri"/>
                <a:ea typeface="Calibri"/>
                <a:cs typeface="Calibri"/>
                <a:sym typeface="Calibri"/>
              </a:rPr>
              <a:t> cargas más </a:t>
            </a:r>
            <a:r>
              <a:rPr lang="es-MX" sz="1900">
                <a:latin typeface="Calibri"/>
                <a:ea typeface="Calibri"/>
                <a:cs typeface="Calibri"/>
                <a:sym typeface="Calibri"/>
              </a:rPr>
              <a:t>complejas</a:t>
            </a:r>
            <a:r>
              <a:rPr lang="es-MX" sz="1900">
                <a:latin typeface="Calibri"/>
                <a:ea typeface="Calibri"/>
                <a:cs typeface="Calibri"/>
                <a:sym typeface="Calibri"/>
              </a:rPr>
              <a:t> como </a:t>
            </a:r>
            <a:r>
              <a:rPr lang="es-MX" sz="1900">
                <a:latin typeface="Calibri"/>
                <a:ea typeface="Calibri"/>
                <a:cs typeface="Calibri"/>
                <a:sym typeface="Calibri"/>
              </a:rPr>
              <a:t>rampas</a:t>
            </a:r>
            <a:r>
              <a:rPr lang="es-MX" sz="1900">
                <a:latin typeface="Calibri"/>
                <a:ea typeface="Calibri"/>
                <a:cs typeface="Calibri"/>
                <a:sym typeface="Calibri"/>
              </a:rPr>
              <a:t> y parábolas.</a:t>
            </a:r>
            <a:endParaRPr sz="1900">
              <a:latin typeface="Calibri"/>
              <a:ea typeface="Calibri"/>
              <a:cs typeface="Calibri"/>
              <a:sym typeface="Calibri"/>
            </a:endParaRPr>
          </a:p>
        </p:txBody>
      </p:sp>
      <p:sp>
        <p:nvSpPr>
          <p:cNvPr id="620" name="Google Shape;620;g34155d50a00_0_326"/>
          <p:cNvSpPr txBox="1"/>
          <p:nvPr/>
        </p:nvSpPr>
        <p:spPr>
          <a:xfrm>
            <a:off x="3514250" y="1550400"/>
            <a:ext cx="48417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MX" sz="1800">
                <a:latin typeface="Cambria Math"/>
                <a:ea typeface="Cambria Math"/>
                <a:cs typeface="Cambria Math"/>
                <a:sym typeface="Cambria Math"/>
              </a:rPr>
              <a:t>Conclusiones del diseño del controlador PID</a:t>
            </a:r>
            <a:endParaRPr sz="1800">
              <a:solidFill>
                <a:schemeClr val="lt1"/>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624" name="Shape 624"/>
        <p:cNvGrpSpPr/>
        <p:nvPr/>
      </p:nvGrpSpPr>
      <p:grpSpPr>
        <a:xfrm>
          <a:off x="0" y="0"/>
          <a:ext cx="0" cy="0"/>
          <a:chOff x="0" y="0"/>
          <a:chExt cx="0" cy="0"/>
        </a:xfrm>
      </p:grpSpPr>
      <p:sp>
        <p:nvSpPr>
          <p:cNvPr id="625" name="Google Shape;625;g3388f479b56_0_321"/>
          <p:cNvSpPr txBox="1"/>
          <p:nvPr/>
        </p:nvSpPr>
        <p:spPr>
          <a:xfrm>
            <a:off x="4525200" y="71550"/>
            <a:ext cx="3631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Observador reducido de estados</a:t>
            </a:r>
            <a:endParaRPr sz="1800">
              <a:solidFill>
                <a:schemeClr val="lt1"/>
              </a:solidFill>
              <a:latin typeface="Arial"/>
              <a:ea typeface="Arial"/>
              <a:cs typeface="Arial"/>
              <a:sym typeface="Arial"/>
            </a:endParaRPr>
          </a:p>
        </p:txBody>
      </p:sp>
      <p:sp>
        <p:nvSpPr>
          <p:cNvPr id="626" name="Google Shape;626;g3388f479b56_0_321"/>
          <p:cNvSpPr txBox="1"/>
          <p:nvPr/>
        </p:nvSpPr>
        <p:spPr>
          <a:xfrm>
            <a:off x="7199975" y="3669188"/>
            <a:ext cx="4031100" cy="12807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SzPts val="1600"/>
              <a:buFont typeface="Calibri"/>
              <a:buChar char="●"/>
            </a:pPr>
            <a:r>
              <a:rPr lang="es-MX" sz="1600">
                <a:latin typeface="Calibri"/>
                <a:ea typeface="Calibri"/>
                <a:cs typeface="Calibri"/>
                <a:sym typeface="Calibri"/>
              </a:rPr>
              <a:t>Sistema completamente observable</a:t>
            </a:r>
            <a:endParaRPr sz="1600">
              <a:latin typeface="Calibri"/>
              <a:ea typeface="Calibri"/>
              <a:cs typeface="Calibri"/>
              <a:sym typeface="Calibri"/>
            </a:endParaRPr>
          </a:p>
          <a:p>
            <a:pPr indent="-330200" lvl="0" marL="457200" rtl="0" algn="l">
              <a:lnSpc>
                <a:spcPct val="115000"/>
              </a:lnSpc>
              <a:spcBef>
                <a:spcPts val="0"/>
              </a:spcBef>
              <a:spcAft>
                <a:spcPts val="0"/>
              </a:spcAft>
              <a:buSzPts val="1600"/>
              <a:buFont typeface="Calibri"/>
              <a:buChar char="●"/>
            </a:pPr>
            <a:r>
              <a:rPr lang="es-MX" sz="1600">
                <a:latin typeface="Calibri"/>
                <a:ea typeface="Calibri"/>
                <a:cs typeface="Calibri"/>
                <a:sym typeface="Calibri"/>
              </a:rPr>
              <a:t>Estimación de la velocidad</a:t>
            </a:r>
            <a:endParaRPr sz="1600">
              <a:latin typeface="Calibri"/>
              <a:ea typeface="Calibri"/>
              <a:cs typeface="Calibri"/>
              <a:sym typeface="Calibri"/>
            </a:endParaRPr>
          </a:p>
          <a:p>
            <a:pPr indent="-330200" lvl="0" marL="457200" rtl="0" algn="l">
              <a:lnSpc>
                <a:spcPct val="115000"/>
              </a:lnSpc>
              <a:spcBef>
                <a:spcPts val="0"/>
              </a:spcBef>
              <a:spcAft>
                <a:spcPts val="0"/>
              </a:spcAft>
              <a:buSzPts val="1600"/>
              <a:buFont typeface="Calibri"/>
              <a:buChar char="●"/>
            </a:pPr>
            <a:r>
              <a:rPr lang="es-MX" sz="1600">
                <a:latin typeface="Calibri"/>
                <a:ea typeface="Calibri"/>
                <a:cs typeface="Calibri"/>
                <a:sym typeface="Calibri"/>
              </a:rPr>
              <a:t>Perturbación nula</a:t>
            </a:r>
            <a:endParaRPr sz="1600">
              <a:latin typeface="Calibri"/>
              <a:ea typeface="Calibri"/>
              <a:cs typeface="Calibri"/>
              <a:sym typeface="Calibri"/>
            </a:endParaRPr>
          </a:p>
          <a:p>
            <a:pPr indent="-330200" lvl="0" marL="457200" rtl="0" algn="l">
              <a:lnSpc>
                <a:spcPct val="115000"/>
              </a:lnSpc>
              <a:spcBef>
                <a:spcPts val="0"/>
              </a:spcBef>
              <a:spcAft>
                <a:spcPts val="0"/>
              </a:spcAft>
              <a:buSzPts val="1600"/>
              <a:buFont typeface="Calibri"/>
              <a:buChar char="●"/>
            </a:pPr>
            <a:r>
              <a:rPr lang="es-MX" sz="1600">
                <a:latin typeface="Calibri"/>
                <a:ea typeface="Calibri"/>
                <a:cs typeface="Calibri"/>
                <a:sym typeface="Calibri"/>
              </a:rPr>
              <a:t>Condiciones iniciales nulas</a:t>
            </a:r>
            <a:endParaRPr sz="1600">
              <a:latin typeface="Calibri"/>
              <a:ea typeface="Calibri"/>
              <a:cs typeface="Calibri"/>
              <a:sym typeface="Calibri"/>
            </a:endParaRPr>
          </a:p>
        </p:txBody>
      </p:sp>
      <p:sp>
        <p:nvSpPr>
          <p:cNvPr id="627" name="Google Shape;627;g3388f479b56_0_321"/>
          <p:cNvSpPr txBox="1"/>
          <p:nvPr/>
        </p:nvSpPr>
        <p:spPr>
          <a:xfrm>
            <a:off x="532475" y="633500"/>
            <a:ext cx="10966200" cy="6810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Debido a la falta de un sensor de velocidad, la cual es utilizada tanto de los desacoples, como para obtener el error, se implementará un observador reducido de estados.</a:t>
            </a:r>
            <a:endParaRPr sz="1500">
              <a:latin typeface="Calibri"/>
              <a:ea typeface="Calibri"/>
              <a:cs typeface="Calibri"/>
              <a:sym typeface="Calibri"/>
            </a:endParaRPr>
          </a:p>
        </p:txBody>
      </p:sp>
      <p:pic>
        <p:nvPicPr>
          <p:cNvPr id="628" name="Google Shape;628;g3388f479b56_0_321"/>
          <p:cNvPicPr preferRelativeResize="0"/>
          <p:nvPr/>
        </p:nvPicPr>
        <p:blipFill>
          <a:blip r:embed="rId3">
            <a:alphaModFix/>
          </a:blip>
          <a:stretch>
            <a:fillRect/>
          </a:stretch>
        </p:blipFill>
        <p:spPr>
          <a:xfrm>
            <a:off x="532475" y="1314500"/>
            <a:ext cx="5314950" cy="2009775"/>
          </a:xfrm>
          <a:prstGeom prst="rect">
            <a:avLst/>
          </a:prstGeom>
          <a:noFill/>
          <a:ln>
            <a:noFill/>
          </a:ln>
        </p:spPr>
      </p:pic>
      <p:pic>
        <p:nvPicPr>
          <p:cNvPr id="629" name="Google Shape;629;g3388f479b56_0_321"/>
          <p:cNvPicPr preferRelativeResize="0"/>
          <p:nvPr/>
        </p:nvPicPr>
        <p:blipFill>
          <a:blip r:embed="rId4">
            <a:alphaModFix/>
          </a:blip>
          <a:stretch>
            <a:fillRect/>
          </a:stretch>
        </p:blipFill>
        <p:spPr>
          <a:xfrm>
            <a:off x="532475" y="3466575"/>
            <a:ext cx="6667500" cy="1685925"/>
          </a:xfrm>
          <a:prstGeom prst="rect">
            <a:avLst/>
          </a:prstGeom>
          <a:noFill/>
          <a:ln>
            <a:noFill/>
          </a:ln>
        </p:spPr>
      </p:pic>
      <p:pic>
        <p:nvPicPr>
          <p:cNvPr id="630" name="Google Shape;630;g3388f479b56_0_321"/>
          <p:cNvPicPr preferRelativeResize="0"/>
          <p:nvPr/>
        </p:nvPicPr>
        <p:blipFill>
          <a:blip r:embed="rId5">
            <a:alphaModFix/>
          </a:blip>
          <a:stretch>
            <a:fillRect/>
          </a:stretch>
        </p:blipFill>
        <p:spPr>
          <a:xfrm>
            <a:off x="532475" y="5395775"/>
            <a:ext cx="2068783" cy="1157425"/>
          </a:xfrm>
          <a:prstGeom prst="rect">
            <a:avLst/>
          </a:prstGeom>
          <a:noFill/>
          <a:ln>
            <a:noFill/>
          </a:ln>
        </p:spPr>
      </p:pic>
      <p:pic>
        <p:nvPicPr>
          <p:cNvPr id="631" name="Google Shape;631;g3388f479b56_0_321"/>
          <p:cNvPicPr preferRelativeResize="0"/>
          <p:nvPr/>
        </p:nvPicPr>
        <p:blipFill>
          <a:blip r:embed="rId6">
            <a:alphaModFix/>
          </a:blip>
          <a:stretch>
            <a:fillRect/>
          </a:stretch>
        </p:blipFill>
        <p:spPr>
          <a:xfrm>
            <a:off x="2723383" y="5395775"/>
            <a:ext cx="1926286" cy="1157425"/>
          </a:xfrm>
          <a:prstGeom prst="rect">
            <a:avLst/>
          </a:prstGeom>
          <a:noFill/>
          <a:ln>
            <a:noFill/>
          </a:ln>
        </p:spPr>
      </p:pic>
      <p:pic>
        <p:nvPicPr>
          <p:cNvPr id="632" name="Google Shape;632;g3388f479b56_0_321"/>
          <p:cNvPicPr preferRelativeResize="0"/>
          <p:nvPr/>
        </p:nvPicPr>
        <p:blipFill>
          <a:blip r:embed="rId7">
            <a:alphaModFix/>
          </a:blip>
          <a:stretch>
            <a:fillRect/>
          </a:stretch>
        </p:blipFill>
        <p:spPr>
          <a:xfrm>
            <a:off x="7049825" y="5545850"/>
            <a:ext cx="2686050" cy="857250"/>
          </a:xfrm>
          <a:prstGeom prst="rect">
            <a:avLst/>
          </a:prstGeom>
          <a:noFill/>
          <a:ln>
            <a:noFill/>
          </a:ln>
        </p:spPr>
      </p:pic>
      <p:pic>
        <p:nvPicPr>
          <p:cNvPr id="633" name="Google Shape;633;g3388f479b56_0_321"/>
          <p:cNvPicPr preferRelativeResize="0"/>
          <p:nvPr/>
        </p:nvPicPr>
        <p:blipFill>
          <a:blip r:embed="rId8">
            <a:alphaModFix/>
          </a:blip>
          <a:stretch>
            <a:fillRect/>
          </a:stretch>
        </p:blipFill>
        <p:spPr>
          <a:xfrm>
            <a:off x="4783700" y="5395775"/>
            <a:ext cx="1926300" cy="117358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637" name="Shape 637"/>
        <p:cNvGrpSpPr/>
        <p:nvPr/>
      </p:nvGrpSpPr>
      <p:grpSpPr>
        <a:xfrm>
          <a:off x="0" y="0"/>
          <a:ext cx="0" cy="0"/>
          <a:chOff x="0" y="0"/>
          <a:chExt cx="0" cy="0"/>
        </a:xfrm>
      </p:grpSpPr>
      <p:sp>
        <p:nvSpPr>
          <p:cNvPr id="638" name="Google Shape;638;g3388f479b56_0_332"/>
          <p:cNvSpPr txBox="1"/>
          <p:nvPr/>
        </p:nvSpPr>
        <p:spPr>
          <a:xfrm>
            <a:off x="4525200" y="71550"/>
            <a:ext cx="3631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Observador reducido de estados</a:t>
            </a:r>
            <a:endParaRPr sz="1800">
              <a:solidFill>
                <a:schemeClr val="lt1"/>
              </a:solidFill>
              <a:latin typeface="Arial"/>
              <a:ea typeface="Arial"/>
              <a:cs typeface="Arial"/>
              <a:sym typeface="Arial"/>
            </a:endParaRPr>
          </a:p>
        </p:txBody>
      </p:sp>
      <p:sp>
        <p:nvSpPr>
          <p:cNvPr id="639" name="Google Shape;639;g3388f479b56_0_332"/>
          <p:cNvSpPr txBox="1"/>
          <p:nvPr/>
        </p:nvSpPr>
        <p:spPr>
          <a:xfrm>
            <a:off x="492775" y="749913"/>
            <a:ext cx="109662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Definiendo el error como:</a:t>
            </a:r>
            <a:endParaRPr sz="1500">
              <a:latin typeface="Calibri"/>
              <a:ea typeface="Calibri"/>
              <a:cs typeface="Calibri"/>
              <a:sym typeface="Calibri"/>
            </a:endParaRPr>
          </a:p>
        </p:txBody>
      </p:sp>
      <p:pic>
        <p:nvPicPr>
          <p:cNvPr id="640" name="Google Shape;640;g3388f479b56_0_332"/>
          <p:cNvPicPr preferRelativeResize="0"/>
          <p:nvPr/>
        </p:nvPicPr>
        <p:blipFill>
          <a:blip r:embed="rId3">
            <a:alphaModFix/>
          </a:blip>
          <a:stretch>
            <a:fillRect/>
          </a:stretch>
        </p:blipFill>
        <p:spPr>
          <a:xfrm>
            <a:off x="492775" y="1165413"/>
            <a:ext cx="3171825" cy="733425"/>
          </a:xfrm>
          <a:prstGeom prst="rect">
            <a:avLst/>
          </a:prstGeom>
          <a:noFill/>
          <a:ln>
            <a:noFill/>
          </a:ln>
        </p:spPr>
      </p:pic>
      <p:pic>
        <p:nvPicPr>
          <p:cNvPr id="641" name="Google Shape;641;g3388f479b56_0_332"/>
          <p:cNvPicPr preferRelativeResize="0"/>
          <p:nvPr/>
        </p:nvPicPr>
        <p:blipFill>
          <a:blip r:embed="rId4">
            <a:alphaModFix/>
          </a:blip>
          <a:stretch>
            <a:fillRect/>
          </a:stretch>
        </p:blipFill>
        <p:spPr>
          <a:xfrm>
            <a:off x="492775" y="2314338"/>
            <a:ext cx="5993130" cy="733425"/>
          </a:xfrm>
          <a:prstGeom prst="rect">
            <a:avLst/>
          </a:prstGeom>
          <a:noFill/>
          <a:ln>
            <a:noFill/>
          </a:ln>
        </p:spPr>
      </p:pic>
      <p:sp>
        <p:nvSpPr>
          <p:cNvPr id="642" name="Google Shape;642;g3388f479b56_0_332"/>
          <p:cNvSpPr txBox="1"/>
          <p:nvPr/>
        </p:nvSpPr>
        <p:spPr>
          <a:xfrm>
            <a:off x="492775" y="1898838"/>
            <a:ext cx="109662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Desarrollando la expresión matricial obtenemos:</a:t>
            </a:r>
            <a:endParaRPr sz="1500">
              <a:latin typeface="Calibri"/>
              <a:ea typeface="Calibri"/>
              <a:cs typeface="Calibri"/>
              <a:sym typeface="Calibri"/>
            </a:endParaRPr>
          </a:p>
        </p:txBody>
      </p:sp>
      <p:sp>
        <p:nvSpPr>
          <p:cNvPr id="643" name="Google Shape;643;g3388f479b56_0_332"/>
          <p:cNvSpPr txBox="1"/>
          <p:nvPr/>
        </p:nvSpPr>
        <p:spPr>
          <a:xfrm>
            <a:off x="492775" y="3047763"/>
            <a:ext cx="109662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Cuyo polinomio </a:t>
            </a:r>
            <a:r>
              <a:rPr lang="es-MX" sz="1500">
                <a:latin typeface="Calibri"/>
                <a:ea typeface="Calibri"/>
                <a:cs typeface="Calibri"/>
                <a:sym typeface="Calibri"/>
              </a:rPr>
              <a:t>característico</a:t>
            </a:r>
            <a:r>
              <a:rPr lang="es-MX" sz="1500">
                <a:latin typeface="Calibri"/>
                <a:ea typeface="Calibri"/>
                <a:cs typeface="Calibri"/>
                <a:sym typeface="Calibri"/>
              </a:rPr>
              <a:t> es:</a:t>
            </a:r>
            <a:endParaRPr sz="1500">
              <a:latin typeface="Calibri"/>
              <a:ea typeface="Calibri"/>
              <a:cs typeface="Calibri"/>
              <a:sym typeface="Calibri"/>
            </a:endParaRPr>
          </a:p>
        </p:txBody>
      </p:sp>
      <p:pic>
        <p:nvPicPr>
          <p:cNvPr id="644" name="Google Shape;644;g3388f479b56_0_332"/>
          <p:cNvPicPr preferRelativeResize="0"/>
          <p:nvPr/>
        </p:nvPicPr>
        <p:blipFill>
          <a:blip r:embed="rId5">
            <a:alphaModFix/>
          </a:blip>
          <a:stretch>
            <a:fillRect/>
          </a:stretch>
        </p:blipFill>
        <p:spPr>
          <a:xfrm>
            <a:off x="415250" y="3403563"/>
            <a:ext cx="4831976" cy="733425"/>
          </a:xfrm>
          <a:prstGeom prst="rect">
            <a:avLst/>
          </a:prstGeom>
          <a:noFill/>
          <a:ln>
            <a:noFill/>
          </a:ln>
        </p:spPr>
      </p:pic>
      <p:pic>
        <p:nvPicPr>
          <p:cNvPr id="645" name="Google Shape;645;g3388f479b56_0_332"/>
          <p:cNvPicPr preferRelativeResize="0"/>
          <p:nvPr/>
        </p:nvPicPr>
        <p:blipFill>
          <a:blip r:embed="rId6">
            <a:alphaModFix/>
          </a:blip>
          <a:stretch>
            <a:fillRect/>
          </a:stretch>
        </p:blipFill>
        <p:spPr>
          <a:xfrm>
            <a:off x="415250" y="4279288"/>
            <a:ext cx="4831975" cy="18288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649" name="Shape 649"/>
        <p:cNvGrpSpPr/>
        <p:nvPr/>
      </p:nvGrpSpPr>
      <p:grpSpPr>
        <a:xfrm>
          <a:off x="0" y="0"/>
          <a:ext cx="0" cy="0"/>
          <a:chOff x="0" y="0"/>
          <a:chExt cx="0" cy="0"/>
        </a:xfrm>
      </p:grpSpPr>
      <p:pic>
        <p:nvPicPr>
          <p:cNvPr id="650" name="Google Shape;650;g3388f479b56_0_338"/>
          <p:cNvPicPr preferRelativeResize="0"/>
          <p:nvPr/>
        </p:nvPicPr>
        <p:blipFill>
          <a:blip r:embed="rId3">
            <a:alphaModFix/>
          </a:blip>
          <a:stretch>
            <a:fillRect/>
          </a:stretch>
        </p:blipFill>
        <p:spPr>
          <a:xfrm>
            <a:off x="2001425" y="725750"/>
            <a:ext cx="8189151" cy="5009649"/>
          </a:xfrm>
          <a:prstGeom prst="rect">
            <a:avLst/>
          </a:prstGeom>
          <a:noFill/>
          <a:ln>
            <a:noFill/>
          </a:ln>
        </p:spPr>
      </p:pic>
      <p:sp>
        <p:nvSpPr>
          <p:cNvPr id="651" name="Google Shape;651;g3388f479b56_0_338"/>
          <p:cNvSpPr txBox="1"/>
          <p:nvPr/>
        </p:nvSpPr>
        <p:spPr>
          <a:xfrm>
            <a:off x="4525200" y="71550"/>
            <a:ext cx="3631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Observador reducido de estados</a:t>
            </a:r>
            <a:endParaRPr sz="1800">
              <a:solidFill>
                <a:schemeClr val="lt1"/>
              </a:solidFill>
              <a:latin typeface="Arial"/>
              <a:ea typeface="Arial"/>
              <a:cs typeface="Arial"/>
              <a:sym typeface="Arial"/>
            </a:endParaRPr>
          </a:p>
        </p:txBody>
      </p:sp>
      <p:sp>
        <p:nvSpPr>
          <p:cNvPr id="652" name="Google Shape;652;g3388f479b56_0_338"/>
          <p:cNvSpPr txBox="1"/>
          <p:nvPr/>
        </p:nvSpPr>
        <p:spPr>
          <a:xfrm>
            <a:off x="857700" y="6228600"/>
            <a:ext cx="109662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Debido a la dinámica del error de estimación, si se tiene una perturbación, se tendrá un error de estado estacionario.</a:t>
            </a:r>
            <a:endParaRPr sz="1500">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656" name="Shape 656"/>
        <p:cNvGrpSpPr/>
        <p:nvPr/>
      </p:nvGrpSpPr>
      <p:grpSpPr>
        <a:xfrm>
          <a:off x="0" y="0"/>
          <a:ext cx="0" cy="0"/>
          <a:chOff x="0" y="0"/>
          <a:chExt cx="0" cy="0"/>
        </a:xfrm>
      </p:grpSpPr>
      <p:sp>
        <p:nvSpPr>
          <p:cNvPr id="657" name="Google Shape;657;g3388f479b56_0_343"/>
          <p:cNvSpPr txBox="1"/>
          <p:nvPr/>
        </p:nvSpPr>
        <p:spPr>
          <a:xfrm>
            <a:off x="75475" y="673525"/>
            <a:ext cx="109662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Se incorporará un término integral en el observador, para mejorar el rechazo de perturbaciones.</a:t>
            </a:r>
            <a:endParaRPr sz="1500">
              <a:latin typeface="Calibri"/>
              <a:ea typeface="Calibri"/>
              <a:cs typeface="Calibri"/>
              <a:sym typeface="Calibri"/>
            </a:endParaRPr>
          </a:p>
        </p:txBody>
      </p:sp>
      <p:sp>
        <p:nvSpPr>
          <p:cNvPr id="658" name="Google Shape;658;g3388f479b56_0_343"/>
          <p:cNvSpPr txBox="1"/>
          <p:nvPr/>
        </p:nvSpPr>
        <p:spPr>
          <a:xfrm>
            <a:off x="4525200" y="71550"/>
            <a:ext cx="3631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Observador reducido de estados</a:t>
            </a:r>
            <a:endParaRPr sz="1800">
              <a:solidFill>
                <a:schemeClr val="lt1"/>
              </a:solidFill>
              <a:latin typeface="Arial"/>
              <a:ea typeface="Arial"/>
              <a:cs typeface="Arial"/>
              <a:sym typeface="Arial"/>
            </a:endParaRPr>
          </a:p>
        </p:txBody>
      </p:sp>
      <p:pic>
        <p:nvPicPr>
          <p:cNvPr id="659" name="Google Shape;659;g3388f479b56_0_343"/>
          <p:cNvPicPr preferRelativeResize="0"/>
          <p:nvPr/>
        </p:nvPicPr>
        <p:blipFill>
          <a:blip r:embed="rId3">
            <a:alphaModFix/>
          </a:blip>
          <a:stretch>
            <a:fillRect/>
          </a:stretch>
        </p:blipFill>
        <p:spPr>
          <a:xfrm>
            <a:off x="152400" y="1089025"/>
            <a:ext cx="7887699" cy="2052459"/>
          </a:xfrm>
          <a:prstGeom prst="rect">
            <a:avLst/>
          </a:prstGeom>
          <a:noFill/>
          <a:ln>
            <a:noFill/>
          </a:ln>
        </p:spPr>
      </p:pic>
      <p:sp>
        <p:nvSpPr>
          <p:cNvPr id="660" name="Google Shape;660;g3388f479b56_0_343"/>
          <p:cNvSpPr txBox="1"/>
          <p:nvPr/>
        </p:nvSpPr>
        <p:spPr>
          <a:xfrm>
            <a:off x="152400" y="3141475"/>
            <a:ext cx="109662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Polinomio característico nuevo será:</a:t>
            </a:r>
            <a:endParaRPr sz="1500">
              <a:latin typeface="Calibri"/>
              <a:ea typeface="Calibri"/>
              <a:cs typeface="Calibri"/>
              <a:sym typeface="Calibri"/>
            </a:endParaRPr>
          </a:p>
        </p:txBody>
      </p:sp>
      <p:pic>
        <p:nvPicPr>
          <p:cNvPr id="661" name="Google Shape;661;g3388f479b56_0_343"/>
          <p:cNvPicPr preferRelativeResize="0"/>
          <p:nvPr/>
        </p:nvPicPr>
        <p:blipFill>
          <a:blip r:embed="rId4">
            <a:alphaModFix/>
          </a:blip>
          <a:stretch>
            <a:fillRect/>
          </a:stretch>
        </p:blipFill>
        <p:spPr>
          <a:xfrm>
            <a:off x="152400" y="3556975"/>
            <a:ext cx="5981700" cy="809625"/>
          </a:xfrm>
          <a:prstGeom prst="rect">
            <a:avLst/>
          </a:prstGeom>
          <a:noFill/>
          <a:ln>
            <a:noFill/>
          </a:ln>
        </p:spPr>
      </p:pic>
      <p:pic>
        <p:nvPicPr>
          <p:cNvPr id="662" name="Google Shape;662;g3388f479b56_0_343"/>
          <p:cNvPicPr preferRelativeResize="0"/>
          <p:nvPr/>
        </p:nvPicPr>
        <p:blipFill>
          <a:blip r:embed="rId5">
            <a:alphaModFix/>
          </a:blip>
          <a:stretch>
            <a:fillRect/>
          </a:stretch>
        </p:blipFill>
        <p:spPr>
          <a:xfrm>
            <a:off x="152400" y="4508925"/>
            <a:ext cx="10125075" cy="809625"/>
          </a:xfrm>
          <a:prstGeom prst="rect">
            <a:avLst/>
          </a:prstGeom>
          <a:noFill/>
          <a:ln>
            <a:noFill/>
          </a:ln>
        </p:spPr>
      </p:pic>
      <p:pic>
        <p:nvPicPr>
          <p:cNvPr id="663" name="Google Shape;663;g3388f479b56_0_343"/>
          <p:cNvPicPr preferRelativeResize="0"/>
          <p:nvPr/>
        </p:nvPicPr>
        <p:blipFill>
          <a:blip r:embed="rId6">
            <a:alphaModFix/>
          </a:blip>
          <a:stretch>
            <a:fillRect/>
          </a:stretch>
        </p:blipFill>
        <p:spPr>
          <a:xfrm>
            <a:off x="152400" y="5460875"/>
            <a:ext cx="3560325" cy="712075"/>
          </a:xfrm>
          <a:prstGeom prst="rect">
            <a:avLst/>
          </a:prstGeom>
          <a:noFill/>
          <a:ln>
            <a:noFill/>
          </a:ln>
        </p:spPr>
      </p:pic>
      <p:pic>
        <p:nvPicPr>
          <p:cNvPr id="664" name="Google Shape;664;g3388f479b56_0_343"/>
          <p:cNvPicPr preferRelativeResize="0"/>
          <p:nvPr/>
        </p:nvPicPr>
        <p:blipFill>
          <a:blip r:embed="rId7">
            <a:alphaModFix/>
          </a:blip>
          <a:stretch>
            <a:fillRect/>
          </a:stretch>
        </p:blipFill>
        <p:spPr>
          <a:xfrm>
            <a:off x="3822900" y="5460875"/>
            <a:ext cx="4025102" cy="712075"/>
          </a:xfrm>
          <a:prstGeom prst="rect">
            <a:avLst/>
          </a:prstGeom>
          <a:noFill/>
          <a:ln>
            <a:noFill/>
          </a:ln>
        </p:spPr>
      </p:pic>
      <p:pic>
        <p:nvPicPr>
          <p:cNvPr id="665" name="Google Shape;665;g3388f479b56_0_343"/>
          <p:cNvPicPr preferRelativeResize="0"/>
          <p:nvPr/>
        </p:nvPicPr>
        <p:blipFill>
          <a:blip r:embed="rId8">
            <a:alphaModFix/>
          </a:blip>
          <a:stretch>
            <a:fillRect/>
          </a:stretch>
        </p:blipFill>
        <p:spPr>
          <a:xfrm>
            <a:off x="7958175" y="5460875"/>
            <a:ext cx="3829082" cy="7120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669" name="Shape 669"/>
        <p:cNvGrpSpPr/>
        <p:nvPr/>
      </p:nvGrpSpPr>
      <p:grpSpPr>
        <a:xfrm>
          <a:off x="0" y="0"/>
          <a:ext cx="0" cy="0"/>
          <a:chOff x="0" y="0"/>
          <a:chExt cx="0" cy="0"/>
        </a:xfrm>
      </p:grpSpPr>
      <p:pic>
        <p:nvPicPr>
          <p:cNvPr id="670" name="Google Shape;670;g3388f479b56_0_349"/>
          <p:cNvPicPr preferRelativeResize="0"/>
          <p:nvPr/>
        </p:nvPicPr>
        <p:blipFill>
          <a:blip r:embed="rId3">
            <a:alphaModFix/>
          </a:blip>
          <a:stretch>
            <a:fillRect/>
          </a:stretch>
        </p:blipFill>
        <p:spPr>
          <a:xfrm>
            <a:off x="647552" y="654813"/>
            <a:ext cx="10896876" cy="5905575"/>
          </a:xfrm>
          <a:prstGeom prst="rect">
            <a:avLst/>
          </a:prstGeom>
          <a:noFill/>
          <a:ln>
            <a:noFill/>
          </a:ln>
        </p:spPr>
      </p:pic>
      <p:sp>
        <p:nvSpPr>
          <p:cNvPr id="671" name="Google Shape;671;g3388f479b56_0_349"/>
          <p:cNvSpPr txBox="1"/>
          <p:nvPr/>
        </p:nvSpPr>
        <p:spPr>
          <a:xfrm>
            <a:off x="4525200" y="71550"/>
            <a:ext cx="3631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Observador reducido de estados</a:t>
            </a:r>
            <a:endParaRPr sz="1800">
              <a:solidFill>
                <a:schemeClr val="lt1"/>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675" name="Shape 675"/>
        <p:cNvGrpSpPr/>
        <p:nvPr/>
      </p:nvGrpSpPr>
      <p:grpSpPr>
        <a:xfrm>
          <a:off x="0" y="0"/>
          <a:ext cx="0" cy="0"/>
          <a:chOff x="0" y="0"/>
          <a:chExt cx="0" cy="0"/>
        </a:xfrm>
      </p:grpSpPr>
      <p:sp>
        <p:nvSpPr>
          <p:cNvPr id="676" name="Google Shape;676;g3388f479b56_0_354"/>
          <p:cNvSpPr txBox="1"/>
          <p:nvPr/>
        </p:nvSpPr>
        <p:spPr>
          <a:xfrm>
            <a:off x="4742550" y="523525"/>
            <a:ext cx="2706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Observador de estados P</a:t>
            </a:r>
            <a:endParaRPr sz="1800">
              <a:solidFill>
                <a:schemeClr val="lt1"/>
              </a:solidFill>
              <a:latin typeface="Arial"/>
              <a:ea typeface="Arial"/>
              <a:cs typeface="Arial"/>
              <a:sym typeface="Arial"/>
            </a:endParaRPr>
          </a:p>
        </p:txBody>
      </p:sp>
      <p:sp>
        <p:nvSpPr>
          <p:cNvPr id="677" name="Google Shape;677;g3388f479b56_0_354"/>
          <p:cNvSpPr txBox="1"/>
          <p:nvPr/>
        </p:nvSpPr>
        <p:spPr>
          <a:xfrm>
            <a:off x="1165913" y="5620175"/>
            <a:ext cx="9947100" cy="7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600">
                <a:latin typeface="Calibri"/>
                <a:ea typeface="Calibri"/>
                <a:cs typeface="Calibri"/>
                <a:sym typeface="Calibri"/>
              </a:rPr>
              <a:t>Podemos notar como el perfil de error de estimación del observador reducido de estado sin aplicar la acción integral, sigue este mismo perfil pero escalado con una constante negativa. Es decir, perfil proporcional invertido sobre el eje x.</a:t>
            </a:r>
            <a:endParaRPr sz="1800"/>
          </a:p>
        </p:txBody>
      </p:sp>
      <p:pic>
        <p:nvPicPr>
          <p:cNvPr id="678" name="Google Shape;678;g3388f479b56_0_354"/>
          <p:cNvPicPr preferRelativeResize="0"/>
          <p:nvPr/>
        </p:nvPicPr>
        <p:blipFill>
          <a:blip r:embed="rId3">
            <a:alphaModFix/>
          </a:blip>
          <a:stretch>
            <a:fillRect/>
          </a:stretch>
        </p:blipFill>
        <p:spPr>
          <a:xfrm>
            <a:off x="6247263" y="1190950"/>
            <a:ext cx="5839599" cy="4131101"/>
          </a:xfrm>
          <a:prstGeom prst="rect">
            <a:avLst/>
          </a:prstGeom>
          <a:noFill/>
          <a:ln>
            <a:noFill/>
          </a:ln>
        </p:spPr>
      </p:pic>
      <p:pic>
        <p:nvPicPr>
          <p:cNvPr id="679" name="Google Shape;679;g3388f479b56_0_354"/>
          <p:cNvPicPr preferRelativeResize="0"/>
          <p:nvPr/>
        </p:nvPicPr>
        <p:blipFill>
          <a:blip r:embed="rId4">
            <a:alphaModFix/>
          </a:blip>
          <a:stretch>
            <a:fillRect/>
          </a:stretch>
        </p:blipFill>
        <p:spPr>
          <a:xfrm>
            <a:off x="175713" y="1190950"/>
            <a:ext cx="5839599" cy="4131091"/>
          </a:xfrm>
          <a:prstGeom prst="rect">
            <a:avLst/>
          </a:prstGeom>
          <a:noFill/>
          <a:ln>
            <a:noFill/>
          </a:ln>
        </p:spPr>
      </p:pic>
      <p:sp>
        <p:nvSpPr>
          <p:cNvPr id="680" name="Google Shape;680;g3388f479b56_0_354"/>
          <p:cNvSpPr txBox="1"/>
          <p:nvPr/>
        </p:nvSpPr>
        <p:spPr>
          <a:xfrm flipH="1">
            <a:off x="5491213" y="49218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681" name="Google Shape;681;g3388f479b56_0_354"/>
          <p:cNvSpPr txBox="1"/>
          <p:nvPr/>
        </p:nvSpPr>
        <p:spPr>
          <a:xfrm flipH="1">
            <a:off x="11585388" y="49218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682" name="Google Shape;682;g3388f479b56_0_354"/>
          <p:cNvSpPr txBox="1"/>
          <p:nvPr/>
        </p:nvSpPr>
        <p:spPr>
          <a:xfrm flipH="1" rot="-5400000">
            <a:off x="-11412" y="2915850"/>
            <a:ext cx="5718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000"/>
              <a:t>Nm</a:t>
            </a:r>
            <a:endParaRPr sz="10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686" name="Shape 686"/>
        <p:cNvGrpSpPr/>
        <p:nvPr/>
      </p:nvGrpSpPr>
      <p:grpSpPr>
        <a:xfrm>
          <a:off x="0" y="0"/>
          <a:ext cx="0" cy="0"/>
          <a:chOff x="0" y="0"/>
          <a:chExt cx="0" cy="0"/>
        </a:xfrm>
      </p:grpSpPr>
      <p:sp>
        <p:nvSpPr>
          <p:cNvPr id="687" name="Google Shape;687;g3388f479b56_0_361"/>
          <p:cNvSpPr txBox="1"/>
          <p:nvPr/>
        </p:nvSpPr>
        <p:spPr>
          <a:xfrm>
            <a:off x="1445400" y="6298050"/>
            <a:ext cx="9301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600">
                <a:latin typeface="Calibri"/>
                <a:ea typeface="Calibri"/>
                <a:cs typeface="Calibri"/>
                <a:sym typeface="Calibri"/>
              </a:rPr>
              <a:t>Ahora e</a:t>
            </a:r>
            <a:r>
              <a:rPr lang="es-MX" sz="1600">
                <a:latin typeface="Calibri"/>
                <a:ea typeface="Calibri"/>
                <a:cs typeface="Calibri"/>
                <a:sym typeface="Calibri"/>
              </a:rPr>
              <a:t>l control es capaz de rechazar perturbaciones tipo escalón con el nuevo observador reducido de estado</a:t>
            </a:r>
            <a:endParaRPr sz="1800"/>
          </a:p>
        </p:txBody>
      </p:sp>
      <p:sp>
        <p:nvSpPr>
          <p:cNvPr id="688" name="Google Shape;688;g3388f479b56_0_361"/>
          <p:cNvSpPr txBox="1"/>
          <p:nvPr/>
        </p:nvSpPr>
        <p:spPr>
          <a:xfrm>
            <a:off x="4167750" y="0"/>
            <a:ext cx="3856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Observador de estados con mejora</a:t>
            </a:r>
            <a:endParaRPr sz="1800">
              <a:solidFill>
                <a:schemeClr val="lt1"/>
              </a:solidFill>
              <a:latin typeface="Arial"/>
              <a:ea typeface="Arial"/>
              <a:cs typeface="Arial"/>
              <a:sym typeface="Arial"/>
            </a:endParaRPr>
          </a:p>
        </p:txBody>
      </p:sp>
      <p:pic>
        <p:nvPicPr>
          <p:cNvPr id="689" name="Google Shape;689;g3388f479b56_0_361"/>
          <p:cNvPicPr preferRelativeResize="0"/>
          <p:nvPr/>
        </p:nvPicPr>
        <p:blipFill>
          <a:blip r:embed="rId3">
            <a:alphaModFix/>
          </a:blip>
          <a:stretch>
            <a:fillRect/>
          </a:stretch>
        </p:blipFill>
        <p:spPr>
          <a:xfrm>
            <a:off x="2028400" y="410775"/>
            <a:ext cx="8135203" cy="5755075"/>
          </a:xfrm>
          <a:prstGeom prst="rect">
            <a:avLst/>
          </a:prstGeom>
          <a:noFill/>
          <a:ln>
            <a:noFill/>
          </a:ln>
        </p:spPr>
      </p:pic>
      <p:sp>
        <p:nvSpPr>
          <p:cNvPr id="690" name="Google Shape;690;g3388f479b56_0_361"/>
          <p:cNvSpPr txBox="1"/>
          <p:nvPr/>
        </p:nvSpPr>
        <p:spPr>
          <a:xfrm flipH="1">
            <a:off x="10119525" y="63484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691" name="Google Shape;691;g3388f479b56_0_361"/>
          <p:cNvSpPr txBox="1"/>
          <p:nvPr/>
        </p:nvSpPr>
        <p:spPr>
          <a:xfrm flipH="1">
            <a:off x="9561325" y="57656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695" name="Shape 695"/>
        <p:cNvGrpSpPr/>
        <p:nvPr/>
      </p:nvGrpSpPr>
      <p:grpSpPr>
        <a:xfrm>
          <a:off x="0" y="0"/>
          <a:ext cx="0" cy="0"/>
          <a:chOff x="0" y="0"/>
          <a:chExt cx="0" cy="0"/>
        </a:xfrm>
      </p:grpSpPr>
      <p:sp>
        <p:nvSpPr>
          <p:cNvPr id="696" name="Google Shape;696;g3388f479b56_0_388"/>
          <p:cNvSpPr txBox="1"/>
          <p:nvPr/>
        </p:nvSpPr>
        <p:spPr>
          <a:xfrm>
            <a:off x="4705050" y="200100"/>
            <a:ext cx="27819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Resultados y análisis del desempeño del sistema</a:t>
            </a:r>
            <a:endParaRPr sz="1800">
              <a:solidFill>
                <a:schemeClr val="lt1"/>
              </a:solidFill>
              <a:latin typeface="Arial"/>
              <a:ea typeface="Arial"/>
              <a:cs typeface="Arial"/>
              <a:sym typeface="Arial"/>
            </a:endParaRPr>
          </a:p>
        </p:txBody>
      </p:sp>
      <p:sp>
        <p:nvSpPr>
          <p:cNvPr id="697" name="Google Shape;697;g3388f479b56_0_388"/>
          <p:cNvSpPr txBox="1"/>
          <p:nvPr/>
        </p:nvSpPr>
        <p:spPr>
          <a:xfrm>
            <a:off x="4035150" y="746550"/>
            <a:ext cx="4121700" cy="68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500">
                <a:latin typeface="Calibri"/>
                <a:ea typeface="Calibri"/>
                <a:cs typeface="Calibri"/>
                <a:sym typeface="Calibri"/>
              </a:rPr>
              <a:t>Análisis de la respuesta del sistema a lazo cerrado para un perfil trapezoidal de posición.</a:t>
            </a:r>
            <a:endParaRPr sz="1700"/>
          </a:p>
        </p:txBody>
      </p:sp>
      <p:pic>
        <p:nvPicPr>
          <p:cNvPr id="698" name="Google Shape;698;g3388f479b56_0_388"/>
          <p:cNvPicPr preferRelativeResize="0"/>
          <p:nvPr/>
        </p:nvPicPr>
        <p:blipFill>
          <a:blip r:embed="rId3">
            <a:alphaModFix/>
          </a:blip>
          <a:stretch>
            <a:fillRect/>
          </a:stretch>
        </p:blipFill>
        <p:spPr>
          <a:xfrm>
            <a:off x="2467400" y="1427550"/>
            <a:ext cx="7257191" cy="5125650"/>
          </a:xfrm>
          <a:prstGeom prst="rect">
            <a:avLst/>
          </a:prstGeom>
          <a:noFill/>
          <a:ln>
            <a:noFill/>
          </a:ln>
        </p:spPr>
      </p:pic>
      <p:sp>
        <p:nvSpPr>
          <p:cNvPr id="699" name="Google Shape;699;g3388f479b56_0_388"/>
          <p:cNvSpPr txBox="1"/>
          <p:nvPr/>
        </p:nvSpPr>
        <p:spPr>
          <a:xfrm flipH="1">
            <a:off x="9242650" y="61530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703" name="Shape 703"/>
        <p:cNvGrpSpPr/>
        <p:nvPr/>
      </p:nvGrpSpPr>
      <p:grpSpPr>
        <a:xfrm>
          <a:off x="0" y="0"/>
          <a:ext cx="0" cy="0"/>
          <a:chOff x="0" y="0"/>
          <a:chExt cx="0" cy="0"/>
        </a:xfrm>
      </p:grpSpPr>
      <p:sp>
        <p:nvSpPr>
          <p:cNvPr id="704" name="Google Shape;704;g3388f479b56_0_400"/>
          <p:cNvSpPr txBox="1"/>
          <p:nvPr/>
        </p:nvSpPr>
        <p:spPr>
          <a:xfrm>
            <a:off x="4705050" y="200100"/>
            <a:ext cx="2781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Seguimiento de consigna</a:t>
            </a:r>
            <a:endParaRPr sz="1800">
              <a:solidFill>
                <a:schemeClr val="lt1"/>
              </a:solidFill>
              <a:latin typeface="Arial"/>
              <a:ea typeface="Arial"/>
              <a:cs typeface="Arial"/>
              <a:sym typeface="Arial"/>
            </a:endParaRPr>
          </a:p>
        </p:txBody>
      </p:sp>
      <p:pic>
        <p:nvPicPr>
          <p:cNvPr id="705" name="Google Shape;705;g3388f479b56_0_400"/>
          <p:cNvPicPr preferRelativeResize="0"/>
          <p:nvPr/>
        </p:nvPicPr>
        <p:blipFill>
          <a:blip r:embed="rId3">
            <a:alphaModFix/>
          </a:blip>
          <a:stretch>
            <a:fillRect/>
          </a:stretch>
        </p:blipFill>
        <p:spPr>
          <a:xfrm>
            <a:off x="374275" y="1004175"/>
            <a:ext cx="5468325" cy="3859624"/>
          </a:xfrm>
          <a:prstGeom prst="rect">
            <a:avLst/>
          </a:prstGeom>
          <a:noFill/>
          <a:ln>
            <a:noFill/>
          </a:ln>
        </p:spPr>
      </p:pic>
      <p:pic>
        <p:nvPicPr>
          <p:cNvPr id="706" name="Google Shape;706;g3388f479b56_0_400"/>
          <p:cNvPicPr preferRelativeResize="0"/>
          <p:nvPr/>
        </p:nvPicPr>
        <p:blipFill>
          <a:blip r:embed="rId4">
            <a:alphaModFix/>
          </a:blip>
          <a:stretch>
            <a:fillRect/>
          </a:stretch>
        </p:blipFill>
        <p:spPr>
          <a:xfrm>
            <a:off x="6297575" y="1004175"/>
            <a:ext cx="5468325" cy="3859629"/>
          </a:xfrm>
          <a:prstGeom prst="rect">
            <a:avLst/>
          </a:prstGeom>
          <a:noFill/>
          <a:ln>
            <a:noFill/>
          </a:ln>
        </p:spPr>
      </p:pic>
      <p:sp>
        <p:nvSpPr>
          <p:cNvPr id="707" name="Google Shape;707;g3388f479b56_0_400"/>
          <p:cNvSpPr txBox="1"/>
          <p:nvPr/>
        </p:nvSpPr>
        <p:spPr>
          <a:xfrm>
            <a:off x="374275" y="5206700"/>
            <a:ext cx="10966200" cy="6810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Seguimiento satisfactorio de la consigna.</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Transitorios de error en los flancos de subida y de bajada del torque de carga, que </a:t>
            </a:r>
            <a:r>
              <a:rPr lang="es-MX" sz="1500">
                <a:latin typeface="Calibri"/>
                <a:ea typeface="Calibri"/>
                <a:cs typeface="Calibri"/>
                <a:sym typeface="Calibri"/>
              </a:rPr>
              <a:t>además</a:t>
            </a:r>
            <a:r>
              <a:rPr lang="es-MX" sz="1500">
                <a:latin typeface="Calibri"/>
                <a:ea typeface="Calibri"/>
                <a:cs typeface="Calibri"/>
                <a:sym typeface="Calibri"/>
              </a:rPr>
              <a:t> coincide con los impulsos de aceleración.</a:t>
            </a:r>
            <a:endParaRPr sz="1500">
              <a:latin typeface="Calibri"/>
              <a:ea typeface="Calibri"/>
              <a:cs typeface="Calibri"/>
              <a:sym typeface="Calibri"/>
            </a:endParaRPr>
          </a:p>
        </p:txBody>
      </p:sp>
      <p:sp>
        <p:nvSpPr>
          <p:cNvPr id="708" name="Google Shape;708;g3388f479b56_0_400"/>
          <p:cNvSpPr txBox="1"/>
          <p:nvPr/>
        </p:nvSpPr>
        <p:spPr>
          <a:xfrm flipH="1">
            <a:off x="5341925" y="44636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709" name="Google Shape;709;g3388f479b56_0_400"/>
          <p:cNvSpPr txBox="1"/>
          <p:nvPr/>
        </p:nvSpPr>
        <p:spPr>
          <a:xfrm flipH="1">
            <a:off x="11459900" y="44636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713" name="Shape 713"/>
        <p:cNvGrpSpPr/>
        <p:nvPr/>
      </p:nvGrpSpPr>
      <p:grpSpPr>
        <a:xfrm>
          <a:off x="0" y="0"/>
          <a:ext cx="0" cy="0"/>
          <a:chOff x="0" y="0"/>
          <a:chExt cx="0" cy="0"/>
        </a:xfrm>
      </p:grpSpPr>
      <p:sp>
        <p:nvSpPr>
          <p:cNvPr id="714" name="Google Shape;714;g3388f479b56_0_410"/>
          <p:cNvSpPr txBox="1"/>
          <p:nvPr/>
        </p:nvSpPr>
        <p:spPr>
          <a:xfrm>
            <a:off x="5250750" y="104600"/>
            <a:ext cx="1690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Consecuencias</a:t>
            </a:r>
            <a:endParaRPr sz="1800">
              <a:solidFill>
                <a:schemeClr val="lt1"/>
              </a:solidFill>
              <a:latin typeface="Arial"/>
              <a:ea typeface="Arial"/>
              <a:cs typeface="Arial"/>
              <a:sym typeface="Arial"/>
            </a:endParaRPr>
          </a:p>
        </p:txBody>
      </p:sp>
      <p:pic>
        <p:nvPicPr>
          <p:cNvPr id="715" name="Google Shape;715;g3388f479b56_0_410"/>
          <p:cNvPicPr preferRelativeResize="0"/>
          <p:nvPr/>
        </p:nvPicPr>
        <p:blipFill>
          <a:blip r:embed="rId3">
            <a:alphaModFix/>
          </a:blip>
          <a:stretch>
            <a:fillRect/>
          </a:stretch>
        </p:blipFill>
        <p:spPr>
          <a:xfrm>
            <a:off x="253225" y="1431225"/>
            <a:ext cx="5648000" cy="3995551"/>
          </a:xfrm>
          <a:prstGeom prst="rect">
            <a:avLst/>
          </a:prstGeom>
          <a:noFill/>
          <a:ln>
            <a:noFill/>
          </a:ln>
        </p:spPr>
      </p:pic>
      <p:sp>
        <p:nvSpPr>
          <p:cNvPr id="716" name="Google Shape;716;g3388f479b56_0_410"/>
          <p:cNvSpPr txBox="1"/>
          <p:nvPr/>
        </p:nvSpPr>
        <p:spPr>
          <a:xfrm>
            <a:off x="253225" y="907950"/>
            <a:ext cx="109662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Impulsos de tensión y corriente en las discontinuidades del perfil de velocidad.</a:t>
            </a:r>
            <a:endParaRPr sz="1500">
              <a:latin typeface="Calibri"/>
              <a:ea typeface="Calibri"/>
              <a:cs typeface="Calibri"/>
              <a:sym typeface="Calibri"/>
            </a:endParaRPr>
          </a:p>
        </p:txBody>
      </p:sp>
      <p:pic>
        <p:nvPicPr>
          <p:cNvPr id="717" name="Google Shape;717;g3388f479b56_0_410"/>
          <p:cNvPicPr preferRelativeResize="0"/>
          <p:nvPr/>
        </p:nvPicPr>
        <p:blipFill>
          <a:blip r:embed="rId4">
            <a:alphaModFix/>
          </a:blip>
          <a:stretch>
            <a:fillRect/>
          </a:stretch>
        </p:blipFill>
        <p:spPr>
          <a:xfrm>
            <a:off x="6225100" y="1437675"/>
            <a:ext cx="5648000" cy="3982642"/>
          </a:xfrm>
          <a:prstGeom prst="rect">
            <a:avLst/>
          </a:prstGeom>
          <a:noFill/>
          <a:ln>
            <a:noFill/>
          </a:ln>
        </p:spPr>
      </p:pic>
      <p:sp>
        <p:nvSpPr>
          <p:cNvPr id="718" name="Google Shape;718;g3388f479b56_0_410"/>
          <p:cNvSpPr txBox="1"/>
          <p:nvPr/>
        </p:nvSpPr>
        <p:spPr>
          <a:xfrm flipH="1">
            <a:off x="11374425" y="502657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719" name="Google Shape;719;g3388f479b56_0_410"/>
          <p:cNvSpPr txBox="1"/>
          <p:nvPr/>
        </p:nvSpPr>
        <p:spPr>
          <a:xfrm flipH="1">
            <a:off x="5403600" y="502657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723" name="Shape 723"/>
        <p:cNvGrpSpPr/>
        <p:nvPr/>
      </p:nvGrpSpPr>
      <p:grpSpPr>
        <a:xfrm>
          <a:off x="0" y="0"/>
          <a:ext cx="0" cy="0"/>
          <a:chOff x="0" y="0"/>
          <a:chExt cx="0" cy="0"/>
        </a:xfrm>
      </p:grpSpPr>
      <p:pic>
        <p:nvPicPr>
          <p:cNvPr id="724" name="Google Shape;724;g3388f479b56_0_423"/>
          <p:cNvPicPr preferRelativeResize="0"/>
          <p:nvPr/>
        </p:nvPicPr>
        <p:blipFill>
          <a:blip r:embed="rId3">
            <a:alphaModFix/>
          </a:blip>
          <a:stretch>
            <a:fillRect/>
          </a:stretch>
        </p:blipFill>
        <p:spPr>
          <a:xfrm>
            <a:off x="253225" y="1431225"/>
            <a:ext cx="5648000" cy="3995555"/>
          </a:xfrm>
          <a:prstGeom prst="rect">
            <a:avLst/>
          </a:prstGeom>
          <a:noFill/>
          <a:ln>
            <a:noFill/>
          </a:ln>
        </p:spPr>
      </p:pic>
      <p:sp>
        <p:nvSpPr>
          <p:cNvPr id="725" name="Google Shape;725;g3388f479b56_0_423"/>
          <p:cNvSpPr txBox="1"/>
          <p:nvPr/>
        </p:nvSpPr>
        <p:spPr>
          <a:xfrm>
            <a:off x="5250750" y="104600"/>
            <a:ext cx="1690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Consecuencias</a:t>
            </a:r>
            <a:endParaRPr sz="1800">
              <a:solidFill>
                <a:schemeClr val="lt1"/>
              </a:solidFill>
              <a:latin typeface="Arial"/>
              <a:ea typeface="Arial"/>
              <a:cs typeface="Arial"/>
              <a:sym typeface="Arial"/>
            </a:endParaRPr>
          </a:p>
        </p:txBody>
      </p:sp>
      <p:pic>
        <p:nvPicPr>
          <p:cNvPr id="726" name="Google Shape;726;g3388f479b56_0_423"/>
          <p:cNvPicPr preferRelativeResize="0"/>
          <p:nvPr/>
        </p:nvPicPr>
        <p:blipFill>
          <a:blip r:embed="rId4">
            <a:alphaModFix/>
          </a:blip>
          <a:stretch>
            <a:fillRect/>
          </a:stretch>
        </p:blipFill>
        <p:spPr>
          <a:xfrm>
            <a:off x="6225100" y="1437675"/>
            <a:ext cx="5648000" cy="3995557"/>
          </a:xfrm>
          <a:prstGeom prst="rect">
            <a:avLst/>
          </a:prstGeom>
          <a:noFill/>
          <a:ln>
            <a:noFill/>
          </a:ln>
        </p:spPr>
      </p:pic>
      <p:sp>
        <p:nvSpPr>
          <p:cNvPr id="727" name="Google Shape;727;g3388f479b56_0_423"/>
          <p:cNvSpPr txBox="1"/>
          <p:nvPr/>
        </p:nvSpPr>
        <p:spPr>
          <a:xfrm>
            <a:off x="253225" y="907950"/>
            <a:ext cx="109662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Los impulsos de corriente implican impulsos de torque y aumentos bruscos de la temperatura.</a:t>
            </a:r>
            <a:endParaRPr sz="1500">
              <a:latin typeface="Calibri"/>
              <a:ea typeface="Calibri"/>
              <a:cs typeface="Calibri"/>
              <a:sym typeface="Calibri"/>
            </a:endParaRPr>
          </a:p>
        </p:txBody>
      </p:sp>
      <p:sp>
        <p:nvSpPr>
          <p:cNvPr id="728" name="Google Shape;728;g3388f479b56_0_423"/>
          <p:cNvSpPr txBox="1"/>
          <p:nvPr/>
        </p:nvSpPr>
        <p:spPr>
          <a:xfrm>
            <a:off x="253225" y="5426775"/>
            <a:ext cx="11184900" cy="68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500">
                <a:latin typeface="Calibri"/>
                <a:ea typeface="Calibri"/>
                <a:cs typeface="Calibri"/>
                <a:sym typeface="Calibri"/>
              </a:rPr>
              <a:t>Debido a esto se opta por buscar un tipo de perfil que suavice la consigna de posición, evitando discontinuidades en las derivadas sucesivas, debido a que estas son las que introducen estos transitorios en el sistema.</a:t>
            </a:r>
            <a:endParaRPr sz="1500">
              <a:latin typeface="Calibri"/>
              <a:ea typeface="Calibri"/>
              <a:cs typeface="Calibri"/>
              <a:sym typeface="Calibri"/>
            </a:endParaRPr>
          </a:p>
        </p:txBody>
      </p:sp>
      <p:sp>
        <p:nvSpPr>
          <p:cNvPr id="729" name="Google Shape;729;g3388f479b56_0_423"/>
          <p:cNvSpPr txBox="1"/>
          <p:nvPr/>
        </p:nvSpPr>
        <p:spPr>
          <a:xfrm flipH="1">
            <a:off x="5387250" y="503302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730" name="Google Shape;730;g3388f479b56_0_423"/>
          <p:cNvSpPr txBox="1"/>
          <p:nvPr/>
        </p:nvSpPr>
        <p:spPr>
          <a:xfrm flipH="1">
            <a:off x="11360500" y="503302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734" name="Shape 734"/>
        <p:cNvGrpSpPr/>
        <p:nvPr/>
      </p:nvGrpSpPr>
      <p:grpSpPr>
        <a:xfrm>
          <a:off x="0" y="0"/>
          <a:ext cx="0" cy="0"/>
          <a:chOff x="0" y="0"/>
          <a:chExt cx="0" cy="0"/>
        </a:xfrm>
      </p:grpSpPr>
      <p:sp>
        <p:nvSpPr>
          <p:cNvPr id="735" name="Google Shape;735;g3388f479b56_0_434"/>
          <p:cNvSpPr txBox="1"/>
          <p:nvPr/>
        </p:nvSpPr>
        <p:spPr>
          <a:xfrm>
            <a:off x="4512450" y="430875"/>
            <a:ext cx="31671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MX" sz="1800">
                <a:latin typeface="Cambria Math"/>
                <a:ea typeface="Cambria Math"/>
                <a:cs typeface="Cambria Math"/>
                <a:sym typeface="Cambria Math"/>
              </a:rPr>
              <a:t>Perfil trapezoidal de velocidad</a:t>
            </a:r>
            <a:endParaRPr sz="1800">
              <a:solidFill>
                <a:schemeClr val="lt1"/>
              </a:solidFill>
              <a:latin typeface="Arial"/>
              <a:ea typeface="Arial"/>
              <a:cs typeface="Arial"/>
              <a:sym typeface="Arial"/>
            </a:endParaRPr>
          </a:p>
        </p:txBody>
      </p:sp>
      <p:pic>
        <p:nvPicPr>
          <p:cNvPr id="736" name="Google Shape;736;g3388f479b56_0_434"/>
          <p:cNvPicPr preferRelativeResize="0"/>
          <p:nvPr/>
        </p:nvPicPr>
        <p:blipFill>
          <a:blip r:embed="rId3">
            <a:alphaModFix/>
          </a:blip>
          <a:stretch>
            <a:fillRect/>
          </a:stretch>
        </p:blipFill>
        <p:spPr>
          <a:xfrm>
            <a:off x="253225" y="1431225"/>
            <a:ext cx="5666268" cy="4002000"/>
          </a:xfrm>
          <a:prstGeom prst="rect">
            <a:avLst/>
          </a:prstGeom>
          <a:noFill/>
          <a:ln>
            <a:noFill/>
          </a:ln>
        </p:spPr>
      </p:pic>
      <p:pic>
        <p:nvPicPr>
          <p:cNvPr id="737" name="Google Shape;737;g3388f479b56_0_434"/>
          <p:cNvPicPr preferRelativeResize="0"/>
          <p:nvPr/>
        </p:nvPicPr>
        <p:blipFill>
          <a:blip r:embed="rId4">
            <a:alphaModFix/>
          </a:blip>
          <a:stretch>
            <a:fillRect/>
          </a:stretch>
        </p:blipFill>
        <p:spPr>
          <a:xfrm>
            <a:off x="6225100" y="1431225"/>
            <a:ext cx="5660892" cy="3995551"/>
          </a:xfrm>
          <a:prstGeom prst="rect">
            <a:avLst/>
          </a:prstGeom>
          <a:noFill/>
          <a:ln>
            <a:noFill/>
          </a:ln>
        </p:spPr>
      </p:pic>
      <p:sp>
        <p:nvSpPr>
          <p:cNvPr id="738" name="Google Shape;738;g3388f479b56_0_434"/>
          <p:cNvSpPr txBox="1"/>
          <p:nvPr/>
        </p:nvSpPr>
        <p:spPr>
          <a:xfrm>
            <a:off x="253225" y="5426775"/>
            <a:ext cx="11184900" cy="12120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Se observa </a:t>
            </a:r>
            <a:r>
              <a:rPr lang="es-MX" sz="1500">
                <a:latin typeface="Calibri"/>
                <a:ea typeface="Calibri"/>
                <a:cs typeface="Calibri"/>
                <a:sym typeface="Calibri"/>
              </a:rPr>
              <a:t>cómo</a:t>
            </a:r>
            <a:r>
              <a:rPr lang="es-MX" sz="1500">
                <a:latin typeface="Calibri"/>
                <a:ea typeface="Calibri"/>
                <a:cs typeface="Calibri"/>
                <a:sym typeface="Calibri"/>
              </a:rPr>
              <a:t> utilizar un perfil trapezoidal de velocidad suaviza la curva del perfil de posición, haciendo que no hayan impulsos de aceleración.</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Se </a:t>
            </a:r>
            <a:r>
              <a:rPr lang="es-MX" sz="1500">
                <a:latin typeface="Calibri"/>
                <a:ea typeface="Calibri"/>
                <a:cs typeface="Calibri"/>
                <a:sym typeface="Calibri"/>
              </a:rPr>
              <a:t>tendrán</a:t>
            </a:r>
            <a:r>
              <a:rPr lang="es-MX" sz="1500">
                <a:latin typeface="Calibri"/>
                <a:ea typeface="Calibri"/>
                <a:cs typeface="Calibri"/>
                <a:sym typeface="Calibri"/>
              </a:rPr>
              <a:t> discontinuidades en derivadas de orden superior que generan transitorios, pero estos serán mucho menos dañinos para el sistema.</a:t>
            </a:r>
            <a:endParaRPr sz="1500">
              <a:latin typeface="Calibri"/>
              <a:ea typeface="Calibri"/>
              <a:cs typeface="Calibri"/>
              <a:sym typeface="Calibri"/>
            </a:endParaRPr>
          </a:p>
        </p:txBody>
      </p:sp>
      <p:sp>
        <p:nvSpPr>
          <p:cNvPr id="739" name="Google Shape;739;g3388f479b56_0_434"/>
          <p:cNvSpPr txBox="1"/>
          <p:nvPr/>
        </p:nvSpPr>
        <p:spPr>
          <a:xfrm>
            <a:off x="253225" y="907950"/>
            <a:ext cx="109662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500">
                <a:latin typeface="Calibri"/>
                <a:ea typeface="Calibri"/>
                <a:cs typeface="Calibri"/>
                <a:sym typeface="Calibri"/>
              </a:rPr>
              <a:t>Diseñamos el perfil determinando el tiempo de aceleración y el tiempo de subida, para ir de 0 a 2π.</a:t>
            </a:r>
            <a:endParaRPr sz="1500">
              <a:latin typeface="Calibri"/>
              <a:ea typeface="Calibri"/>
              <a:cs typeface="Calibri"/>
              <a:sym typeface="Calibri"/>
            </a:endParaRPr>
          </a:p>
        </p:txBody>
      </p:sp>
      <p:sp>
        <p:nvSpPr>
          <p:cNvPr id="740" name="Google Shape;740;g3388f479b56_0_434"/>
          <p:cNvSpPr txBox="1"/>
          <p:nvPr/>
        </p:nvSpPr>
        <p:spPr>
          <a:xfrm flipH="1">
            <a:off x="5417500" y="503302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741" name="Google Shape;741;g3388f479b56_0_434"/>
          <p:cNvSpPr txBox="1"/>
          <p:nvPr/>
        </p:nvSpPr>
        <p:spPr>
          <a:xfrm flipH="1">
            <a:off x="11438125" y="503302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745" name="Shape 745"/>
        <p:cNvGrpSpPr/>
        <p:nvPr/>
      </p:nvGrpSpPr>
      <p:grpSpPr>
        <a:xfrm>
          <a:off x="0" y="0"/>
          <a:ext cx="0" cy="0"/>
          <a:chOff x="0" y="0"/>
          <a:chExt cx="0" cy="0"/>
        </a:xfrm>
      </p:grpSpPr>
      <p:sp>
        <p:nvSpPr>
          <p:cNvPr id="746" name="Google Shape;746;g3388f479b56_0_444"/>
          <p:cNvSpPr txBox="1"/>
          <p:nvPr/>
        </p:nvSpPr>
        <p:spPr>
          <a:xfrm>
            <a:off x="4873200" y="114675"/>
            <a:ext cx="2445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Respuesta del sistema</a:t>
            </a:r>
            <a:endParaRPr sz="1800">
              <a:solidFill>
                <a:schemeClr val="lt1"/>
              </a:solidFill>
              <a:latin typeface="Arial"/>
              <a:ea typeface="Arial"/>
              <a:cs typeface="Arial"/>
              <a:sym typeface="Arial"/>
            </a:endParaRPr>
          </a:p>
        </p:txBody>
      </p:sp>
      <p:pic>
        <p:nvPicPr>
          <p:cNvPr id="747" name="Google Shape;747;g3388f479b56_0_444"/>
          <p:cNvPicPr preferRelativeResize="0"/>
          <p:nvPr/>
        </p:nvPicPr>
        <p:blipFill>
          <a:blip r:embed="rId3">
            <a:alphaModFix/>
          </a:blip>
          <a:stretch>
            <a:fillRect/>
          </a:stretch>
        </p:blipFill>
        <p:spPr>
          <a:xfrm>
            <a:off x="384350" y="1484737"/>
            <a:ext cx="5496700" cy="3888526"/>
          </a:xfrm>
          <a:prstGeom prst="rect">
            <a:avLst/>
          </a:prstGeom>
          <a:noFill/>
          <a:ln>
            <a:noFill/>
          </a:ln>
        </p:spPr>
      </p:pic>
      <p:pic>
        <p:nvPicPr>
          <p:cNvPr id="748" name="Google Shape;748;g3388f479b56_0_444"/>
          <p:cNvPicPr preferRelativeResize="0"/>
          <p:nvPr/>
        </p:nvPicPr>
        <p:blipFill>
          <a:blip r:embed="rId4">
            <a:alphaModFix/>
          </a:blip>
          <a:stretch>
            <a:fillRect/>
          </a:stretch>
        </p:blipFill>
        <p:spPr>
          <a:xfrm>
            <a:off x="6275500" y="1484738"/>
            <a:ext cx="5514502" cy="3888525"/>
          </a:xfrm>
          <a:prstGeom prst="rect">
            <a:avLst/>
          </a:prstGeom>
          <a:noFill/>
          <a:ln>
            <a:noFill/>
          </a:ln>
        </p:spPr>
      </p:pic>
      <p:sp>
        <p:nvSpPr>
          <p:cNvPr id="749" name="Google Shape;749;g3388f479b56_0_444"/>
          <p:cNvSpPr txBox="1"/>
          <p:nvPr/>
        </p:nvSpPr>
        <p:spPr>
          <a:xfrm>
            <a:off x="253225" y="5426775"/>
            <a:ext cx="111849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Vemos </a:t>
            </a:r>
            <a:r>
              <a:rPr lang="es-MX" sz="1500">
                <a:latin typeface="Calibri"/>
                <a:ea typeface="Calibri"/>
                <a:cs typeface="Calibri"/>
                <a:sym typeface="Calibri"/>
              </a:rPr>
              <a:t>cómo</a:t>
            </a:r>
            <a:r>
              <a:rPr lang="es-MX" sz="1500">
                <a:latin typeface="Calibri"/>
                <a:ea typeface="Calibri"/>
                <a:cs typeface="Calibri"/>
                <a:sym typeface="Calibri"/>
              </a:rPr>
              <a:t> hemos eliminado los transitorios debido a los impulsos de aceleración.</a:t>
            </a:r>
            <a:endParaRPr sz="1500">
              <a:latin typeface="Calibri"/>
              <a:ea typeface="Calibri"/>
              <a:cs typeface="Calibri"/>
              <a:sym typeface="Calibri"/>
            </a:endParaRPr>
          </a:p>
        </p:txBody>
      </p:sp>
      <p:sp>
        <p:nvSpPr>
          <p:cNvPr id="750" name="Google Shape;750;g3388f479b56_0_444"/>
          <p:cNvSpPr txBox="1"/>
          <p:nvPr/>
        </p:nvSpPr>
        <p:spPr>
          <a:xfrm flipH="1">
            <a:off x="11313925" y="502657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751" name="Google Shape;751;g3388f479b56_0_444"/>
          <p:cNvSpPr txBox="1"/>
          <p:nvPr/>
        </p:nvSpPr>
        <p:spPr>
          <a:xfrm flipH="1">
            <a:off x="5373350" y="502657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755" name="Shape 755"/>
        <p:cNvGrpSpPr/>
        <p:nvPr/>
      </p:nvGrpSpPr>
      <p:grpSpPr>
        <a:xfrm>
          <a:off x="0" y="0"/>
          <a:ext cx="0" cy="0"/>
          <a:chOff x="0" y="0"/>
          <a:chExt cx="0" cy="0"/>
        </a:xfrm>
      </p:grpSpPr>
      <p:sp>
        <p:nvSpPr>
          <p:cNvPr id="756" name="Google Shape;756;g346a895f855_0_485"/>
          <p:cNvSpPr txBox="1"/>
          <p:nvPr/>
        </p:nvSpPr>
        <p:spPr>
          <a:xfrm>
            <a:off x="4873200" y="114675"/>
            <a:ext cx="2445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Respuesta del sistema</a:t>
            </a:r>
            <a:endParaRPr sz="1800">
              <a:solidFill>
                <a:schemeClr val="lt1"/>
              </a:solidFill>
              <a:latin typeface="Arial"/>
              <a:ea typeface="Arial"/>
              <a:cs typeface="Arial"/>
              <a:sym typeface="Arial"/>
            </a:endParaRPr>
          </a:p>
        </p:txBody>
      </p:sp>
      <p:pic>
        <p:nvPicPr>
          <p:cNvPr id="757" name="Google Shape;757;g346a895f855_0_485"/>
          <p:cNvPicPr preferRelativeResize="0"/>
          <p:nvPr/>
        </p:nvPicPr>
        <p:blipFill>
          <a:blip r:embed="rId3">
            <a:alphaModFix/>
          </a:blip>
          <a:stretch>
            <a:fillRect/>
          </a:stretch>
        </p:blipFill>
        <p:spPr>
          <a:xfrm>
            <a:off x="313775" y="1441400"/>
            <a:ext cx="5496700" cy="3888552"/>
          </a:xfrm>
          <a:prstGeom prst="rect">
            <a:avLst/>
          </a:prstGeom>
          <a:noFill/>
          <a:ln>
            <a:noFill/>
          </a:ln>
        </p:spPr>
      </p:pic>
      <p:pic>
        <p:nvPicPr>
          <p:cNvPr id="758" name="Google Shape;758;g346a895f855_0_485"/>
          <p:cNvPicPr preferRelativeResize="0"/>
          <p:nvPr/>
        </p:nvPicPr>
        <p:blipFill>
          <a:blip r:embed="rId4">
            <a:alphaModFix/>
          </a:blip>
          <a:stretch>
            <a:fillRect/>
          </a:stretch>
        </p:blipFill>
        <p:spPr>
          <a:xfrm>
            <a:off x="6346125" y="1424825"/>
            <a:ext cx="5543608" cy="3921699"/>
          </a:xfrm>
          <a:prstGeom prst="rect">
            <a:avLst/>
          </a:prstGeom>
          <a:noFill/>
          <a:ln>
            <a:noFill/>
          </a:ln>
        </p:spPr>
      </p:pic>
      <p:sp>
        <p:nvSpPr>
          <p:cNvPr id="759" name="Google Shape;759;g346a895f855_0_485"/>
          <p:cNvSpPr txBox="1"/>
          <p:nvPr/>
        </p:nvSpPr>
        <p:spPr>
          <a:xfrm>
            <a:off x="253225" y="5426775"/>
            <a:ext cx="11184900" cy="6810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Debido a que se eliminaron los transitorios de corriente tan grandes, ahora tanto el torque como la temperatura se mantienen dentro de los </a:t>
            </a:r>
            <a:r>
              <a:rPr lang="es-MX" sz="1500">
                <a:latin typeface="Calibri"/>
                <a:ea typeface="Calibri"/>
                <a:cs typeface="Calibri"/>
                <a:sym typeface="Calibri"/>
              </a:rPr>
              <a:t>límites</a:t>
            </a:r>
            <a:r>
              <a:rPr lang="es-MX" sz="1500">
                <a:latin typeface="Calibri"/>
                <a:ea typeface="Calibri"/>
                <a:cs typeface="Calibri"/>
                <a:sym typeface="Calibri"/>
              </a:rPr>
              <a:t> operacionales.</a:t>
            </a:r>
            <a:endParaRPr sz="1500">
              <a:latin typeface="Calibri"/>
              <a:ea typeface="Calibri"/>
              <a:cs typeface="Calibri"/>
              <a:sym typeface="Calibri"/>
            </a:endParaRPr>
          </a:p>
        </p:txBody>
      </p:sp>
      <p:sp>
        <p:nvSpPr>
          <p:cNvPr id="760" name="Google Shape;760;g346a895f855_0_485"/>
          <p:cNvSpPr txBox="1"/>
          <p:nvPr/>
        </p:nvSpPr>
        <p:spPr>
          <a:xfrm flipH="1">
            <a:off x="11438125" y="502657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761" name="Google Shape;761;g346a895f855_0_485"/>
          <p:cNvSpPr txBox="1"/>
          <p:nvPr/>
        </p:nvSpPr>
        <p:spPr>
          <a:xfrm flipH="1">
            <a:off x="5297750" y="502657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765" name="Shape 765"/>
        <p:cNvGrpSpPr/>
        <p:nvPr/>
      </p:nvGrpSpPr>
      <p:grpSpPr>
        <a:xfrm>
          <a:off x="0" y="0"/>
          <a:ext cx="0" cy="0"/>
          <a:chOff x="0" y="0"/>
          <a:chExt cx="0" cy="0"/>
        </a:xfrm>
      </p:grpSpPr>
      <p:pic>
        <p:nvPicPr>
          <p:cNvPr id="766" name="Google Shape;766;g3388f479b56_0_455"/>
          <p:cNvPicPr preferRelativeResize="0"/>
          <p:nvPr/>
        </p:nvPicPr>
        <p:blipFill>
          <a:blip r:embed="rId3">
            <a:alphaModFix/>
          </a:blip>
          <a:stretch>
            <a:fillRect/>
          </a:stretch>
        </p:blipFill>
        <p:spPr>
          <a:xfrm>
            <a:off x="508587" y="997899"/>
            <a:ext cx="5587525" cy="5210500"/>
          </a:xfrm>
          <a:prstGeom prst="rect">
            <a:avLst/>
          </a:prstGeom>
          <a:noFill/>
          <a:ln>
            <a:noFill/>
          </a:ln>
        </p:spPr>
      </p:pic>
      <p:sp>
        <p:nvSpPr>
          <p:cNvPr id="767" name="Google Shape;767;g3388f479b56_0_455"/>
          <p:cNvSpPr txBox="1"/>
          <p:nvPr/>
        </p:nvSpPr>
        <p:spPr>
          <a:xfrm>
            <a:off x="2226450" y="232350"/>
            <a:ext cx="7739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Análisis de tensión de línea, frecuencia </a:t>
            </a:r>
            <a:r>
              <a:rPr b="1" lang="es-MX" sz="1800">
                <a:latin typeface="Cambria Math"/>
                <a:ea typeface="Cambria Math"/>
                <a:cs typeface="Cambria Math"/>
                <a:sym typeface="Cambria Math"/>
              </a:rPr>
              <a:t>sincrónica</a:t>
            </a:r>
            <a:r>
              <a:rPr b="1" lang="es-MX" sz="1800">
                <a:latin typeface="Cambria Math"/>
                <a:ea typeface="Cambria Math"/>
                <a:cs typeface="Cambria Math"/>
                <a:sym typeface="Cambria Math"/>
              </a:rPr>
              <a:t> y </a:t>
            </a:r>
            <a:r>
              <a:rPr b="1" lang="es-MX" sz="1800">
                <a:latin typeface="Cambria Math"/>
                <a:ea typeface="Cambria Math"/>
                <a:cs typeface="Cambria Math"/>
                <a:sym typeface="Cambria Math"/>
              </a:rPr>
              <a:t>ángulo</a:t>
            </a:r>
            <a:r>
              <a:rPr b="1" lang="es-MX" sz="1800">
                <a:latin typeface="Cambria Math"/>
                <a:ea typeface="Cambria Math"/>
                <a:cs typeface="Cambria Math"/>
                <a:sym typeface="Cambria Math"/>
              </a:rPr>
              <a:t> de torque δ(t)</a:t>
            </a:r>
            <a:endParaRPr sz="1800">
              <a:solidFill>
                <a:schemeClr val="lt1"/>
              </a:solidFill>
              <a:latin typeface="Arial"/>
              <a:ea typeface="Arial"/>
              <a:cs typeface="Arial"/>
              <a:sym typeface="Arial"/>
            </a:endParaRPr>
          </a:p>
        </p:txBody>
      </p:sp>
      <p:pic>
        <p:nvPicPr>
          <p:cNvPr id="768" name="Google Shape;768;g3388f479b56_0_455"/>
          <p:cNvPicPr preferRelativeResize="0"/>
          <p:nvPr/>
        </p:nvPicPr>
        <p:blipFill>
          <a:blip r:embed="rId4">
            <a:alphaModFix/>
          </a:blip>
          <a:stretch>
            <a:fillRect/>
          </a:stretch>
        </p:blipFill>
        <p:spPr>
          <a:xfrm>
            <a:off x="6298937" y="1568750"/>
            <a:ext cx="5760838" cy="4068798"/>
          </a:xfrm>
          <a:prstGeom prst="rect">
            <a:avLst/>
          </a:prstGeom>
          <a:noFill/>
          <a:ln>
            <a:noFill/>
          </a:ln>
        </p:spPr>
      </p:pic>
      <p:sp>
        <p:nvSpPr>
          <p:cNvPr id="769" name="Google Shape;769;g3388f479b56_0_455"/>
          <p:cNvSpPr txBox="1"/>
          <p:nvPr/>
        </p:nvSpPr>
        <p:spPr>
          <a:xfrm flipH="1">
            <a:off x="11601175" y="52373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773" name="Shape 773"/>
        <p:cNvGrpSpPr/>
        <p:nvPr/>
      </p:nvGrpSpPr>
      <p:grpSpPr>
        <a:xfrm>
          <a:off x="0" y="0"/>
          <a:ext cx="0" cy="0"/>
          <a:chOff x="0" y="0"/>
          <a:chExt cx="0" cy="0"/>
        </a:xfrm>
      </p:grpSpPr>
      <p:pic>
        <p:nvPicPr>
          <p:cNvPr id="774" name="Google Shape;774;g3388f479b56_0_462"/>
          <p:cNvPicPr preferRelativeResize="0"/>
          <p:nvPr/>
        </p:nvPicPr>
        <p:blipFill>
          <a:blip r:embed="rId3">
            <a:alphaModFix/>
          </a:blip>
          <a:stretch>
            <a:fillRect/>
          </a:stretch>
        </p:blipFill>
        <p:spPr>
          <a:xfrm>
            <a:off x="1766463" y="125963"/>
            <a:ext cx="8659074" cy="3474875"/>
          </a:xfrm>
          <a:prstGeom prst="rect">
            <a:avLst/>
          </a:prstGeom>
          <a:noFill/>
          <a:ln>
            <a:noFill/>
          </a:ln>
        </p:spPr>
      </p:pic>
      <p:pic>
        <p:nvPicPr>
          <p:cNvPr id="775" name="Google Shape;775;g3388f479b56_0_462"/>
          <p:cNvPicPr preferRelativeResize="0"/>
          <p:nvPr/>
        </p:nvPicPr>
        <p:blipFill>
          <a:blip r:embed="rId4">
            <a:alphaModFix/>
          </a:blip>
          <a:stretch>
            <a:fillRect/>
          </a:stretch>
        </p:blipFill>
        <p:spPr>
          <a:xfrm>
            <a:off x="6169350" y="3748875"/>
            <a:ext cx="4240375" cy="2999773"/>
          </a:xfrm>
          <a:prstGeom prst="rect">
            <a:avLst/>
          </a:prstGeom>
          <a:noFill/>
          <a:ln>
            <a:noFill/>
          </a:ln>
        </p:spPr>
      </p:pic>
      <p:pic>
        <p:nvPicPr>
          <p:cNvPr id="776" name="Google Shape;776;g3388f479b56_0_462"/>
          <p:cNvPicPr preferRelativeResize="0"/>
          <p:nvPr/>
        </p:nvPicPr>
        <p:blipFill>
          <a:blip r:embed="rId5">
            <a:alphaModFix/>
          </a:blip>
          <a:stretch>
            <a:fillRect/>
          </a:stretch>
        </p:blipFill>
        <p:spPr>
          <a:xfrm>
            <a:off x="1766475" y="3748875"/>
            <a:ext cx="4240374" cy="2998569"/>
          </a:xfrm>
          <a:prstGeom prst="rect">
            <a:avLst/>
          </a:prstGeom>
          <a:noFill/>
          <a:ln>
            <a:noFill/>
          </a:ln>
        </p:spPr>
      </p:pic>
      <p:sp>
        <p:nvSpPr>
          <p:cNvPr id="777" name="Google Shape;777;g3388f479b56_0_462"/>
          <p:cNvSpPr txBox="1"/>
          <p:nvPr/>
        </p:nvSpPr>
        <p:spPr>
          <a:xfrm flipH="1">
            <a:off x="10119525" y="63484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778" name="Google Shape;778;g3388f479b56_0_462"/>
          <p:cNvSpPr txBox="1"/>
          <p:nvPr/>
        </p:nvSpPr>
        <p:spPr>
          <a:xfrm flipH="1">
            <a:off x="5596525" y="64157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779" name="Google Shape;779;g3388f479b56_0_462"/>
          <p:cNvSpPr/>
          <p:nvPr/>
        </p:nvSpPr>
        <p:spPr>
          <a:xfrm>
            <a:off x="3663650" y="4152725"/>
            <a:ext cx="480300" cy="2127000"/>
          </a:xfrm>
          <a:prstGeom prst="donut">
            <a:avLst>
              <a:gd fmla="val 460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0" name="Google Shape;780;g3388f479b56_0_462"/>
          <p:cNvSpPr/>
          <p:nvPr/>
        </p:nvSpPr>
        <p:spPr>
          <a:xfrm>
            <a:off x="3805150" y="6173850"/>
            <a:ext cx="3130200" cy="574800"/>
          </a:xfrm>
          <a:prstGeom prst="curvedUpArrow">
            <a:avLst>
              <a:gd fmla="val 3747" name="adj1"/>
              <a:gd fmla="val 31112" name="adj2"/>
              <a:gd fmla="val 22387"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784" name="Shape 784"/>
        <p:cNvGrpSpPr/>
        <p:nvPr/>
      </p:nvGrpSpPr>
      <p:grpSpPr>
        <a:xfrm>
          <a:off x="0" y="0"/>
          <a:ext cx="0" cy="0"/>
          <a:chOff x="0" y="0"/>
          <a:chExt cx="0" cy="0"/>
        </a:xfrm>
      </p:grpSpPr>
      <p:pic>
        <p:nvPicPr>
          <p:cNvPr id="785" name="Google Shape;785;g3388f479b56_0_471"/>
          <p:cNvPicPr preferRelativeResize="0"/>
          <p:nvPr/>
        </p:nvPicPr>
        <p:blipFill>
          <a:blip r:embed="rId3">
            <a:alphaModFix/>
          </a:blip>
          <a:stretch>
            <a:fillRect/>
          </a:stretch>
        </p:blipFill>
        <p:spPr>
          <a:xfrm>
            <a:off x="291713" y="1617175"/>
            <a:ext cx="5734050" cy="4048125"/>
          </a:xfrm>
          <a:prstGeom prst="rect">
            <a:avLst/>
          </a:prstGeom>
          <a:noFill/>
          <a:ln>
            <a:noFill/>
          </a:ln>
        </p:spPr>
      </p:pic>
      <p:sp>
        <p:nvSpPr>
          <p:cNvPr id="786" name="Google Shape;786;g3388f479b56_0_471"/>
          <p:cNvSpPr/>
          <p:nvPr/>
        </p:nvSpPr>
        <p:spPr>
          <a:xfrm>
            <a:off x="1772738" y="2448775"/>
            <a:ext cx="2772000" cy="1755900"/>
          </a:xfrm>
          <a:prstGeom prst="donut">
            <a:avLst>
              <a:gd fmla="val 460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787" name="Google Shape;787;g3388f479b56_0_471"/>
          <p:cNvPicPr preferRelativeResize="0"/>
          <p:nvPr/>
        </p:nvPicPr>
        <p:blipFill>
          <a:blip r:embed="rId4">
            <a:alphaModFix/>
          </a:blip>
          <a:stretch>
            <a:fillRect/>
          </a:stretch>
        </p:blipFill>
        <p:spPr>
          <a:xfrm>
            <a:off x="6166238" y="1036600"/>
            <a:ext cx="5734050" cy="4048125"/>
          </a:xfrm>
          <a:prstGeom prst="rect">
            <a:avLst/>
          </a:prstGeom>
          <a:noFill/>
          <a:ln>
            <a:noFill/>
          </a:ln>
        </p:spPr>
      </p:pic>
      <p:sp>
        <p:nvSpPr>
          <p:cNvPr id="788" name="Google Shape;788;g3388f479b56_0_471"/>
          <p:cNvSpPr/>
          <p:nvPr/>
        </p:nvSpPr>
        <p:spPr>
          <a:xfrm>
            <a:off x="2767863" y="4204675"/>
            <a:ext cx="6387000" cy="1616700"/>
          </a:xfrm>
          <a:prstGeom prst="curvedUpArrow">
            <a:avLst>
              <a:gd fmla="val 9529" name="adj1"/>
              <a:gd fmla="val 33849" name="adj2"/>
              <a:gd fmla="val 22387"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9" name="Google Shape;789;g3388f479b56_0_471"/>
          <p:cNvSpPr txBox="1"/>
          <p:nvPr/>
        </p:nvSpPr>
        <p:spPr>
          <a:xfrm flipH="1">
            <a:off x="11594300" y="473162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790" name="Google Shape;790;g3388f479b56_0_471"/>
          <p:cNvSpPr txBox="1"/>
          <p:nvPr/>
        </p:nvSpPr>
        <p:spPr>
          <a:xfrm flipH="1">
            <a:off x="5521025" y="52651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794" name="Shape 794"/>
        <p:cNvGrpSpPr/>
        <p:nvPr/>
      </p:nvGrpSpPr>
      <p:grpSpPr>
        <a:xfrm>
          <a:off x="0" y="0"/>
          <a:ext cx="0" cy="0"/>
          <a:chOff x="0" y="0"/>
          <a:chExt cx="0" cy="0"/>
        </a:xfrm>
      </p:grpSpPr>
      <p:sp>
        <p:nvSpPr>
          <p:cNvPr id="795" name="Google Shape;795;g3388f479b56_0_478"/>
          <p:cNvSpPr txBox="1"/>
          <p:nvPr/>
        </p:nvSpPr>
        <p:spPr>
          <a:xfrm>
            <a:off x="3063575" y="2920050"/>
            <a:ext cx="9163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lt1"/>
              </a:solidFill>
            </a:endParaRPr>
          </a:p>
        </p:txBody>
      </p:sp>
      <p:pic>
        <p:nvPicPr>
          <p:cNvPr id="796" name="Google Shape;796;g3388f479b56_0_478"/>
          <p:cNvPicPr preferRelativeResize="0"/>
          <p:nvPr/>
        </p:nvPicPr>
        <p:blipFill>
          <a:blip r:embed="rId3">
            <a:alphaModFix/>
          </a:blip>
          <a:stretch>
            <a:fillRect/>
          </a:stretch>
        </p:blipFill>
        <p:spPr>
          <a:xfrm>
            <a:off x="1346863" y="76200"/>
            <a:ext cx="9498285" cy="6705600"/>
          </a:xfrm>
          <a:prstGeom prst="rect">
            <a:avLst/>
          </a:prstGeom>
          <a:noFill/>
          <a:ln>
            <a:noFill/>
          </a:ln>
        </p:spPr>
      </p:pic>
      <p:sp>
        <p:nvSpPr>
          <p:cNvPr id="797" name="Google Shape;797;g3388f479b56_0_478"/>
          <p:cNvSpPr txBox="1"/>
          <p:nvPr/>
        </p:nvSpPr>
        <p:spPr>
          <a:xfrm flipH="1">
            <a:off x="10298125" y="63816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801" name="Shape 801"/>
        <p:cNvGrpSpPr/>
        <p:nvPr/>
      </p:nvGrpSpPr>
      <p:grpSpPr>
        <a:xfrm>
          <a:off x="0" y="0"/>
          <a:ext cx="0" cy="0"/>
          <a:chOff x="0" y="0"/>
          <a:chExt cx="0" cy="0"/>
        </a:xfrm>
      </p:grpSpPr>
      <p:pic>
        <p:nvPicPr>
          <p:cNvPr id="802" name="Google Shape;802;g343505fcc5c_1_35"/>
          <p:cNvPicPr preferRelativeResize="0"/>
          <p:nvPr/>
        </p:nvPicPr>
        <p:blipFill>
          <a:blip r:embed="rId3">
            <a:alphaModFix/>
          </a:blip>
          <a:stretch>
            <a:fillRect/>
          </a:stretch>
        </p:blipFill>
        <p:spPr>
          <a:xfrm>
            <a:off x="176213" y="880050"/>
            <a:ext cx="5734050" cy="4048125"/>
          </a:xfrm>
          <a:prstGeom prst="rect">
            <a:avLst/>
          </a:prstGeom>
          <a:noFill/>
          <a:ln>
            <a:noFill/>
          </a:ln>
        </p:spPr>
      </p:pic>
      <p:pic>
        <p:nvPicPr>
          <p:cNvPr id="803" name="Google Shape;803;g343505fcc5c_1_35"/>
          <p:cNvPicPr preferRelativeResize="0"/>
          <p:nvPr/>
        </p:nvPicPr>
        <p:blipFill>
          <a:blip r:embed="rId4">
            <a:alphaModFix/>
          </a:blip>
          <a:stretch>
            <a:fillRect/>
          </a:stretch>
        </p:blipFill>
        <p:spPr>
          <a:xfrm>
            <a:off x="6281738" y="880050"/>
            <a:ext cx="5734050" cy="4048125"/>
          </a:xfrm>
          <a:prstGeom prst="rect">
            <a:avLst/>
          </a:prstGeom>
          <a:noFill/>
          <a:ln>
            <a:noFill/>
          </a:ln>
        </p:spPr>
      </p:pic>
      <p:sp>
        <p:nvSpPr>
          <p:cNvPr id="804" name="Google Shape;804;g343505fcc5c_1_35"/>
          <p:cNvSpPr/>
          <p:nvPr/>
        </p:nvSpPr>
        <p:spPr>
          <a:xfrm>
            <a:off x="1644538" y="2240000"/>
            <a:ext cx="1259700" cy="1279500"/>
          </a:xfrm>
          <a:prstGeom prst="donut">
            <a:avLst>
              <a:gd fmla="val 7918"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05" name="Google Shape;805;g343505fcc5c_1_35"/>
          <p:cNvSpPr/>
          <p:nvPr/>
        </p:nvSpPr>
        <p:spPr>
          <a:xfrm rot="562859">
            <a:off x="1736199" y="3845350"/>
            <a:ext cx="6079201" cy="1624001"/>
          </a:xfrm>
          <a:prstGeom prst="curvedUpArrow">
            <a:avLst>
              <a:gd fmla="val 9529" name="adj1"/>
              <a:gd fmla="val 22701" name="adj2"/>
              <a:gd fmla="val 20794"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06" name="Google Shape;806;g343505fcc5c_1_35"/>
          <p:cNvSpPr txBox="1"/>
          <p:nvPr/>
        </p:nvSpPr>
        <p:spPr>
          <a:xfrm flipH="1">
            <a:off x="5604275" y="452797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807" name="Google Shape;807;g343505fcc5c_1_35"/>
          <p:cNvSpPr txBox="1"/>
          <p:nvPr/>
        </p:nvSpPr>
        <p:spPr>
          <a:xfrm flipH="1">
            <a:off x="11709800" y="452797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811" name="Shape 811"/>
        <p:cNvGrpSpPr/>
        <p:nvPr/>
      </p:nvGrpSpPr>
      <p:grpSpPr>
        <a:xfrm>
          <a:off x="0" y="0"/>
          <a:ext cx="0" cy="0"/>
          <a:chOff x="0" y="0"/>
          <a:chExt cx="0" cy="0"/>
        </a:xfrm>
      </p:grpSpPr>
      <p:sp>
        <p:nvSpPr>
          <p:cNvPr id="812" name="Google Shape;812;g3388f479b56_0_486"/>
          <p:cNvSpPr txBox="1"/>
          <p:nvPr/>
        </p:nvSpPr>
        <p:spPr>
          <a:xfrm>
            <a:off x="3993600" y="149675"/>
            <a:ext cx="42048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MX" sz="1800">
                <a:latin typeface="Cambria Math"/>
                <a:ea typeface="Cambria Math"/>
                <a:cs typeface="Cambria Math"/>
                <a:sym typeface="Cambria Math"/>
              </a:rPr>
              <a:t>Estrategia de debilitamiento y reforzamiento de campo a lazo cerrado</a:t>
            </a:r>
            <a:endParaRPr sz="1800">
              <a:solidFill>
                <a:schemeClr val="lt1"/>
              </a:solidFill>
              <a:latin typeface="Arial"/>
              <a:ea typeface="Arial"/>
              <a:cs typeface="Arial"/>
              <a:sym typeface="Arial"/>
            </a:endParaRPr>
          </a:p>
        </p:txBody>
      </p:sp>
      <p:sp>
        <p:nvSpPr>
          <p:cNvPr id="813" name="Google Shape;813;g3388f479b56_0_486"/>
          <p:cNvSpPr txBox="1"/>
          <p:nvPr/>
        </p:nvSpPr>
        <p:spPr>
          <a:xfrm>
            <a:off x="253225" y="907950"/>
            <a:ext cx="109662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Desarrollaremos un lazo de control para la corriente id(t), análogo al de la corriente iq(t):</a:t>
            </a:r>
            <a:endParaRPr sz="1500">
              <a:latin typeface="Calibri"/>
              <a:ea typeface="Calibri"/>
              <a:cs typeface="Calibri"/>
              <a:sym typeface="Calibri"/>
            </a:endParaRPr>
          </a:p>
        </p:txBody>
      </p:sp>
      <p:pic>
        <p:nvPicPr>
          <p:cNvPr id="814" name="Google Shape;814;g3388f479b56_0_486"/>
          <p:cNvPicPr preferRelativeResize="0"/>
          <p:nvPr/>
        </p:nvPicPr>
        <p:blipFill>
          <a:blip r:embed="rId3">
            <a:alphaModFix/>
          </a:blip>
          <a:stretch>
            <a:fillRect/>
          </a:stretch>
        </p:blipFill>
        <p:spPr>
          <a:xfrm>
            <a:off x="253225" y="1364925"/>
            <a:ext cx="6734175" cy="4019550"/>
          </a:xfrm>
          <a:prstGeom prst="rect">
            <a:avLst/>
          </a:prstGeom>
          <a:noFill/>
          <a:ln>
            <a:noFill/>
          </a:ln>
        </p:spPr>
      </p:pic>
      <p:sp>
        <p:nvSpPr>
          <p:cNvPr id="815" name="Google Shape;815;g3388f479b56_0_486"/>
          <p:cNvSpPr txBox="1"/>
          <p:nvPr/>
        </p:nvSpPr>
        <p:spPr>
          <a:xfrm>
            <a:off x="253225" y="5384475"/>
            <a:ext cx="10966200" cy="6810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Con este lazo de control proporcional podremos controlar de forma precisa el valor de id(t), para poder realizar debilitamiento/reforzamiento de campo.</a:t>
            </a:r>
            <a:endParaRPr sz="1500">
              <a:latin typeface="Calibri"/>
              <a:ea typeface="Calibri"/>
              <a:cs typeface="Calibri"/>
              <a:sym typeface="Calibri"/>
            </a:endParaRPr>
          </a:p>
        </p:txBody>
      </p:sp>
      <p:pic>
        <p:nvPicPr>
          <p:cNvPr id="816" name="Google Shape;816;g3388f479b56_0_486"/>
          <p:cNvPicPr preferRelativeResize="0"/>
          <p:nvPr/>
        </p:nvPicPr>
        <p:blipFill>
          <a:blip r:embed="rId4">
            <a:alphaModFix/>
          </a:blip>
          <a:stretch>
            <a:fillRect/>
          </a:stretch>
        </p:blipFill>
        <p:spPr>
          <a:xfrm>
            <a:off x="7241975" y="3014663"/>
            <a:ext cx="4543425" cy="82867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820" name="Shape 820"/>
        <p:cNvGrpSpPr/>
        <p:nvPr/>
      </p:nvGrpSpPr>
      <p:grpSpPr>
        <a:xfrm>
          <a:off x="0" y="0"/>
          <a:ext cx="0" cy="0"/>
          <a:chOff x="0" y="0"/>
          <a:chExt cx="0" cy="0"/>
        </a:xfrm>
      </p:grpSpPr>
      <p:sp>
        <p:nvSpPr>
          <p:cNvPr id="821" name="Google Shape;821;g346a895f855_0_522"/>
          <p:cNvSpPr txBox="1"/>
          <p:nvPr/>
        </p:nvSpPr>
        <p:spPr>
          <a:xfrm>
            <a:off x="3993600" y="149675"/>
            <a:ext cx="42048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MX" sz="1800">
                <a:latin typeface="Cambria Math"/>
                <a:ea typeface="Cambria Math"/>
                <a:cs typeface="Cambria Math"/>
                <a:sym typeface="Cambria Math"/>
              </a:rPr>
              <a:t>Estrategia de debilitamiento y reforzamiento de campo a lazo cerrado</a:t>
            </a:r>
            <a:endParaRPr sz="1800">
              <a:solidFill>
                <a:schemeClr val="lt1"/>
              </a:solidFill>
              <a:latin typeface="Arial"/>
              <a:ea typeface="Arial"/>
              <a:cs typeface="Arial"/>
              <a:sym typeface="Arial"/>
            </a:endParaRPr>
          </a:p>
        </p:txBody>
      </p:sp>
      <p:sp>
        <p:nvSpPr>
          <p:cNvPr id="822" name="Google Shape;822;g346a895f855_0_522"/>
          <p:cNvSpPr txBox="1"/>
          <p:nvPr/>
        </p:nvSpPr>
        <p:spPr>
          <a:xfrm>
            <a:off x="253225" y="907950"/>
            <a:ext cx="109662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A la salida del lazo de control tendremos:</a:t>
            </a:r>
            <a:endParaRPr sz="1500">
              <a:latin typeface="Calibri"/>
              <a:ea typeface="Calibri"/>
              <a:cs typeface="Calibri"/>
              <a:sym typeface="Calibri"/>
            </a:endParaRPr>
          </a:p>
        </p:txBody>
      </p:sp>
      <p:pic>
        <p:nvPicPr>
          <p:cNvPr id="823" name="Google Shape;823;g346a895f855_0_522"/>
          <p:cNvPicPr preferRelativeResize="0"/>
          <p:nvPr/>
        </p:nvPicPr>
        <p:blipFill>
          <a:blip r:embed="rId3">
            <a:alphaModFix/>
          </a:blip>
          <a:stretch>
            <a:fillRect/>
          </a:stretch>
        </p:blipFill>
        <p:spPr>
          <a:xfrm>
            <a:off x="253225" y="1323450"/>
            <a:ext cx="7553325" cy="933450"/>
          </a:xfrm>
          <a:prstGeom prst="rect">
            <a:avLst/>
          </a:prstGeom>
          <a:noFill/>
          <a:ln>
            <a:noFill/>
          </a:ln>
        </p:spPr>
      </p:pic>
      <p:sp>
        <p:nvSpPr>
          <p:cNvPr id="824" name="Google Shape;824;g346a895f855_0_522"/>
          <p:cNvSpPr txBox="1"/>
          <p:nvPr/>
        </p:nvSpPr>
        <p:spPr>
          <a:xfrm>
            <a:off x="253225" y="2256900"/>
            <a:ext cx="109662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Como asumimos al inversor de tensión ideal, la ecuación de tensión en el eje d queda:</a:t>
            </a:r>
            <a:endParaRPr sz="1500">
              <a:latin typeface="Calibri"/>
              <a:ea typeface="Calibri"/>
              <a:cs typeface="Calibri"/>
              <a:sym typeface="Calibri"/>
            </a:endParaRPr>
          </a:p>
        </p:txBody>
      </p:sp>
      <p:pic>
        <p:nvPicPr>
          <p:cNvPr id="825" name="Google Shape;825;g346a895f855_0_522"/>
          <p:cNvPicPr preferRelativeResize="0"/>
          <p:nvPr/>
        </p:nvPicPr>
        <p:blipFill>
          <a:blip r:embed="rId4">
            <a:alphaModFix/>
          </a:blip>
          <a:stretch>
            <a:fillRect/>
          </a:stretch>
        </p:blipFill>
        <p:spPr>
          <a:xfrm>
            <a:off x="253225" y="2723950"/>
            <a:ext cx="6267450" cy="981075"/>
          </a:xfrm>
          <a:prstGeom prst="rect">
            <a:avLst/>
          </a:prstGeom>
          <a:noFill/>
          <a:ln>
            <a:noFill/>
          </a:ln>
        </p:spPr>
      </p:pic>
      <p:sp>
        <p:nvSpPr>
          <p:cNvPr id="826" name="Google Shape;826;g346a895f855_0_522"/>
          <p:cNvSpPr txBox="1"/>
          <p:nvPr/>
        </p:nvSpPr>
        <p:spPr>
          <a:xfrm>
            <a:off x="253225" y="3705025"/>
            <a:ext cx="10966200" cy="6810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Llevando la ecuación al dominio de Laplace, podemos obtener la función de transferencia y podremos obtener Rd’ posicionando el polo de la misma en s = -5000:</a:t>
            </a:r>
            <a:endParaRPr sz="1500">
              <a:latin typeface="Calibri"/>
              <a:ea typeface="Calibri"/>
              <a:cs typeface="Calibri"/>
              <a:sym typeface="Calibri"/>
            </a:endParaRPr>
          </a:p>
        </p:txBody>
      </p:sp>
      <p:pic>
        <p:nvPicPr>
          <p:cNvPr id="827" name="Google Shape;827;g346a895f855_0_522"/>
          <p:cNvPicPr preferRelativeResize="0"/>
          <p:nvPr/>
        </p:nvPicPr>
        <p:blipFill>
          <a:blip r:embed="rId5">
            <a:alphaModFix/>
          </a:blip>
          <a:stretch>
            <a:fillRect/>
          </a:stretch>
        </p:blipFill>
        <p:spPr>
          <a:xfrm>
            <a:off x="303650" y="4386025"/>
            <a:ext cx="3476625" cy="1162050"/>
          </a:xfrm>
          <a:prstGeom prst="rect">
            <a:avLst/>
          </a:prstGeom>
          <a:noFill/>
          <a:ln>
            <a:noFill/>
          </a:ln>
        </p:spPr>
      </p:pic>
      <p:pic>
        <p:nvPicPr>
          <p:cNvPr id="828" name="Google Shape;828;g346a895f855_0_522"/>
          <p:cNvPicPr preferRelativeResize="0"/>
          <p:nvPr/>
        </p:nvPicPr>
        <p:blipFill>
          <a:blip r:embed="rId6">
            <a:alphaModFix/>
          </a:blip>
          <a:stretch>
            <a:fillRect/>
          </a:stretch>
        </p:blipFill>
        <p:spPr>
          <a:xfrm>
            <a:off x="4514850" y="4552713"/>
            <a:ext cx="3162300" cy="828675"/>
          </a:xfrm>
          <a:prstGeom prst="rect">
            <a:avLst/>
          </a:prstGeom>
          <a:noFill/>
          <a:ln>
            <a:noFill/>
          </a:ln>
        </p:spPr>
      </p:pic>
      <p:pic>
        <p:nvPicPr>
          <p:cNvPr id="829" name="Google Shape;829;g346a895f855_0_522"/>
          <p:cNvPicPr preferRelativeResize="0"/>
          <p:nvPr/>
        </p:nvPicPr>
        <p:blipFill>
          <a:blip r:embed="rId7">
            <a:alphaModFix/>
          </a:blip>
          <a:stretch>
            <a:fillRect/>
          </a:stretch>
        </p:blipFill>
        <p:spPr>
          <a:xfrm>
            <a:off x="8462150" y="4586038"/>
            <a:ext cx="1838325" cy="7620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833" name="Shape 833"/>
        <p:cNvGrpSpPr/>
        <p:nvPr/>
      </p:nvGrpSpPr>
      <p:grpSpPr>
        <a:xfrm>
          <a:off x="0" y="0"/>
          <a:ext cx="0" cy="0"/>
          <a:chOff x="0" y="0"/>
          <a:chExt cx="0" cy="0"/>
        </a:xfrm>
      </p:grpSpPr>
      <p:sp>
        <p:nvSpPr>
          <p:cNvPr id="834" name="Google Shape;834;g346a895f855_0_509"/>
          <p:cNvSpPr txBox="1"/>
          <p:nvPr/>
        </p:nvSpPr>
        <p:spPr>
          <a:xfrm>
            <a:off x="3993600" y="149675"/>
            <a:ext cx="420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Reforzamiento de campo a lazo cerrado</a:t>
            </a:r>
            <a:endParaRPr sz="1800">
              <a:solidFill>
                <a:schemeClr val="lt1"/>
              </a:solidFill>
              <a:latin typeface="Arial"/>
              <a:ea typeface="Arial"/>
              <a:cs typeface="Arial"/>
              <a:sym typeface="Arial"/>
            </a:endParaRPr>
          </a:p>
        </p:txBody>
      </p:sp>
      <p:pic>
        <p:nvPicPr>
          <p:cNvPr id="835" name="Google Shape;835;g346a895f855_0_509"/>
          <p:cNvPicPr preferRelativeResize="0"/>
          <p:nvPr/>
        </p:nvPicPr>
        <p:blipFill>
          <a:blip r:embed="rId3">
            <a:alphaModFix/>
          </a:blip>
          <a:stretch>
            <a:fillRect/>
          </a:stretch>
        </p:blipFill>
        <p:spPr>
          <a:xfrm>
            <a:off x="6482200" y="1510650"/>
            <a:ext cx="5566774" cy="3938100"/>
          </a:xfrm>
          <a:prstGeom prst="rect">
            <a:avLst/>
          </a:prstGeom>
          <a:noFill/>
          <a:ln>
            <a:noFill/>
          </a:ln>
        </p:spPr>
      </p:pic>
      <p:pic>
        <p:nvPicPr>
          <p:cNvPr id="836" name="Google Shape;836;g346a895f855_0_509"/>
          <p:cNvPicPr preferRelativeResize="0"/>
          <p:nvPr/>
        </p:nvPicPr>
        <p:blipFill>
          <a:blip r:embed="rId4">
            <a:alphaModFix/>
          </a:blip>
          <a:stretch>
            <a:fillRect/>
          </a:stretch>
        </p:blipFill>
        <p:spPr>
          <a:xfrm>
            <a:off x="199050" y="1515150"/>
            <a:ext cx="5566775" cy="3929112"/>
          </a:xfrm>
          <a:prstGeom prst="rect">
            <a:avLst/>
          </a:prstGeom>
          <a:noFill/>
          <a:ln>
            <a:noFill/>
          </a:ln>
        </p:spPr>
      </p:pic>
      <p:sp>
        <p:nvSpPr>
          <p:cNvPr id="837" name="Google Shape;837;g346a895f855_0_509"/>
          <p:cNvSpPr txBox="1"/>
          <p:nvPr/>
        </p:nvSpPr>
        <p:spPr>
          <a:xfrm flipH="1">
            <a:off x="5257800" y="50485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838" name="Google Shape;838;g346a895f855_0_509"/>
          <p:cNvSpPr txBox="1"/>
          <p:nvPr/>
        </p:nvSpPr>
        <p:spPr>
          <a:xfrm flipH="1">
            <a:off x="11541925" y="50485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842" name="Shape 842"/>
        <p:cNvGrpSpPr/>
        <p:nvPr/>
      </p:nvGrpSpPr>
      <p:grpSpPr>
        <a:xfrm>
          <a:off x="0" y="0"/>
          <a:ext cx="0" cy="0"/>
          <a:chOff x="0" y="0"/>
          <a:chExt cx="0" cy="0"/>
        </a:xfrm>
      </p:grpSpPr>
      <p:sp>
        <p:nvSpPr>
          <p:cNvPr id="843" name="Google Shape;843;g34155d50a00_0_22"/>
          <p:cNvSpPr txBox="1"/>
          <p:nvPr/>
        </p:nvSpPr>
        <p:spPr>
          <a:xfrm>
            <a:off x="3993600" y="149675"/>
            <a:ext cx="420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R</a:t>
            </a:r>
            <a:r>
              <a:rPr b="1" lang="es-MX" sz="1800">
                <a:latin typeface="Cambria Math"/>
                <a:ea typeface="Cambria Math"/>
                <a:cs typeface="Cambria Math"/>
                <a:sym typeface="Cambria Math"/>
              </a:rPr>
              <a:t>eforzamiento de campo a lazo cerrado</a:t>
            </a:r>
            <a:endParaRPr sz="1800">
              <a:solidFill>
                <a:schemeClr val="lt1"/>
              </a:solidFill>
              <a:latin typeface="Arial"/>
              <a:ea typeface="Arial"/>
              <a:cs typeface="Arial"/>
              <a:sym typeface="Arial"/>
            </a:endParaRPr>
          </a:p>
        </p:txBody>
      </p:sp>
      <p:pic>
        <p:nvPicPr>
          <p:cNvPr id="844" name="Google Shape;844;g34155d50a00_0_22"/>
          <p:cNvPicPr preferRelativeResize="0"/>
          <p:nvPr/>
        </p:nvPicPr>
        <p:blipFill>
          <a:blip r:embed="rId3">
            <a:alphaModFix/>
          </a:blip>
          <a:stretch>
            <a:fillRect/>
          </a:stretch>
        </p:blipFill>
        <p:spPr>
          <a:xfrm>
            <a:off x="6477600" y="3733625"/>
            <a:ext cx="4345250" cy="3073954"/>
          </a:xfrm>
          <a:prstGeom prst="rect">
            <a:avLst/>
          </a:prstGeom>
          <a:noFill/>
          <a:ln>
            <a:noFill/>
          </a:ln>
        </p:spPr>
      </p:pic>
      <p:pic>
        <p:nvPicPr>
          <p:cNvPr id="845" name="Google Shape;845;g34155d50a00_0_22"/>
          <p:cNvPicPr preferRelativeResize="0"/>
          <p:nvPr/>
        </p:nvPicPr>
        <p:blipFill>
          <a:blip r:embed="rId4">
            <a:alphaModFix/>
          </a:blip>
          <a:stretch>
            <a:fillRect/>
          </a:stretch>
        </p:blipFill>
        <p:spPr>
          <a:xfrm>
            <a:off x="6477600" y="594287"/>
            <a:ext cx="4345250" cy="3064028"/>
          </a:xfrm>
          <a:prstGeom prst="rect">
            <a:avLst/>
          </a:prstGeom>
          <a:noFill/>
          <a:ln>
            <a:noFill/>
          </a:ln>
        </p:spPr>
      </p:pic>
      <p:pic>
        <p:nvPicPr>
          <p:cNvPr id="846" name="Google Shape;846;g34155d50a00_0_22"/>
          <p:cNvPicPr preferRelativeResize="0"/>
          <p:nvPr/>
        </p:nvPicPr>
        <p:blipFill>
          <a:blip r:embed="rId5">
            <a:alphaModFix/>
          </a:blip>
          <a:stretch>
            <a:fillRect/>
          </a:stretch>
        </p:blipFill>
        <p:spPr>
          <a:xfrm>
            <a:off x="1305675" y="614525"/>
            <a:ext cx="4451350" cy="3073976"/>
          </a:xfrm>
          <a:prstGeom prst="rect">
            <a:avLst/>
          </a:prstGeom>
          <a:noFill/>
          <a:ln>
            <a:noFill/>
          </a:ln>
        </p:spPr>
      </p:pic>
      <p:pic>
        <p:nvPicPr>
          <p:cNvPr id="847" name="Google Shape;847;g34155d50a00_0_22"/>
          <p:cNvPicPr preferRelativeResize="0"/>
          <p:nvPr/>
        </p:nvPicPr>
        <p:blipFill>
          <a:blip r:embed="rId6">
            <a:alphaModFix/>
          </a:blip>
          <a:stretch>
            <a:fillRect/>
          </a:stretch>
        </p:blipFill>
        <p:spPr>
          <a:xfrm>
            <a:off x="1485150" y="3784050"/>
            <a:ext cx="4264074" cy="3064050"/>
          </a:xfrm>
          <a:prstGeom prst="rect">
            <a:avLst/>
          </a:prstGeom>
          <a:noFill/>
          <a:ln>
            <a:noFill/>
          </a:ln>
        </p:spPr>
      </p:pic>
      <p:sp>
        <p:nvSpPr>
          <p:cNvPr id="848" name="Google Shape;848;g34155d50a00_0_22"/>
          <p:cNvSpPr txBox="1"/>
          <p:nvPr/>
        </p:nvSpPr>
        <p:spPr>
          <a:xfrm flipH="1">
            <a:off x="5451025" y="333342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849" name="Google Shape;849;g34155d50a00_0_22"/>
          <p:cNvSpPr txBox="1"/>
          <p:nvPr/>
        </p:nvSpPr>
        <p:spPr>
          <a:xfrm flipH="1">
            <a:off x="10411300" y="333342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850" name="Google Shape;850;g34155d50a00_0_22"/>
          <p:cNvSpPr txBox="1"/>
          <p:nvPr/>
        </p:nvSpPr>
        <p:spPr>
          <a:xfrm flipH="1">
            <a:off x="10411300" y="640737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851" name="Google Shape;851;g34155d50a00_0_22"/>
          <p:cNvSpPr txBox="1"/>
          <p:nvPr/>
        </p:nvSpPr>
        <p:spPr>
          <a:xfrm flipH="1">
            <a:off x="5451025" y="64578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pic>
        <p:nvPicPr>
          <p:cNvPr id="852" name="Google Shape;852;g34155d50a00_0_22"/>
          <p:cNvPicPr preferRelativeResize="0"/>
          <p:nvPr/>
        </p:nvPicPr>
        <p:blipFill>
          <a:blip r:embed="rId7">
            <a:alphaModFix/>
          </a:blip>
          <a:stretch>
            <a:fillRect/>
          </a:stretch>
        </p:blipFill>
        <p:spPr>
          <a:xfrm>
            <a:off x="1305670" y="3784050"/>
            <a:ext cx="179475" cy="3064050"/>
          </a:xfrm>
          <a:prstGeom prst="rect">
            <a:avLst/>
          </a:prstGeom>
          <a:noFill/>
          <a:ln>
            <a:noFill/>
          </a:ln>
        </p:spPr>
      </p:pic>
      <p:sp>
        <p:nvSpPr>
          <p:cNvPr id="853" name="Google Shape;853;g34155d50a00_0_22"/>
          <p:cNvSpPr txBox="1"/>
          <p:nvPr/>
        </p:nvSpPr>
        <p:spPr>
          <a:xfrm flipH="1" rot="-5400000">
            <a:off x="1242413" y="4980425"/>
            <a:ext cx="3060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000"/>
              <a:t>V</a:t>
            </a:r>
            <a:endParaRPr sz="1000"/>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857" name="Shape 857"/>
        <p:cNvGrpSpPr/>
        <p:nvPr/>
      </p:nvGrpSpPr>
      <p:grpSpPr>
        <a:xfrm>
          <a:off x="0" y="0"/>
          <a:ext cx="0" cy="0"/>
          <a:chOff x="0" y="0"/>
          <a:chExt cx="0" cy="0"/>
        </a:xfrm>
      </p:grpSpPr>
      <p:pic>
        <p:nvPicPr>
          <p:cNvPr id="858" name="Google Shape;858;g34155d50a00_0_35"/>
          <p:cNvPicPr preferRelativeResize="0"/>
          <p:nvPr/>
        </p:nvPicPr>
        <p:blipFill>
          <a:blip r:embed="rId3">
            <a:alphaModFix/>
          </a:blip>
          <a:stretch>
            <a:fillRect/>
          </a:stretch>
        </p:blipFill>
        <p:spPr>
          <a:xfrm>
            <a:off x="219250" y="1415637"/>
            <a:ext cx="5692074" cy="4026725"/>
          </a:xfrm>
          <a:prstGeom prst="rect">
            <a:avLst/>
          </a:prstGeom>
          <a:noFill/>
          <a:ln>
            <a:noFill/>
          </a:ln>
        </p:spPr>
      </p:pic>
      <p:pic>
        <p:nvPicPr>
          <p:cNvPr id="859" name="Google Shape;859;g34155d50a00_0_35"/>
          <p:cNvPicPr preferRelativeResize="0"/>
          <p:nvPr/>
        </p:nvPicPr>
        <p:blipFill>
          <a:blip r:embed="rId4">
            <a:alphaModFix/>
          </a:blip>
          <a:stretch>
            <a:fillRect/>
          </a:stretch>
        </p:blipFill>
        <p:spPr>
          <a:xfrm>
            <a:off x="6300675" y="1415625"/>
            <a:ext cx="5692074" cy="4026722"/>
          </a:xfrm>
          <a:prstGeom prst="rect">
            <a:avLst/>
          </a:prstGeom>
          <a:noFill/>
          <a:ln>
            <a:noFill/>
          </a:ln>
        </p:spPr>
      </p:pic>
      <p:sp>
        <p:nvSpPr>
          <p:cNvPr id="860" name="Google Shape;860;g34155d50a00_0_35"/>
          <p:cNvSpPr txBox="1"/>
          <p:nvPr/>
        </p:nvSpPr>
        <p:spPr>
          <a:xfrm>
            <a:off x="3993600" y="149675"/>
            <a:ext cx="420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Reforzamiento de campo a lazo cerrado</a:t>
            </a:r>
            <a:endParaRPr sz="1800">
              <a:solidFill>
                <a:schemeClr val="lt1"/>
              </a:solidFill>
              <a:latin typeface="Arial"/>
              <a:ea typeface="Arial"/>
              <a:cs typeface="Arial"/>
              <a:sym typeface="Arial"/>
            </a:endParaRPr>
          </a:p>
        </p:txBody>
      </p:sp>
      <p:sp>
        <p:nvSpPr>
          <p:cNvPr id="861" name="Google Shape;861;g34155d50a00_0_35"/>
          <p:cNvSpPr txBox="1"/>
          <p:nvPr/>
        </p:nvSpPr>
        <p:spPr>
          <a:xfrm>
            <a:off x="253225" y="907950"/>
            <a:ext cx="109662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Un </a:t>
            </a:r>
            <a:r>
              <a:rPr lang="es-MX" sz="1500">
                <a:latin typeface="Calibri"/>
                <a:ea typeface="Calibri"/>
                <a:cs typeface="Calibri"/>
                <a:sym typeface="Calibri"/>
              </a:rPr>
              <a:t>aumento</a:t>
            </a:r>
            <a:r>
              <a:rPr lang="es-MX" sz="1500">
                <a:latin typeface="Calibri"/>
                <a:ea typeface="Calibri"/>
                <a:cs typeface="Calibri"/>
                <a:sym typeface="Calibri"/>
              </a:rPr>
              <a:t> de id(t) implica que aumentaran las constantes de torque y de inducción:</a:t>
            </a:r>
            <a:endParaRPr sz="1500">
              <a:latin typeface="Calibri"/>
              <a:ea typeface="Calibri"/>
              <a:cs typeface="Calibri"/>
              <a:sym typeface="Calibri"/>
            </a:endParaRPr>
          </a:p>
        </p:txBody>
      </p:sp>
      <p:sp>
        <p:nvSpPr>
          <p:cNvPr id="862" name="Google Shape;862;g34155d50a00_0_35"/>
          <p:cNvSpPr txBox="1"/>
          <p:nvPr/>
        </p:nvSpPr>
        <p:spPr>
          <a:xfrm>
            <a:off x="219250" y="5442350"/>
            <a:ext cx="10966200" cy="946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Debido a esto iq(t) </a:t>
            </a:r>
            <a:r>
              <a:rPr lang="es-MX" sz="1500">
                <a:latin typeface="Calibri"/>
                <a:ea typeface="Calibri"/>
                <a:cs typeface="Calibri"/>
                <a:sym typeface="Calibri"/>
              </a:rPr>
              <a:t>disminuirá</a:t>
            </a:r>
            <a:r>
              <a:rPr lang="es-MX" sz="1500">
                <a:latin typeface="Calibri"/>
                <a:ea typeface="Calibri"/>
                <a:cs typeface="Calibri"/>
                <a:sym typeface="Calibri"/>
              </a:rPr>
              <a:t> ya que el perfil de torque será igual que para id(t) = 0</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Como el perfil de velocidad es el mismo, y aumenta la constante de inducción, aumenta la tensión inducida y por lo tanto las tensiones de fase.</a:t>
            </a:r>
            <a:endParaRPr sz="1500">
              <a:latin typeface="Calibri"/>
              <a:ea typeface="Calibri"/>
              <a:cs typeface="Calibri"/>
              <a:sym typeface="Calibri"/>
            </a:endParaRPr>
          </a:p>
        </p:txBody>
      </p:sp>
      <p:sp>
        <p:nvSpPr>
          <p:cNvPr id="863" name="Google Shape;863;g34155d50a00_0_35"/>
          <p:cNvSpPr txBox="1"/>
          <p:nvPr/>
        </p:nvSpPr>
        <p:spPr>
          <a:xfrm flipH="1">
            <a:off x="5370750" y="50421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864" name="Google Shape;864;g34155d50a00_0_35"/>
          <p:cNvSpPr txBox="1"/>
          <p:nvPr/>
        </p:nvSpPr>
        <p:spPr>
          <a:xfrm flipH="1">
            <a:off x="11442700" y="50421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865" name="Google Shape;865;g34155d50a00_0_35"/>
          <p:cNvSpPr txBox="1"/>
          <p:nvPr/>
        </p:nvSpPr>
        <p:spPr>
          <a:xfrm flipH="1" rot="-5400000">
            <a:off x="5809125" y="2908950"/>
            <a:ext cx="7839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000"/>
              <a:t>Nm/A</a:t>
            </a:r>
            <a:endParaRPr sz="1000"/>
          </a:p>
        </p:txBody>
      </p:sp>
      <p:sp>
        <p:nvSpPr>
          <p:cNvPr id="866" name="Google Shape;866;g34155d50a00_0_35"/>
          <p:cNvSpPr txBox="1"/>
          <p:nvPr/>
        </p:nvSpPr>
        <p:spPr>
          <a:xfrm flipH="1" rot="-5400000">
            <a:off x="-274775" y="2908950"/>
            <a:ext cx="7839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000"/>
              <a:t>V/rad/s</a:t>
            </a:r>
            <a:endParaRPr sz="1000"/>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870" name="Shape 870"/>
        <p:cNvGrpSpPr/>
        <p:nvPr/>
      </p:nvGrpSpPr>
      <p:grpSpPr>
        <a:xfrm>
          <a:off x="0" y="0"/>
          <a:ext cx="0" cy="0"/>
          <a:chOff x="0" y="0"/>
          <a:chExt cx="0" cy="0"/>
        </a:xfrm>
      </p:grpSpPr>
      <p:sp>
        <p:nvSpPr>
          <p:cNvPr id="871" name="Google Shape;871;g34155d50a00_0_48"/>
          <p:cNvSpPr txBox="1"/>
          <p:nvPr/>
        </p:nvSpPr>
        <p:spPr>
          <a:xfrm>
            <a:off x="3993600" y="149675"/>
            <a:ext cx="420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Reforzamiento de campo a lazo cerrado</a:t>
            </a:r>
            <a:endParaRPr sz="1800">
              <a:solidFill>
                <a:schemeClr val="lt1"/>
              </a:solidFill>
              <a:latin typeface="Arial"/>
              <a:ea typeface="Arial"/>
              <a:cs typeface="Arial"/>
              <a:sym typeface="Arial"/>
            </a:endParaRPr>
          </a:p>
        </p:txBody>
      </p:sp>
      <p:pic>
        <p:nvPicPr>
          <p:cNvPr id="872" name="Google Shape;872;g34155d50a00_0_48"/>
          <p:cNvPicPr preferRelativeResize="0"/>
          <p:nvPr/>
        </p:nvPicPr>
        <p:blipFill>
          <a:blip r:embed="rId3">
            <a:alphaModFix/>
          </a:blip>
          <a:stretch>
            <a:fillRect/>
          </a:stretch>
        </p:blipFill>
        <p:spPr>
          <a:xfrm>
            <a:off x="2616238" y="518975"/>
            <a:ext cx="6959516" cy="4923374"/>
          </a:xfrm>
          <a:prstGeom prst="rect">
            <a:avLst/>
          </a:prstGeom>
          <a:noFill/>
          <a:ln>
            <a:noFill/>
          </a:ln>
        </p:spPr>
      </p:pic>
      <p:sp>
        <p:nvSpPr>
          <p:cNvPr id="873" name="Google Shape;873;g34155d50a00_0_48"/>
          <p:cNvSpPr txBox="1"/>
          <p:nvPr/>
        </p:nvSpPr>
        <p:spPr>
          <a:xfrm>
            <a:off x="1816200" y="5442350"/>
            <a:ext cx="85596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Si bien disminuye un poco iq(t), id(t) aumenta en mucha mayor medida, aumentando la temperatura.</a:t>
            </a:r>
            <a:endParaRPr sz="1500">
              <a:latin typeface="Calibri"/>
              <a:ea typeface="Calibri"/>
              <a:cs typeface="Calibri"/>
              <a:sym typeface="Calibri"/>
            </a:endParaRPr>
          </a:p>
        </p:txBody>
      </p:sp>
      <p:sp>
        <p:nvSpPr>
          <p:cNvPr id="874" name="Google Shape;874;g34155d50a00_0_48"/>
          <p:cNvSpPr txBox="1"/>
          <p:nvPr/>
        </p:nvSpPr>
        <p:spPr>
          <a:xfrm flipH="1">
            <a:off x="8988425" y="50421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878" name="Shape 878"/>
        <p:cNvGrpSpPr/>
        <p:nvPr/>
      </p:nvGrpSpPr>
      <p:grpSpPr>
        <a:xfrm>
          <a:off x="0" y="0"/>
          <a:ext cx="0" cy="0"/>
          <a:chOff x="0" y="0"/>
          <a:chExt cx="0" cy="0"/>
        </a:xfrm>
      </p:grpSpPr>
      <p:sp>
        <p:nvSpPr>
          <p:cNvPr id="879" name="Google Shape;879;g346a895f855_0_544"/>
          <p:cNvSpPr txBox="1"/>
          <p:nvPr/>
        </p:nvSpPr>
        <p:spPr>
          <a:xfrm>
            <a:off x="3993600" y="149675"/>
            <a:ext cx="420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Debilitamiento </a:t>
            </a:r>
            <a:r>
              <a:rPr b="1" lang="es-MX" sz="1800">
                <a:latin typeface="Cambria Math"/>
                <a:ea typeface="Cambria Math"/>
                <a:cs typeface="Cambria Math"/>
                <a:sym typeface="Cambria Math"/>
              </a:rPr>
              <a:t>de campo a lazo cerrado</a:t>
            </a:r>
            <a:endParaRPr sz="1800">
              <a:solidFill>
                <a:schemeClr val="lt1"/>
              </a:solidFill>
              <a:latin typeface="Arial"/>
              <a:ea typeface="Arial"/>
              <a:cs typeface="Arial"/>
              <a:sym typeface="Arial"/>
            </a:endParaRPr>
          </a:p>
        </p:txBody>
      </p:sp>
      <p:pic>
        <p:nvPicPr>
          <p:cNvPr id="880" name="Google Shape;880;g346a895f855_0_544"/>
          <p:cNvPicPr preferRelativeResize="0"/>
          <p:nvPr/>
        </p:nvPicPr>
        <p:blipFill>
          <a:blip r:embed="rId3">
            <a:alphaModFix/>
          </a:blip>
          <a:stretch>
            <a:fillRect/>
          </a:stretch>
        </p:blipFill>
        <p:spPr>
          <a:xfrm>
            <a:off x="6482200" y="1510650"/>
            <a:ext cx="5566774" cy="3938100"/>
          </a:xfrm>
          <a:prstGeom prst="rect">
            <a:avLst/>
          </a:prstGeom>
          <a:noFill/>
          <a:ln>
            <a:noFill/>
          </a:ln>
        </p:spPr>
      </p:pic>
      <p:pic>
        <p:nvPicPr>
          <p:cNvPr id="881" name="Google Shape;881;g346a895f855_0_544"/>
          <p:cNvPicPr preferRelativeResize="0"/>
          <p:nvPr/>
        </p:nvPicPr>
        <p:blipFill>
          <a:blip r:embed="rId4">
            <a:alphaModFix/>
          </a:blip>
          <a:stretch>
            <a:fillRect/>
          </a:stretch>
        </p:blipFill>
        <p:spPr>
          <a:xfrm>
            <a:off x="199050" y="1515150"/>
            <a:ext cx="5566775" cy="3929112"/>
          </a:xfrm>
          <a:prstGeom prst="rect">
            <a:avLst/>
          </a:prstGeom>
          <a:noFill/>
          <a:ln>
            <a:noFill/>
          </a:ln>
        </p:spPr>
      </p:pic>
      <p:sp>
        <p:nvSpPr>
          <p:cNvPr id="882" name="Google Shape;882;g346a895f855_0_544"/>
          <p:cNvSpPr txBox="1"/>
          <p:nvPr/>
        </p:nvSpPr>
        <p:spPr>
          <a:xfrm flipH="1">
            <a:off x="5277650" y="50485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883" name="Google Shape;883;g346a895f855_0_544"/>
          <p:cNvSpPr txBox="1"/>
          <p:nvPr/>
        </p:nvSpPr>
        <p:spPr>
          <a:xfrm flipH="1">
            <a:off x="11502250" y="50485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887" name="Shape 887"/>
        <p:cNvGrpSpPr/>
        <p:nvPr/>
      </p:nvGrpSpPr>
      <p:grpSpPr>
        <a:xfrm>
          <a:off x="0" y="0"/>
          <a:ext cx="0" cy="0"/>
          <a:chOff x="0" y="0"/>
          <a:chExt cx="0" cy="0"/>
        </a:xfrm>
      </p:grpSpPr>
      <p:sp>
        <p:nvSpPr>
          <p:cNvPr id="888" name="Google Shape;888;g346a895f855_0_550"/>
          <p:cNvSpPr txBox="1"/>
          <p:nvPr/>
        </p:nvSpPr>
        <p:spPr>
          <a:xfrm>
            <a:off x="3993600" y="149675"/>
            <a:ext cx="420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Debilitamiento </a:t>
            </a:r>
            <a:r>
              <a:rPr b="1" lang="es-MX" sz="1800">
                <a:latin typeface="Cambria Math"/>
                <a:ea typeface="Cambria Math"/>
                <a:cs typeface="Cambria Math"/>
                <a:sym typeface="Cambria Math"/>
              </a:rPr>
              <a:t>de campo a lazo cerrado</a:t>
            </a:r>
            <a:endParaRPr sz="1800">
              <a:solidFill>
                <a:schemeClr val="lt1"/>
              </a:solidFill>
              <a:latin typeface="Arial"/>
              <a:ea typeface="Arial"/>
              <a:cs typeface="Arial"/>
              <a:sym typeface="Arial"/>
            </a:endParaRPr>
          </a:p>
        </p:txBody>
      </p:sp>
      <p:pic>
        <p:nvPicPr>
          <p:cNvPr id="889" name="Google Shape;889;g346a895f855_0_550"/>
          <p:cNvPicPr preferRelativeResize="0"/>
          <p:nvPr/>
        </p:nvPicPr>
        <p:blipFill>
          <a:blip r:embed="rId3">
            <a:alphaModFix/>
          </a:blip>
          <a:stretch>
            <a:fillRect/>
          </a:stretch>
        </p:blipFill>
        <p:spPr>
          <a:xfrm>
            <a:off x="1359100" y="594275"/>
            <a:ext cx="4383925" cy="3064050"/>
          </a:xfrm>
          <a:prstGeom prst="rect">
            <a:avLst/>
          </a:prstGeom>
          <a:noFill/>
          <a:ln>
            <a:noFill/>
          </a:ln>
        </p:spPr>
      </p:pic>
      <p:pic>
        <p:nvPicPr>
          <p:cNvPr id="890" name="Google Shape;890;g346a895f855_0_550"/>
          <p:cNvPicPr preferRelativeResize="0"/>
          <p:nvPr/>
        </p:nvPicPr>
        <p:blipFill>
          <a:blip r:embed="rId4">
            <a:alphaModFix/>
          </a:blip>
          <a:stretch>
            <a:fillRect/>
          </a:stretch>
        </p:blipFill>
        <p:spPr>
          <a:xfrm>
            <a:off x="6477600" y="594275"/>
            <a:ext cx="4331250" cy="3054158"/>
          </a:xfrm>
          <a:prstGeom prst="rect">
            <a:avLst/>
          </a:prstGeom>
          <a:noFill/>
          <a:ln>
            <a:noFill/>
          </a:ln>
        </p:spPr>
      </p:pic>
      <p:pic>
        <p:nvPicPr>
          <p:cNvPr id="891" name="Google Shape;891;g346a895f855_0_550"/>
          <p:cNvPicPr preferRelativeResize="0"/>
          <p:nvPr/>
        </p:nvPicPr>
        <p:blipFill>
          <a:blip r:embed="rId5">
            <a:alphaModFix/>
          </a:blip>
          <a:stretch>
            <a:fillRect/>
          </a:stretch>
        </p:blipFill>
        <p:spPr>
          <a:xfrm>
            <a:off x="1485150" y="3733625"/>
            <a:ext cx="4240900" cy="3064050"/>
          </a:xfrm>
          <a:prstGeom prst="rect">
            <a:avLst/>
          </a:prstGeom>
          <a:noFill/>
          <a:ln>
            <a:noFill/>
          </a:ln>
        </p:spPr>
      </p:pic>
      <p:pic>
        <p:nvPicPr>
          <p:cNvPr id="892" name="Google Shape;892;g346a895f855_0_550"/>
          <p:cNvPicPr preferRelativeResize="0"/>
          <p:nvPr/>
        </p:nvPicPr>
        <p:blipFill>
          <a:blip r:embed="rId6">
            <a:alphaModFix/>
          </a:blip>
          <a:stretch>
            <a:fillRect/>
          </a:stretch>
        </p:blipFill>
        <p:spPr>
          <a:xfrm>
            <a:off x="6477600" y="3723725"/>
            <a:ext cx="4331250" cy="3064053"/>
          </a:xfrm>
          <a:prstGeom prst="rect">
            <a:avLst/>
          </a:prstGeom>
          <a:noFill/>
          <a:ln>
            <a:noFill/>
          </a:ln>
        </p:spPr>
      </p:pic>
      <p:sp>
        <p:nvSpPr>
          <p:cNvPr id="893" name="Google Shape;893;g346a895f855_0_550"/>
          <p:cNvSpPr txBox="1"/>
          <p:nvPr/>
        </p:nvSpPr>
        <p:spPr>
          <a:xfrm flipH="1">
            <a:off x="10317975" y="333342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894" name="Google Shape;894;g346a895f855_0_550"/>
          <p:cNvSpPr txBox="1"/>
          <p:nvPr/>
        </p:nvSpPr>
        <p:spPr>
          <a:xfrm flipH="1">
            <a:off x="10317975" y="64578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895" name="Google Shape;895;g346a895f855_0_550"/>
          <p:cNvSpPr txBox="1"/>
          <p:nvPr/>
        </p:nvSpPr>
        <p:spPr>
          <a:xfrm flipH="1">
            <a:off x="5038150" y="333342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896" name="Google Shape;896;g346a895f855_0_550"/>
          <p:cNvSpPr txBox="1"/>
          <p:nvPr/>
        </p:nvSpPr>
        <p:spPr>
          <a:xfrm flipH="1">
            <a:off x="5038150" y="64578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pic>
        <p:nvPicPr>
          <p:cNvPr id="897" name="Google Shape;897;g346a895f855_0_550"/>
          <p:cNvPicPr preferRelativeResize="0"/>
          <p:nvPr/>
        </p:nvPicPr>
        <p:blipFill>
          <a:blip r:embed="rId7">
            <a:alphaModFix/>
          </a:blip>
          <a:stretch>
            <a:fillRect/>
          </a:stretch>
        </p:blipFill>
        <p:spPr>
          <a:xfrm>
            <a:off x="1359100" y="3733625"/>
            <a:ext cx="179475" cy="3064050"/>
          </a:xfrm>
          <a:prstGeom prst="rect">
            <a:avLst/>
          </a:prstGeom>
          <a:noFill/>
          <a:ln>
            <a:noFill/>
          </a:ln>
        </p:spPr>
      </p:pic>
      <p:sp>
        <p:nvSpPr>
          <p:cNvPr id="898" name="Google Shape;898;g346a895f855_0_550"/>
          <p:cNvSpPr txBox="1"/>
          <p:nvPr/>
        </p:nvSpPr>
        <p:spPr>
          <a:xfrm flipH="1" rot="-5400000">
            <a:off x="1295838" y="4766775"/>
            <a:ext cx="3060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000"/>
              <a:t>V</a:t>
            </a:r>
            <a:endParaRPr sz="1000"/>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902" name="Shape 902"/>
        <p:cNvGrpSpPr/>
        <p:nvPr/>
      </p:nvGrpSpPr>
      <p:grpSpPr>
        <a:xfrm>
          <a:off x="0" y="0"/>
          <a:ext cx="0" cy="0"/>
          <a:chOff x="0" y="0"/>
          <a:chExt cx="0" cy="0"/>
        </a:xfrm>
      </p:grpSpPr>
      <p:sp>
        <p:nvSpPr>
          <p:cNvPr id="903" name="Google Shape;903;g346a895f855_0_558"/>
          <p:cNvSpPr txBox="1"/>
          <p:nvPr/>
        </p:nvSpPr>
        <p:spPr>
          <a:xfrm>
            <a:off x="3993600" y="149675"/>
            <a:ext cx="420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Debilitamiento </a:t>
            </a:r>
            <a:r>
              <a:rPr b="1" lang="es-MX" sz="1800">
                <a:latin typeface="Cambria Math"/>
                <a:ea typeface="Cambria Math"/>
                <a:cs typeface="Cambria Math"/>
                <a:sym typeface="Cambria Math"/>
              </a:rPr>
              <a:t>de campo a lazo cerrado</a:t>
            </a:r>
            <a:endParaRPr sz="1800">
              <a:solidFill>
                <a:schemeClr val="lt1"/>
              </a:solidFill>
              <a:latin typeface="Arial"/>
              <a:ea typeface="Arial"/>
              <a:cs typeface="Arial"/>
              <a:sym typeface="Arial"/>
            </a:endParaRPr>
          </a:p>
        </p:txBody>
      </p:sp>
      <p:sp>
        <p:nvSpPr>
          <p:cNvPr id="904" name="Google Shape;904;g346a895f855_0_558"/>
          <p:cNvSpPr txBox="1"/>
          <p:nvPr/>
        </p:nvSpPr>
        <p:spPr>
          <a:xfrm>
            <a:off x="253225" y="907950"/>
            <a:ext cx="109662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Una disminución de id(t) implica que disminuirán las constantes de torque y de inducción:</a:t>
            </a:r>
            <a:endParaRPr sz="1500">
              <a:latin typeface="Calibri"/>
              <a:ea typeface="Calibri"/>
              <a:cs typeface="Calibri"/>
              <a:sym typeface="Calibri"/>
            </a:endParaRPr>
          </a:p>
        </p:txBody>
      </p:sp>
      <p:sp>
        <p:nvSpPr>
          <p:cNvPr id="905" name="Google Shape;905;g346a895f855_0_558"/>
          <p:cNvSpPr txBox="1"/>
          <p:nvPr/>
        </p:nvSpPr>
        <p:spPr>
          <a:xfrm>
            <a:off x="219250" y="5442350"/>
            <a:ext cx="10966200" cy="946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Debido a esto iq(t) aumentará ya que el perfil de torque será igual que para id(t) = 0</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Como el perfil de velocidad es el mismo, y disminuye la constante de inducción, disminuyen la tensión inducida y por lo tanto las tensiones de fase.</a:t>
            </a:r>
            <a:endParaRPr sz="1500">
              <a:latin typeface="Calibri"/>
              <a:ea typeface="Calibri"/>
              <a:cs typeface="Calibri"/>
              <a:sym typeface="Calibri"/>
            </a:endParaRPr>
          </a:p>
        </p:txBody>
      </p:sp>
      <p:pic>
        <p:nvPicPr>
          <p:cNvPr id="906" name="Google Shape;906;g346a895f855_0_558"/>
          <p:cNvPicPr preferRelativeResize="0"/>
          <p:nvPr/>
        </p:nvPicPr>
        <p:blipFill>
          <a:blip r:embed="rId3">
            <a:alphaModFix/>
          </a:blip>
          <a:stretch>
            <a:fillRect/>
          </a:stretch>
        </p:blipFill>
        <p:spPr>
          <a:xfrm>
            <a:off x="253225" y="1415625"/>
            <a:ext cx="5692074" cy="4026736"/>
          </a:xfrm>
          <a:prstGeom prst="rect">
            <a:avLst/>
          </a:prstGeom>
          <a:noFill/>
          <a:ln>
            <a:noFill/>
          </a:ln>
        </p:spPr>
      </p:pic>
      <p:pic>
        <p:nvPicPr>
          <p:cNvPr id="907" name="Google Shape;907;g346a895f855_0_558"/>
          <p:cNvPicPr preferRelativeResize="0"/>
          <p:nvPr/>
        </p:nvPicPr>
        <p:blipFill>
          <a:blip r:embed="rId4">
            <a:alphaModFix/>
          </a:blip>
          <a:stretch>
            <a:fillRect/>
          </a:stretch>
        </p:blipFill>
        <p:spPr>
          <a:xfrm>
            <a:off x="6299400" y="1415625"/>
            <a:ext cx="5692074" cy="4026736"/>
          </a:xfrm>
          <a:prstGeom prst="rect">
            <a:avLst/>
          </a:prstGeom>
          <a:noFill/>
          <a:ln>
            <a:noFill/>
          </a:ln>
        </p:spPr>
      </p:pic>
      <p:sp>
        <p:nvSpPr>
          <p:cNvPr id="908" name="Google Shape;908;g346a895f855_0_558"/>
          <p:cNvSpPr txBox="1"/>
          <p:nvPr/>
        </p:nvSpPr>
        <p:spPr>
          <a:xfrm flipH="1">
            <a:off x="11555825" y="50421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909" name="Google Shape;909;g346a895f855_0_558"/>
          <p:cNvSpPr txBox="1"/>
          <p:nvPr/>
        </p:nvSpPr>
        <p:spPr>
          <a:xfrm flipH="1">
            <a:off x="5479175" y="50421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910" name="Google Shape;910;g346a895f855_0_558"/>
          <p:cNvSpPr txBox="1"/>
          <p:nvPr/>
        </p:nvSpPr>
        <p:spPr>
          <a:xfrm flipH="1" rot="-5400000">
            <a:off x="5825000" y="3020075"/>
            <a:ext cx="7839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000"/>
              <a:t>Nm/A</a:t>
            </a:r>
            <a:endParaRPr sz="1000"/>
          </a:p>
        </p:txBody>
      </p:sp>
      <p:sp>
        <p:nvSpPr>
          <p:cNvPr id="911" name="Google Shape;911;g346a895f855_0_558"/>
          <p:cNvSpPr txBox="1"/>
          <p:nvPr/>
        </p:nvSpPr>
        <p:spPr>
          <a:xfrm flipH="1" rot="-5400000">
            <a:off x="-222600" y="3020075"/>
            <a:ext cx="7839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000"/>
              <a:t>V/rad/s</a:t>
            </a:r>
            <a:endParaRPr sz="1000"/>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915" name="Shape 915"/>
        <p:cNvGrpSpPr/>
        <p:nvPr/>
      </p:nvGrpSpPr>
      <p:grpSpPr>
        <a:xfrm>
          <a:off x="0" y="0"/>
          <a:ext cx="0" cy="0"/>
          <a:chOff x="0" y="0"/>
          <a:chExt cx="0" cy="0"/>
        </a:xfrm>
      </p:grpSpPr>
      <p:sp>
        <p:nvSpPr>
          <p:cNvPr id="916" name="Google Shape;916;g346a895f855_0_566"/>
          <p:cNvSpPr txBox="1"/>
          <p:nvPr/>
        </p:nvSpPr>
        <p:spPr>
          <a:xfrm>
            <a:off x="3993600" y="149675"/>
            <a:ext cx="420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Debilitamiento </a:t>
            </a:r>
            <a:r>
              <a:rPr b="1" lang="es-MX" sz="1800">
                <a:latin typeface="Cambria Math"/>
                <a:ea typeface="Cambria Math"/>
                <a:cs typeface="Cambria Math"/>
                <a:sym typeface="Cambria Math"/>
              </a:rPr>
              <a:t>de campo a lazo cerrado</a:t>
            </a:r>
            <a:endParaRPr sz="1800">
              <a:solidFill>
                <a:schemeClr val="lt1"/>
              </a:solidFill>
              <a:latin typeface="Arial"/>
              <a:ea typeface="Arial"/>
              <a:cs typeface="Arial"/>
              <a:sym typeface="Arial"/>
            </a:endParaRPr>
          </a:p>
        </p:txBody>
      </p:sp>
      <p:pic>
        <p:nvPicPr>
          <p:cNvPr id="917" name="Google Shape;917;g346a895f855_0_566"/>
          <p:cNvPicPr preferRelativeResize="0"/>
          <p:nvPr/>
        </p:nvPicPr>
        <p:blipFill>
          <a:blip r:embed="rId3">
            <a:alphaModFix/>
          </a:blip>
          <a:stretch>
            <a:fillRect/>
          </a:stretch>
        </p:blipFill>
        <p:spPr>
          <a:xfrm>
            <a:off x="2536863" y="518975"/>
            <a:ext cx="6959516" cy="4923374"/>
          </a:xfrm>
          <a:prstGeom prst="rect">
            <a:avLst/>
          </a:prstGeom>
          <a:noFill/>
          <a:ln>
            <a:noFill/>
          </a:ln>
        </p:spPr>
      </p:pic>
      <p:sp>
        <p:nvSpPr>
          <p:cNvPr id="918" name="Google Shape;918;g346a895f855_0_566"/>
          <p:cNvSpPr txBox="1"/>
          <p:nvPr/>
        </p:nvSpPr>
        <p:spPr>
          <a:xfrm>
            <a:off x="2400150" y="5442350"/>
            <a:ext cx="73917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Como aumentan tanto iq(t) como id(t), la temperatura del estator </a:t>
            </a:r>
            <a:r>
              <a:rPr lang="es-MX" sz="1500">
                <a:latin typeface="Calibri"/>
                <a:ea typeface="Calibri"/>
                <a:cs typeface="Calibri"/>
                <a:sym typeface="Calibri"/>
              </a:rPr>
              <a:t>también</a:t>
            </a:r>
            <a:r>
              <a:rPr lang="es-MX" sz="1500">
                <a:latin typeface="Calibri"/>
                <a:ea typeface="Calibri"/>
                <a:cs typeface="Calibri"/>
                <a:sym typeface="Calibri"/>
              </a:rPr>
              <a:t> aumenta.</a:t>
            </a:r>
            <a:endParaRPr sz="1500">
              <a:latin typeface="Calibri"/>
              <a:ea typeface="Calibri"/>
              <a:cs typeface="Calibri"/>
              <a:sym typeface="Calibri"/>
            </a:endParaRPr>
          </a:p>
        </p:txBody>
      </p:sp>
      <p:sp>
        <p:nvSpPr>
          <p:cNvPr id="919" name="Google Shape;919;g346a895f855_0_566"/>
          <p:cNvSpPr txBox="1"/>
          <p:nvPr/>
        </p:nvSpPr>
        <p:spPr>
          <a:xfrm flipH="1">
            <a:off x="9030950" y="50421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923" name="Shape 923"/>
        <p:cNvGrpSpPr/>
        <p:nvPr/>
      </p:nvGrpSpPr>
      <p:grpSpPr>
        <a:xfrm>
          <a:off x="0" y="0"/>
          <a:ext cx="0" cy="0"/>
          <a:chOff x="0" y="0"/>
          <a:chExt cx="0" cy="0"/>
        </a:xfrm>
      </p:grpSpPr>
      <p:sp>
        <p:nvSpPr>
          <p:cNvPr id="924" name="Google Shape;924;g34155d50a00_0_82"/>
          <p:cNvSpPr txBox="1"/>
          <p:nvPr/>
        </p:nvSpPr>
        <p:spPr>
          <a:xfrm>
            <a:off x="4512150" y="351375"/>
            <a:ext cx="3167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Sensores y actuadores reales</a:t>
            </a:r>
            <a:endParaRPr sz="1800">
              <a:solidFill>
                <a:schemeClr val="lt1"/>
              </a:solidFill>
              <a:latin typeface="Arial"/>
              <a:ea typeface="Arial"/>
              <a:cs typeface="Arial"/>
              <a:sym typeface="Arial"/>
            </a:endParaRPr>
          </a:p>
        </p:txBody>
      </p:sp>
      <p:sp>
        <p:nvSpPr>
          <p:cNvPr id="925" name="Google Shape;925;g34155d50a00_0_82"/>
          <p:cNvSpPr txBox="1"/>
          <p:nvPr/>
        </p:nvSpPr>
        <p:spPr>
          <a:xfrm>
            <a:off x="253225" y="907950"/>
            <a:ext cx="10966200" cy="6810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Modelamos</a:t>
            </a:r>
            <a:r>
              <a:rPr lang="es-MX" sz="1500">
                <a:latin typeface="Calibri"/>
                <a:ea typeface="Calibri"/>
                <a:cs typeface="Calibri"/>
                <a:sym typeface="Calibri"/>
              </a:rPr>
              <a:t> los sensores y actuadores como filtros </a:t>
            </a:r>
            <a:r>
              <a:rPr lang="es-MX" sz="1500">
                <a:latin typeface="Calibri"/>
                <a:ea typeface="Calibri"/>
                <a:cs typeface="Calibri"/>
                <a:sym typeface="Calibri"/>
              </a:rPr>
              <a:t>pasa bajo de 1er o 2do orden con ganancia unitaria.</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Analizaremos sus respuestas para una entrada escalón.</a:t>
            </a:r>
            <a:endParaRPr sz="1500">
              <a:latin typeface="Calibri"/>
              <a:ea typeface="Calibri"/>
              <a:cs typeface="Calibri"/>
              <a:sym typeface="Calibri"/>
            </a:endParaRPr>
          </a:p>
        </p:txBody>
      </p:sp>
      <p:pic>
        <p:nvPicPr>
          <p:cNvPr id="926" name="Google Shape;926;g34155d50a00_0_82"/>
          <p:cNvPicPr preferRelativeResize="0"/>
          <p:nvPr/>
        </p:nvPicPr>
        <p:blipFill>
          <a:blip r:embed="rId3">
            <a:alphaModFix/>
          </a:blip>
          <a:stretch>
            <a:fillRect/>
          </a:stretch>
        </p:blipFill>
        <p:spPr>
          <a:xfrm>
            <a:off x="405250" y="1732775"/>
            <a:ext cx="7111526" cy="1582425"/>
          </a:xfrm>
          <a:prstGeom prst="rect">
            <a:avLst/>
          </a:prstGeom>
          <a:noFill/>
          <a:ln>
            <a:noFill/>
          </a:ln>
        </p:spPr>
      </p:pic>
      <p:pic>
        <p:nvPicPr>
          <p:cNvPr id="927" name="Google Shape;927;g34155d50a00_0_82"/>
          <p:cNvPicPr preferRelativeResize="0"/>
          <p:nvPr/>
        </p:nvPicPr>
        <p:blipFill>
          <a:blip r:embed="rId4">
            <a:alphaModFix/>
          </a:blip>
          <a:stretch>
            <a:fillRect/>
          </a:stretch>
        </p:blipFill>
        <p:spPr>
          <a:xfrm>
            <a:off x="405250" y="3689125"/>
            <a:ext cx="7111524" cy="2169315"/>
          </a:xfrm>
          <a:prstGeom prst="rect">
            <a:avLst/>
          </a:prstGeom>
          <a:noFill/>
          <a:ln>
            <a:noFill/>
          </a:ln>
        </p:spPr>
      </p:pic>
      <p:pic>
        <p:nvPicPr>
          <p:cNvPr id="928" name="Google Shape;928;g34155d50a00_0_82"/>
          <p:cNvPicPr preferRelativeResize="0"/>
          <p:nvPr/>
        </p:nvPicPr>
        <p:blipFill>
          <a:blip r:embed="rId5">
            <a:alphaModFix/>
          </a:blip>
          <a:stretch>
            <a:fillRect/>
          </a:stretch>
        </p:blipFill>
        <p:spPr>
          <a:xfrm>
            <a:off x="8267725" y="1933923"/>
            <a:ext cx="3167700" cy="1180123"/>
          </a:xfrm>
          <a:prstGeom prst="rect">
            <a:avLst/>
          </a:prstGeom>
          <a:noFill/>
          <a:ln>
            <a:noFill/>
          </a:ln>
        </p:spPr>
      </p:pic>
      <p:pic>
        <p:nvPicPr>
          <p:cNvPr id="929" name="Google Shape;929;g34155d50a00_0_82"/>
          <p:cNvPicPr preferRelativeResize="0"/>
          <p:nvPr/>
        </p:nvPicPr>
        <p:blipFill>
          <a:blip r:embed="rId6">
            <a:alphaModFix/>
          </a:blip>
          <a:stretch>
            <a:fillRect/>
          </a:stretch>
        </p:blipFill>
        <p:spPr>
          <a:xfrm>
            <a:off x="7604425" y="4151500"/>
            <a:ext cx="4494300" cy="124457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933" name="Shape 933"/>
        <p:cNvGrpSpPr/>
        <p:nvPr/>
      </p:nvGrpSpPr>
      <p:grpSpPr>
        <a:xfrm>
          <a:off x="0" y="0"/>
          <a:ext cx="0" cy="0"/>
          <a:chOff x="0" y="0"/>
          <a:chExt cx="0" cy="0"/>
        </a:xfrm>
      </p:grpSpPr>
      <p:sp>
        <p:nvSpPr>
          <p:cNvPr id="934" name="Google Shape;934;g34155d50a00_0_88"/>
          <p:cNvSpPr txBox="1"/>
          <p:nvPr/>
        </p:nvSpPr>
        <p:spPr>
          <a:xfrm>
            <a:off x="4811700" y="350625"/>
            <a:ext cx="2568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Sensores de corriente</a:t>
            </a:r>
            <a:endParaRPr sz="1800">
              <a:solidFill>
                <a:schemeClr val="lt1"/>
              </a:solidFill>
              <a:latin typeface="Arial"/>
              <a:ea typeface="Arial"/>
              <a:cs typeface="Arial"/>
              <a:sym typeface="Arial"/>
            </a:endParaRPr>
          </a:p>
        </p:txBody>
      </p:sp>
      <p:sp>
        <p:nvSpPr>
          <p:cNvPr id="935" name="Google Shape;935;g34155d50a00_0_88"/>
          <p:cNvSpPr txBox="1"/>
          <p:nvPr/>
        </p:nvSpPr>
        <p:spPr>
          <a:xfrm>
            <a:off x="253225" y="907950"/>
            <a:ext cx="10966200" cy="6810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wn = 6000 rad/s</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zitta = 1</a:t>
            </a:r>
            <a:endParaRPr sz="1500">
              <a:latin typeface="Calibri"/>
              <a:ea typeface="Calibri"/>
              <a:cs typeface="Calibri"/>
              <a:sym typeface="Calibri"/>
            </a:endParaRPr>
          </a:p>
        </p:txBody>
      </p:sp>
      <p:pic>
        <p:nvPicPr>
          <p:cNvPr id="936" name="Google Shape;936;g34155d50a00_0_88"/>
          <p:cNvPicPr preferRelativeResize="0"/>
          <p:nvPr/>
        </p:nvPicPr>
        <p:blipFill>
          <a:blip r:embed="rId3">
            <a:alphaModFix/>
          </a:blip>
          <a:stretch>
            <a:fillRect/>
          </a:stretch>
        </p:blipFill>
        <p:spPr>
          <a:xfrm>
            <a:off x="354700" y="1776975"/>
            <a:ext cx="5592250" cy="3956125"/>
          </a:xfrm>
          <a:prstGeom prst="rect">
            <a:avLst/>
          </a:prstGeom>
          <a:noFill/>
          <a:ln>
            <a:noFill/>
          </a:ln>
        </p:spPr>
      </p:pic>
      <p:pic>
        <p:nvPicPr>
          <p:cNvPr id="937" name="Google Shape;937;g34155d50a00_0_88"/>
          <p:cNvPicPr preferRelativeResize="0"/>
          <p:nvPr/>
        </p:nvPicPr>
        <p:blipFill>
          <a:blip r:embed="rId4">
            <a:alphaModFix/>
          </a:blip>
          <a:stretch>
            <a:fillRect/>
          </a:stretch>
        </p:blipFill>
        <p:spPr>
          <a:xfrm>
            <a:off x="6294575" y="1776961"/>
            <a:ext cx="5592250" cy="3956139"/>
          </a:xfrm>
          <a:prstGeom prst="rect">
            <a:avLst/>
          </a:prstGeom>
          <a:noFill/>
          <a:ln>
            <a:noFill/>
          </a:ln>
        </p:spPr>
      </p:pic>
      <p:sp>
        <p:nvSpPr>
          <p:cNvPr id="938" name="Google Shape;938;g34155d50a00_0_88"/>
          <p:cNvSpPr txBox="1"/>
          <p:nvPr/>
        </p:nvSpPr>
        <p:spPr>
          <a:xfrm>
            <a:off x="354700" y="5733100"/>
            <a:ext cx="109662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Llega al estado estacionario en 0.002 s.</a:t>
            </a:r>
            <a:endParaRPr sz="1500">
              <a:latin typeface="Calibri"/>
              <a:ea typeface="Calibri"/>
              <a:cs typeface="Calibri"/>
              <a:sym typeface="Calibri"/>
            </a:endParaRPr>
          </a:p>
        </p:txBody>
      </p:sp>
      <p:sp>
        <p:nvSpPr>
          <p:cNvPr id="939" name="Google Shape;939;g34155d50a00_0_88"/>
          <p:cNvSpPr txBox="1"/>
          <p:nvPr/>
        </p:nvSpPr>
        <p:spPr>
          <a:xfrm flipH="1">
            <a:off x="5461575" y="54231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940" name="Google Shape;940;g34155d50a00_0_88"/>
          <p:cNvSpPr txBox="1"/>
          <p:nvPr/>
        </p:nvSpPr>
        <p:spPr>
          <a:xfrm flipH="1">
            <a:off x="11510425" y="54231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944" name="Shape 944"/>
        <p:cNvGrpSpPr/>
        <p:nvPr/>
      </p:nvGrpSpPr>
      <p:grpSpPr>
        <a:xfrm>
          <a:off x="0" y="0"/>
          <a:ext cx="0" cy="0"/>
          <a:chOff x="0" y="0"/>
          <a:chExt cx="0" cy="0"/>
        </a:xfrm>
      </p:grpSpPr>
      <p:sp>
        <p:nvSpPr>
          <p:cNvPr id="945" name="Google Shape;945;g34155d50a00_0_97"/>
          <p:cNvSpPr txBox="1"/>
          <p:nvPr/>
        </p:nvSpPr>
        <p:spPr>
          <a:xfrm>
            <a:off x="5546400" y="360725"/>
            <a:ext cx="1099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Encoder</a:t>
            </a:r>
            <a:endParaRPr sz="1800">
              <a:solidFill>
                <a:schemeClr val="lt1"/>
              </a:solidFill>
              <a:latin typeface="Arial"/>
              <a:ea typeface="Arial"/>
              <a:cs typeface="Arial"/>
              <a:sym typeface="Arial"/>
            </a:endParaRPr>
          </a:p>
        </p:txBody>
      </p:sp>
      <p:sp>
        <p:nvSpPr>
          <p:cNvPr id="946" name="Google Shape;946;g34155d50a00_0_97"/>
          <p:cNvSpPr txBox="1"/>
          <p:nvPr/>
        </p:nvSpPr>
        <p:spPr>
          <a:xfrm>
            <a:off x="253225" y="907950"/>
            <a:ext cx="10966200" cy="6810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wn = 2000 rad/s</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zitta = 1</a:t>
            </a:r>
            <a:endParaRPr sz="1500">
              <a:latin typeface="Calibri"/>
              <a:ea typeface="Calibri"/>
              <a:cs typeface="Calibri"/>
              <a:sym typeface="Calibri"/>
            </a:endParaRPr>
          </a:p>
        </p:txBody>
      </p:sp>
      <p:sp>
        <p:nvSpPr>
          <p:cNvPr id="947" name="Google Shape;947;g34155d50a00_0_97"/>
          <p:cNvSpPr txBox="1"/>
          <p:nvPr/>
        </p:nvSpPr>
        <p:spPr>
          <a:xfrm>
            <a:off x="354700" y="5733100"/>
            <a:ext cx="10966200" cy="6810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Llega al estado estacionario en 0.006 s.</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Es </a:t>
            </a:r>
            <a:r>
              <a:rPr lang="es-MX" sz="1500">
                <a:latin typeface="Calibri"/>
                <a:ea typeface="Calibri"/>
                <a:cs typeface="Calibri"/>
                <a:sym typeface="Calibri"/>
              </a:rPr>
              <a:t>más</a:t>
            </a:r>
            <a:r>
              <a:rPr lang="es-MX" sz="1500">
                <a:latin typeface="Calibri"/>
                <a:ea typeface="Calibri"/>
                <a:cs typeface="Calibri"/>
                <a:sym typeface="Calibri"/>
              </a:rPr>
              <a:t> lento que el sensor de corriente.</a:t>
            </a:r>
            <a:endParaRPr sz="1500">
              <a:latin typeface="Calibri"/>
              <a:ea typeface="Calibri"/>
              <a:cs typeface="Calibri"/>
              <a:sym typeface="Calibri"/>
            </a:endParaRPr>
          </a:p>
        </p:txBody>
      </p:sp>
      <p:pic>
        <p:nvPicPr>
          <p:cNvPr id="948" name="Google Shape;948;g34155d50a00_0_97"/>
          <p:cNvPicPr preferRelativeResize="0"/>
          <p:nvPr/>
        </p:nvPicPr>
        <p:blipFill>
          <a:blip r:embed="rId3">
            <a:alphaModFix/>
          </a:blip>
          <a:stretch>
            <a:fillRect/>
          </a:stretch>
        </p:blipFill>
        <p:spPr>
          <a:xfrm>
            <a:off x="354700" y="1776979"/>
            <a:ext cx="5592250" cy="3956122"/>
          </a:xfrm>
          <a:prstGeom prst="rect">
            <a:avLst/>
          </a:prstGeom>
          <a:noFill/>
          <a:ln>
            <a:noFill/>
          </a:ln>
        </p:spPr>
      </p:pic>
      <p:pic>
        <p:nvPicPr>
          <p:cNvPr id="949" name="Google Shape;949;g34155d50a00_0_97"/>
          <p:cNvPicPr preferRelativeResize="0"/>
          <p:nvPr/>
        </p:nvPicPr>
        <p:blipFill>
          <a:blip r:embed="rId4">
            <a:alphaModFix/>
          </a:blip>
          <a:stretch>
            <a:fillRect/>
          </a:stretch>
        </p:blipFill>
        <p:spPr>
          <a:xfrm>
            <a:off x="6294575" y="1776975"/>
            <a:ext cx="5592250" cy="3956125"/>
          </a:xfrm>
          <a:prstGeom prst="rect">
            <a:avLst/>
          </a:prstGeom>
          <a:noFill/>
          <a:ln>
            <a:noFill/>
          </a:ln>
        </p:spPr>
      </p:pic>
      <p:sp>
        <p:nvSpPr>
          <p:cNvPr id="950" name="Google Shape;950;g34155d50a00_0_97"/>
          <p:cNvSpPr txBox="1"/>
          <p:nvPr/>
        </p:nvSpPr>
        <p:spPr>
          <a:xfrm flipH="1">
            <a:off x="5546400" y="54231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951" name="Google Shape;951;g34155d50a00_0_97"/>
          <p:cNvSpPr txBox="1"/>
          <p:nvPr/>
        </p:nvSpPr>
        <p:spPr>
          <a:xfrm flipH="1">
            <a:off x="11090850" y="54231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955" name="Shape 955"/>
        <p:cNvGrpSpPr/>
        <p:nvPr/>
      </p:nvGrpSpPr>
      <p:grpSpPr>
        <a:xfrm>
          <a:off x="0" y="0"/>
          <a:ext cx="0" cy="0"/>
          <a:chOff x="0" y="0"/>
          <a:chExt cx="0" cy="0"/>
        </a:xfrm>
      </p:grpSpPr>
      <p:sp>
        <p:nvSpPr>
          <p:cNvPr id="956" name="Google Shape;956;g34155d50a00_0_105"/>
          <p:cNvSpPr txBox="1"/>
          <p:nvPr/>
        </p:nvSpPr>
        <p:spPr>
          <a:xfrm>
            <a:off x="4824600" y="350650"/>
            <a:ext cx="2542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Sensor de temperatura</a:t>
            </a:r>
            <a:endParaRPr sz="1800">
              <a:solidFill>
                <a:schemeClr val="lt1"/>
              </a:solidFill>
              <a:latin typeface="Arial"/>
              <a:ea typeface="Arial"/>
              <a:cs typeface="Arial"/>
              <a:sym typeface="Arial"/>
            </a:endParaRPr>
          </a:p>
        </p:txBody>
      </p:sp>
      <p:sp>
        <p:nvSpPr>
          <p:cNvPr id="957" name="Google Shape;957;g34155d50a00_0_105"/>
          <p:cNvSpPr txBox="1"/>
          <p:nvPr/>
        </p:nvSpPr>
        <p:spPr>
          <a:xfrm>
            <a:off x="253225" y="907950"/>
            <a:ext cx="10966200" cy="4770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900">
                <a:latin typeface="Calibri"/>
                <a:ea typeface="Calibri"/>
                <a:cs typeface="Calibri"/>
                <a:sym typeface="Calibri"/>
              </a:rPr>
              <a:t>𝜏 = 20 s</a:t>
            </a:r>
            <a:endParaRPr sz="1900">
              <a:latin typeface="Calibri"/>
              <a:ea typeface="Calibri"/>
              <a:cs typeface="Calibri"/>
              <a:sym typeface="Calibri"/>
            </a:endParaRPr>
          </a:p>
        </p:txBody>
      </p:sp>
      <p:pic>
        <p:nvPicPr>
          <p:cNvPr id="958" name="Google Shape;958;g34155d50a00_0_105"/>
          <p:cNvPicPr preferRelativeResize="0"/>
          <p:nvPr/>
        </p:nvPicPr>
        <p:blipFill>
          <a:blip r:embed="rId3">
            <a:alphaModFix/>
          </a:blip>
          <a:stretch>
            <a:fillRect/>
          </a:stretch>
        </p:blipFill>
        <p:spPr>
          <a:xfrm>
            <a:off x="3012688" y="1370626"/>
            <a:ext cx="6166615" cy="4362475"/>
          </a:xfrm>
          <a:prstGeom prst="rect">
            <a:avLst/>
          </a:prstGeom>
          <a:noFill/>
          <a:ln>
            <a:noFill/>
          </a:ln>
        </p:spPr>
      </p:pic>
      <p:sp>
        <p:nvSpPr>
          <p:cNvPr id="959" name="Google Shape;959;g34155d50a00_0_105"/>
          <p:cNvSpPr txBox="1"/>
          <p:nvPr/>
        </p:nvSpPr>
        <p:spPr>
          <a:xfrm>
            <a:off x="354700" y="5733100"/>
            <a:ext cx="10966200" cy="6810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Sensor extremadamente lento.</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No afecta mucho la </a:t>
            </a:r>
            <a:r>
              <a:rPr lang="es-MX" sz="1500">
                <a:latin typeface="Calibri"/>
                <a:ea typeface="Calibri"/>
                <a:cs typeface="Calibri"/>
                <a:sym typeface="Calibri"/>
              </a:rPr>
              <a:t>dinámica</a:t>
            </a:r>
            <a:r>
              <a:rPr lang="es-MX" sz="1500">
                <a:latin typeface="Calibri"/>
                <a:ea typeface="Calibri"/>
                <a:cs typeface="Calibri"/>
                <a:sym typeface="Calibri"/>
              </a:rPr>
              <a:t> del sistema, debido a que afecta a Rf, la cual </a:t>
            </a:r>
            <a:r>
              <a:rPr lang="es-MX" sz="1500">
                <a:latin typeface="Calibri"/>
                <a:ea typeface="Calibri"/>
                <a:cs typeface="Calibri"/>
                <a:sym typeface="Calibri"/>
              </a:rPr>
              <a:t>varía</a:t>
            </a:r>
            <a:r>
              <a:rPr lang="es-MX" sz="1500">
                <a:latin typeface="Calibri"/>
                <a:ea typeface="Calibri"/>
                <a:cs typeface="Calibri"/>
                <a:sym typeface="Calibri"/>
              </a:rPr>
              <a:t> muy poco.</a:t>
            </a:r>
            <a:endParaRPr sz="1500">
              <a:latin typeface="Calibri"/>
              <a:ea typeface="Calibri"/>
              <a:cs typeface="Calibri"/>
              <a:sym typeface="Calibri"/>
            </a:endParaRPr>
          </a:p>
        </p:txBody>
      </p:sp>
      <p:sp>
        <p:nvSpPr>
          <p:cNvPr id="960" name="Google Shape;960;g34155d50a00_0_105"/>
          <p:cNvSpPr txBox="1"/>
          <p:nvPr/>
        </p:nvSpPr>
        <p:spPr>
          <a:xfrm flipH="1">
            <a:off x="8625225" y="53329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964" name="Shape 964"/>
        <p:cNvGrpSpPr/>
        <p:nvPr/>
      </p:nvGrpSpPr>
      <p:grpSpPr>
        <a:xfrm>
          <a:off x="0" y="0"/>
          <a:ext cx="0" cy="0"/>
          <a:chOff x="0" y="0"/>
          <a:chExt cx="0" cy="0"/>
        </a:xfrm>
      </p:grpSpPr>
      <p:sp>
        <p:nvSpPr>
          <p:cNvPr id="965" name="Google Shape;965;g34155d50a00_0_114"/>
          <p:cNvSpPr txBox="1"/>
          <p:nvPr/>
        </p:nvSpPr>
        <p:spPr>
          <a:xfrm>
            <a:off x="2594800" y="894000"/>
            <a:ext cx="910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600">
                <a:latin typeface="Calibri"/>
                <a:ea typeface="Calibri"/>
                <a:cs typeface="Calibri"/>
                <a:sym typeface="Calibri"/>
              </a:rPr>
              <a:t>𝜏 = 20 s</a:t>
            </a:r>
            <a:endParaRPr sz="1600">
              <a:latin typeface="Calibri"/>
              <a:ea typeface="Calibri"/>
              <a:cs typeface="Calibri"/>
              <a:sym typeface="Calibri"/>
            </a:endParaRPr>
          </a:p>
        </p:txBody>
      </p:sp>
      <p:sp>
        <p:nvSpPr>
          <p:cNvPr id="966" name="Google Shape;966;g34155d50a00_0_114"/>
          <p:cNvSpPr txBox="1"/>
          <p:nvPr/>
        </p:nvSpPr>
        <p:spPr>
          <a:xfrm>
            <a:off x="8532575" y="894000"/>
            <a:ext cx="910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600">
                <a:latin typeface="Calibri"/>
                <a:ea typeface="Calibri"/>
                <a:cs typeface="Calibri"/>
                <a:sym typeface="Calibri"/>
              </a:rPr>
              <a:t>𝜏 = 0.5 s</a:t>
            </a:r>
            <a:endParaRPr sz="1600">
              <a:latin typeface="Calibri"/>
              <a:ea typeface="Calibri"/>
              <a:cs typeface="Calibri"/>
              <a:sym typeface="Calibri"/>
            </a:endParaRPr>
          </a:p>
        </p:txBody>
      </p:sp>
      <p:pic>
        <p:nvPicPr>
          <p:cNvPr id="967" name="Google Shape;967;g34155d50a00_0_114"/>
          <p:cNvPicPr preferRelativeResize="0"/>
          <p:nvPr/>
        </p:nvPicPr>
        <p:blipFill>
          <a:blip r:embed="rId3">
            <a:alphaModFix/>
          </a:blip>
          <a:stretch>
            <a:fillRect/>
          </a:stretch>
        </p:blipFill>
        <p:spPr>
          <a:xfrm>
            <a:off x="153625" y="1659575"/>
            <a:ext cx="5792550" cy="4088475"/>
          </a:xfrm>
          <a:prstGeom prst="rect">
            <a:avLst/>
          </a:prstGeom>
          <a:noFill/>
          <a:ln>
            <a:noFill/>
          </a:ln>
        </p:spPr>
      </p:pic>
      <p:pic>
        <p:nvPicPr>
          <p:cNvPr id="968" name="Google Shape;968;g34155d50a00_0_114"/>
          <p:cNvPicPr preferRelativeResize="0"/>
          <p:nvPr/>
        </p:nvPicPr>
        <p:blipFill>
          <a:blip r:embed="rId4">
            <a:alphaModFix/>
          </a:blip>
          <a:stretch>
            <a:fillRect/>
          </a:stretch>
        </p:blipFill>
        <p:spPr>
          <a:xfrm>
            <a:off x="6212775" y="1659575"/>
            <a:ext cx="5792550" cy="4088478"/>
          </a:xfrm>
          <a:prstGeom prst="rect">
            <a:avLst/>
          </a:prstGeom>
          <a:noFill/>
          <a:ln>
            <a:noFill/>
          </a:ln>
        </p:spPr>
      </p:pic>
      <p:sp>
        <p:nvSpPr>
          <p:cNvPr id="969" name="Google Shape;969;g34155d50a00_0_114"/>
          <p:cNvSpPr txBox="1"/>
          <p:nvPr/>
        </p:nvSpPr>
        <p:spPr>
          <a:xfrm flipH="1">
            <a:off x="5382200" y="53478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970" name="Google Shape;970;g34155d50a00_0_114"/>
          <p:cNvSpPr txBox="1"/>
          <p:nvPr/>
        </p:nvSpPr>
        <p:spPr>
          <a:xfrm flipH="1">
            <a:off x="11476375" y="53478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974" name="Shape 974"/>
        <p:cNvGrpSpPr/>
        <p:nvPr/>
      </p:nvGrpSpPr>
      <p:grpSpPr>
        <a:xfrm>
          <a:off x="0" y="0"/>
          <a:ext cx="0" cy="0"/>
          <a:chOff x="0" y="0"/>
          <a:chExt cx="0" cy="0"/>
        </a:xfrm>
      </p:grpSpPr>
      <p:sp>
        <p:nvSpPr>
          <p:cNvPr id="975" name="Google Shape;975;g34155d50a00_0_125"/>
          <p:cNvSpPr txBox="1"/>
          <p:nvPr/>
        </p:nvSpPr>
        <p:spPr>
          <a:xfrm>
            <a:off x="4824600" y="218500"/>
            <a:ext cx="2215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Inversor de tensión</a:t>
            </a:r>
            <a:endParaRPr sz="1800">
              <a:solidFill>
                <a:schemeClr val="lt1"/>
              </a:solidFill>
              <a:latin typeface="Arial"/>
              <a:ea typeface="Arial"/>
              <a:cs typeface="Arial"/>
              <a:sym typeface="Arial"/>
            </a:endParaRPr>
          </a:p>
        </p:txBody>
      </p:sp>
      <p:sp>
        <p:nvSpPr>
          <p:cNvPr id="976" name="Google Shape;976;g34155d50a00_0_125"/>
          <p:cNvSpPr txBox="1"/>
          <p:nvPr/>
        </p:nvSpPr>
        <p:spPr>
          <a:xfrm>
            <a:off x="253225" y="907950"/>
            <a:ext cx="10966200" cy="6810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wn = 6000 rad/s</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zitta = 1</a:t>
            </a:r>
            <a:endParaRPr sz="1500">
              <a:latin typeface="Calibri"/>
              <a:ea typeface="Calibri"/>
              <a:cs typeface="Calibri"/>
              <a:sym typeface="Calibri"/>
            </a:endParaRPr>
          </a:p>
        </p:txBody>
      </p:sp>
      <p:pic>
        <p:nvPicPr>
          <p:cNvPr id="977" name="Google Shape;977;g34155d50a00_0_125"/>
          <p:cNvPicPr preferRelativeResize="0"/>
          <p:nvPr/>
        </p:nvPicPr>
        <p:blipFill>
          <a:blip r:embed="rId3">
            <a:alphaModFix/>
          </a:blip>
          <a:stretch>
            <a:fillRect/>
          </a:stretch>
        </p:blipFill>
        <p:spPr>
          <a:xfrm>
            <a:off x="354700" y="1776975"/>
            <a:ext cx="5592250" cy="3956113"/>
          </a:xfrm>
          <a:prstGeom prst="rect">
            <a:avLst/>
          </a:prstGeom>
          <a:noFill/>
          <a:ln>
            <a:noFill/>
          </a:ln>
        </p:spPr>
      </p:pic>
      <p:pic>
        <p:nvPicPr>
          <p:cNvPr id="978" name="Google Shape;978;g34155d50a00_0_125"/>
          <p:cNvPicPr preferRelativeResize="0"/>
          <p:nvPr/>
        </p:nvPicPr>
        <p:blipFill>
          <a:blip r:embed="rId4">
            <a:alphaModFix/>
          </a:blip>
          <a:stretch>
            <a:fillRect/>
          </a:stretch>
        </p:blipFill>
        <p:spPr>
          <a:xfrm>
            <a:off x="6294575" y="1776975"/>
            <a:ext cx="5592258" cy="3956125"/>
          </a:xfrm>
          <a:prstGeom prst="rect">
            <a:avLst/>
          </a:prstGeom>
          <a:noFill/>
          <a:ln>
            <a:noFill/>
          </a:ln>
        </p:spPr>
      </p:pic>
      <p:sp>
        <p:nvSpPr>
          <p:cNvPr id="979" name="Google Shape;979;g34155d50a00_0_125"/>
          <p:cNvSpPr txBox="1"/>
          <p:nvPr/>
        </p:nvSpPr>
        <p:spPr>
          <a:xfrm>
            <a:off x="354700" y="5733100"/>
            <a:ext cx="10966200" cy="946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Igual respuesta al escalón que los sensores de corriente.</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La salida va ~1ms atrasada respecto de la consigna.</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Se incluye el fenómeno de saturación.</a:t>
            </a:r>
            <a:endParaRPr sz="1500">
              <a:latin typeface="Calibri"/>
              <a:ea typeface="Calibri"/>
              <a:cs typeface="Calibri"/>
              <a:sym typeface="Calibri"/>
            </a:endParaRPr>
          </a:p>
        </p:txBody>
      </p:sp>
      <p:sp>
        <p:nvSpPr>
          <p:cNvPr id="980" name="Google Shape;980;g34155d50a00_0_125"/>
          <p:cNvSpPr txBox="1"/>
          <p:nvPr/>
        </p:nvSpPr>
        <p:spPr>
          <a:xfrm flipH="1">
            <a:off x="5461575" y="53329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981" name="Google Shape;981;g34155d50a00_0_125"/>
          <p:cNvSpPr txBox="1"/>
          <p:nvPr/>
        </p:nvSpPr>
        <p:spPr>
          <a:xfrm flipH="1">
            <a:off x="11580825" y="53329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985" name="Shape 985"/>
        <p:cNvGrpSpPr/>
        <p:nvPr/>
      </p:nvGrpSpPr>
      <p:grpSpPr>
        <a:xfrm>
          <a:off x="0" y="0"/>
          <a:ext cx="0" cy="0"/>
          <a:chOff x="0" y="0"/>
          <a:chExt cx="0" cy="0"/>
        </a:xfrm>
      </p:grpSpPr>
      <p:sp>
        <p:nvSpPr>
          <p:cNvPr id="986" name="Google Shape;986;g34155d50a00_0_136"/>
          <p:cNvSpPr txBox="1"/>
          <p:nvPr/>
        </p:nvSpPr>
        <p:spPr>
          <a:xfrm>
            <a:off x="4342650" y="184875"/>
            <a:ext cx="3506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Respuesta con sensores ideales</a:t>
            </a:r>
            <a:endParaRPr sz="1800">
              <a:solidFill>
                <a:schemeClr val="lt1"/>
              </a:solidFill>
              <a:latin typeface="Arial"/>
              <a:ea typeface="Arial"/>
              <a:cs typeface="Arial"/>
              <a:sym typeface="Arial"/>
            </a:endParaRPr>
          </a:p>
        </p:txBody>
      </p:sp>
      <p:pic>
        <p:nvPicPr>
          <p:cNvPr id="987" name="Google Shape;987;g34155d50a00_0_136"/>
          <p:cNvPicPr preferRelativeResize="0"/>
          <p:nvPr/>
        </p:nvPicPr>
        <p:blipFill>
          <a:blip r:embed="rId3">
            <a:alphaModFix/>
          </a:blip>
          <a:stretch>
            <a:fillRect/>
          </a:stretch>
        </p:blipFill>
        <p:spPr>
          <a:xfrm>
            <a:off x="277450" y="1178350"/>
            <a:ext cx="5660892" cy="3995551"/>
          </a:xfrm>
          <a:prstGeom prst="rect">
            <a:avLst/>
          </a:prstGeom>
          <a:noFill/>
          <a:ln>
            <a:noFill/>
          </a:ln>
        </p:spPr>
      </p:pic>
      <p:sp>
        <p:nvSpPr>
          <p:cNvPr id="988" name="Google Shape;988;g34155d50a00_0_136"/>
          <p:cNvSpPr txBox="1"/>
          <p:nvPr/>
        </p:nvSpPr>
        <p:spPr>
          <a:xfrm>
            <a:off x="277450" y="5124000"/>
            <a:ext cx="10966200" cy="68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500">
                <a:latin typeface="Calibri"/>
                <a:ea typeface="Calibri"/>
                <a:cs typeface="Calibri"/>
                <a:sym typeface="Calibri"/>
              </a:rPr>
              <a:t>Como concluimos anteriormente, hay un seguimiento casi perfecto de la consigna, con pequeños transitorios al aplicarse el torque de carga y debido a las discontinuidades de las derivadas de orden superior.</a:t>
            </a:r>
            <a:endParaRPr sz="1500">
              <a:latin typeface="Calibri"/>
              <a:ea typeface="Calibri"/>
              <a:cs typeface="Calibri"/>
              <a:sym typeface="Calibri"/>
            </a:endParaRPr>
          </a:p>
        </p:txBody>
      </p:sp>
      <p:pic>
        <p:nvPicPr>
          <p:cNvPr id="989" name="Google Shape;989;g34155d50a00_0_136"/>
          <p:cNvPicPr preferRelativeResize="0"/>
          <p:nvPr/>
        </p:nvPicPr>
        <p:blipFill>
          <a:blip r:embed="rId4">
            <a:alphaModFix/>
          </a:blip>
          <a:stretch>
            <a:fillRect/>
          </a:stretch>
        </p:blipFill>
        <p:spPr>
          <a:xfrm>
            <a:off x="6295900" y="1176075"/>
            <a:ext cx="5660900" cy="4000103"/>
          </a:xfrm>
          <a:prstGeom prst="rect">
            <a:avLst/>
          </a:prstGeom>
          <a:noFill/>
          <a:ln>
            <a:noFill/>
          </a:ln>
        </p:spPr>
      </p:pic>
      <p:sp>
        <p:nvSpPr>
          <p:cNvPr id="990" name="Google Shape;990;g34155d50a00_0_136"/>
          <p:cNvSpPr txBox="1"/>
          <p:nvPr/>
        </p:nvSpPr>
        <p:spPr>
          <a:xfrm flipH="1">
            <a:off x="5450250" y="48221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991" name="Google Shape;991;g34155d50a00_0_136"/>
          <p:cNvSpPr txBox="1"/>
          <p:nvPr/>
        </p:nvSpPr>
        <p:spPr>
          <a:xfrm flipH="1">
            <a:off x="11408350" y="48221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995" name="Shape 995"/>
        <p:cNvGrpSpPr/>
        <p:nvPr/>
      </p:nvGrpSpPr>
      <p:grpSpPr>
        <a:xfrm>
          <a:off x="0" y="0"/>
          <a:ext cx="0" cy="0"/>
          <a:chOff x="0" y="0"/>
          <a:chExt cx="0" cy="0"/>
        </a:xfrm>
      </p:grpSpPr>
      <p:sp>
        <p:nvSpPr>
          <p:cNvPr id="996" name="Google Shape;996;g34155d50a00_0_145"/>
          <p:cNvSpPr txBox="1"/>
          <p:nvPr/>
        </p:nvSpPr>
        <p:spPr>
          <a:xfrm>
            <a:off x="4342650" y="184875"/>
            <a:ext cx="3506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Respuesta con sensores reales</a:t>
            </a:r>
            <a:endParaRPr sz="1800">
              <a:solidFill>
                <a:schemeClr val="lt1"/>
              </a:solidFill>
              <a:latin typeface="Arial"/>
              <a:ea typeface="Arial"/>
              <a:cs typeface="Arial"/>
              <a:sym typeface="Arial"/>
            </a:endParaRPr>
          </a:p>
        </p:txBody>
      </p:sp>
      <p:pic>
        <p:nvPicPr>
          <p:cNvPr id="997" name="Google Shape;997;g34155d50a00_0_145"/>
          <p:cNvPicPr preferRelativeResize="0"/>
          <p:nvPr/>
        </p:nvPicPr>
        <p:blipFill>
          <a:blip r:embed="rId3">
            <a:alphaModFix/>
          </a:blip>
          <a:stretch>
            <a:fillRect/>
          </a:stretch>
        </p:blipFill>
        <p:spPr>
          <a:xfrm>
            <a:off x="730913" y="603375"/>
            <a:ext cx="7189877" cy="5080525"/>
          </a:xfrm>
          <a:prstGeom prst="rect">
            <a:avLst/>
          </a:prstGeom>
          <a:noFill/>
          <a:ln>
            <a:noFill/>
          </a:ln>
        </p:spPr>
      </p:pic>
      <p:sp>
        <p:nvSpPr>
          <p:cNvPr id="998" name="Google Shape;998;g34155d50a00_0_145"/>
          <p:cNvSpPr txBox="1"/>
          <p:nvPr/>
        </p:nvSpPr>
        <p:spPr>
          <a:xfrm>
            <a:off x="354700" y="5733100"/>
            <a:ext cx="10966200" cy="6810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Sensores y actuadores no son lo suficientemente rápidos.</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Se procede aumentar sus frecuencias naturales/constantes de tiempo.</a:t>
            </a:r>
            <a:endParaRPr sz="1500">
              <a:latin typeface="Calibri"/>
              <a:ea typeface="Calibri"/>
              <a:cs typeface="Calibri"/>
              <a:sym typeface="Calibri"/>
            </a:endParaRPr>
          </a:p>
        </p:txBody>
      </p:sp>
      <p:pic>
        <p:nvPicPr>
          <p:cNvPr id="999" name="Google Shape;999;g34155d50a00_0_145"/>
          <p:cNvPicPr preferRelativeResize="0"/>
          <p:nvPr/>
        </p:nvPicPr>
        <p:blipFill>
          <a:blip r:embed="rId4">
            <a:alphaModFix/>
          </a:blip>
          <a:stretch>
            <a:fillRect/>
          </a:stretch>
        </p:blipFill>
        <p:spPr>
          <a:xfrm>
            <a:off x="8821715" y="1805375"/>
            <a:ext cx="2743200" cy="2676525"/>
          </a:xfrm>
          <a:prstGeom prst="rect">
            <a:avLst/>
          </a:prstGeom>
          <a:noFill/>
          <a:ln>
            <a:noFill/>
          </a:ln>
        </p:spPr>
      </p:pic>
      <p:sp>
        <p:nvSpPr>
          <p:cNvPr id="1000" name="Google Shape;1000;g34155d50a00_0_145"/>
          <p:cNvSpPr txBox="1"/>
          <p:nvPr/>
        </p:nvSpPr>
        <p:spPr>
          <a:xfrm flipH="1">
            <a:off x="7309875" y="52837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004" name="Shape 1004"/>
        <p:cNvGrpSpPr/>
        <p:nvPr/>
      </p:nvGrpSpPr>
      <p:grpSpPr>
        <a:xfrm>
          <a:off x="0" y="0"/>
          <a:ext cx="0" cy="0"/>
          <a:chOff x="0" y="0"/>
          <a:chExt cx="0" cy="0"/>
        </a:xfrm>
      </p:grpSpPr>
      <p:sp>
        <p:nvSpPr>
          <p:cNvPr id="1005" name="Google Shape;1005;g34155d50a00_0_154"/>
          <p:cNvSpPr txBox="1"/>
          <p:nvPr/>
        </p:nvSpPr>
        <p:spPr>
          <a:xfrm>
            <a:off x="3859650" y="149375"/>
            <a:ext cx="4472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Respuesta con sensores reales mejorados</a:t>
            </a:r>
            <a:endParaRPr sz="1800">
              <a:solidFill>
                <a:schemeClr val="lt1"/>
              </a:solidFill>
              <a:latin typeface="Arial"/>
              <a:ea typeface="Arial"/>
              <a:cs typeface="Arial"/>
              <a:sym typeface="Arial"/>
            </a:endParaRPr>
          </a:p>
        </p:txBody>
      </p:sp>
      <p:pic>
        <p:nvPicPr>
          <p:cNvPr id="1006" name="Google Shape;1006;g34155d50a00_0_154"/>
          <p:cNvPicPr preferRelativeResize="0"/>
          <p:nvPr/>
        </p:nvPicPr>
        <p:blipFill>
          <a:blip r:embed="rId3">
            <a:alphaModFix/>
          </a:blip>
          <a:stretch>
            <a:fillRect/>
          </a:stretch>
        </p:blipFill>
        <p:spPr>
          <a:xfrm>
            <a:off x="277450" y="1176075"/>
            <a:ext cx="5660900" cy="4000113"/>
          </a:xfrm>
          <a:prstGeom prst="rect">
            <a:avLst/>
          </a:prstGeom>
          <a:noFill/>
          <a:ln>
            <a:noFill/>
          </a:ln>
        </p:spPr>
      </p:pic>
      <p:pic>
        <p:nvPicPr>
          <p:cNvPr id="1007" name="Google Shape;1007;g34155d50a00_0_154"/>
          <p:cNvPicPr preferRelativeResize="0"/>
          <p:nvPr/>
        </p:nvPicPr>
        <p:blipFill>
          <a:blip r:embed="rId4">
            <a:alphaModFix/>
          </a:blip>
          <a:stretch>
            <a:fillRect/>
          </a:stretch>
        </p:blipFill>
        <p:spPr>
          <a:xfrm>
            <a:off x="6295900" y="1176075"/>
            <a:ext cx="5660900" cy="4000100"/>
          </a:xfrm>
          <a:prstGeom prst="rect">
            <a:avLst/>
          </a:prstGeom>
          <a:noFill/>
          <a:ln>
            <a:noFill/>
          </a:ln>
        </p:spPr>
      </p:pic>
      <p:sp>
        <p:nvSpPr>
          <p:cNvPr id="1008" name="Google Shape;1008;g34155d50a00_0_154"/>
          <p:cNvSpPr txBox="1"/>
          <p:nvPr/>
        </p:nvSpPr>
        <p:spPr>
          <a:xfrm>
            <a:off x="277450" y="5173900"/>
            <a:ext cx="109662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500">
                <a:latin typeface="Calibri"/>
                <a:ea typeface="Calibri"/>
                <a:cs typeface="Calibri"/>
                <a:sym typeface="Calibri"/>
              </a:rPr>
              <a:t>Triplicando la frecuencia natural de los sensores y actuadores se </a:t>
            </a:r>
            <a:r>
              <a:rPr lang="es-MX" sz="1500">
                <a:latin typeface="Calibri"/>
                <a:ea typeface="Calibri"/>
                <a:cs typeface="Calibri"/>
                <a:sym typeface="Calibri"/>
              </a:rPr>
              <a:t>logró</a:t>
            </a:r>
            <a:r>
              <a:rPr lang="es-MX" sz="1500">
                <a:latin typeface="Calibri"/>
                <a:ea typeface="Calibri"/>
                <a:cs typeface="Calibri"/>
                <a:sym typeface="Calibri"/>
              </a:rPr>
              <a:t> un seguimiento de consigna satisfactorio.</a:t>
            </a:r>
            <a:endParaRPr sz="1500">
              <a:latin typeface="Calibri"/>
              <a:ea typeface="Calibri"/>
              <a:cs typeface="Calibri"/>
              <a:sym typeface="Calibri"/>
            </a:endParaRPr>
          </a:p>
        </p:txBody>
      </p:sp>
      <p:sp>
        <p:nvSpPr>
          <p:cNvPr id="1009" name="Google Shape;1009;g34155d50a00_0_154"/>
          <p:cNvSpPr txBox="1"/>
          <p:nvPr/>
        </p:nvSpPr>
        <p:spPr>
          <a:xfrm flipH="1">
            <a:off x="5416225" y="47737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1010" name="Google Shape;1010;g34155d50a00_0_154"/>
          <p:cNvSpPr txBox="1"/>
          <p:nvPr/>
        </p:nvSpPr>
        <p:spPr>
          <a:xfrm flipH="1">
            <a:off x="11397000" y="47737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014" name="Shape 1014"/>
        <p:cNvGrpSpPr/>
        <p:nvPr/>
      </p:nvGrpSpPr>
      <p:grpSpPr>
        <a:xfrm>
          <a:off x="0" y="0"/>
          <a:ext cx="0" cy="0"/>
          <a:chOff x="0" y="0"/>
          <a:chExt cx="0" cy="0"/>
        </a:xfrm>
      </p:grpSpPr>
      <p:sp>
        <p:nvSpPr>
          <p:cNvPr id="1015" name="Google Shape;1015;g346a895f855_0_633"/>
          <p:cNvSpPr txBox="1"/>
          <p:nvPr/>
        </p:nvSpPr>
        <p:spPr>
          <a:xfrm>
            <a:off x="5354700" y="199950"/>
            <a:ext cx="1482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Comparativa</a:t>
            </a:r>
            <a:endParaRPr sz="1800">
              <a:solidFill>
                <a:schemeClr val="lt1"/>
              </a:solidFill>
              <a:latin typeface="Arial"/>
              <a:ea typeface="Arial"/>
              <a:cs typeface="Arial"/>
              <a:sym typeface="Arial"/>
            </a:endParaRPr>
          </a:p>
        </p:txBody>
      </p:sp>
      <p:pic>
        <p:nvPicPr>
          <p:cNvPr id="1016" name="Google Shape;1016;g346a895f855_0_633"/>
          <p:cNvPicPr preferRelativeResize="0"/>
          <p:nvPr/>
        </p:nvPicPr>
        <p:blipFill>
          <a:blip r:embed="rId3">
            <a:alphaModFix/>
          </a:blip>
          <a:stretch>
            <a:fillRect/>
          </a:stretch>
        </p:blipFill>
        <p:spPr>
          <a:xfrm>
            <a:off x="6295900" y="1176075"/>
            <a:ext cx="5660900" cy="4000100"/>
          </a:xfrm>
          <a:prstGeom prst="rect">
            <a:avLst/>
          </a:prstGeom>
          <a:noFill/>
          <a:ln>
            <a:noFill/>
          </a:ln>
        </p:spPr>
      </p:pic>
      <p:sp>
        <p:nvSpPr>
          <p:cNvPr id="1017" name="Google Shape;1017;g346a895f855_0_633"/>
          <p:cNvSpPr txBox="1"/>
          <p:nvPr/>
        </p:nvSpPr>
        <p:spPr>
          <a:xfrm>
            <a:off x="277450" y="5173900"/>
            <a:ext cx="109662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500">
                <a:latin typeface="Calibri"/>
                <a:ea typeface="Calibri"/>
                <a:cs typeface="Calibri"/>
                <a:sym typeface="Calibri"/>
              </a:rPr>
              <a:t>Vemos que la magnitud del error </a:t>
            </a:r>
            <a:r>
              <a:rPr lang="es-MX" sz="1500">
                <a:latin typeface="Calibri"/>
                <a:ea typeface="Calibri"/>
                <a:cs typeface="Calibri"/>
                <a:sym typeface="Calibri"/>
              </a:rPr>
              <a:t>aumentó</a:t>
            </a:r>
            <a:r>
              <a:rPr lang="es-MX" sz="1500">
                <a:latin typeface="Calibri"/>
                <a:ea typeface="Calibri"/>
                <a:cs typeface="Calibri"/>
                <a:sym typeface="Calibri"/>
              </a:rPr>
              <a:t> un poco, pero se sigue teniendo un orden de error muy bajo.</a:t>
            </a:r>
            <a:endParaRPr sz="1500">
              <a:latin typeface="Calibri"/>
              <a:ea typeface="Calibri"/>
              <a:cs typeface="Calibri"/>
              <a:sym typeface="Calibri"/>
            </a:endParaRPr>
          </a:p>
        </p:txBody>
      </p:sp>
      <p:pic>
        <p:nvPicPr>
          <p:cNvPr id="1018" name="Google Shape;1018;g346a895f855_0_633"/>
          <p:cNvPicPr preferRelativeResize="0"/>
          <p:nvPr/>
        </p:nvPicPr>
        <p:blipFill>
          <a:blip r:embed="rId4">
            <a:alphaModFix/>
          </a:blip>
          <a:stretch>
            <a:fillRect/>
          </a:stretch>
        </p:blipFill>
        <p:spPr>
          <a:xfrm>
            <a:off x="277450" y="1176075"/>
            <a:ext cx="5660900" cy="4000122"/>
          </a:xfrm>
          <a:prstGeom prst="rect">
            <a:avLst/>
          </a:prstGeom>
          <a:noFill/>
          <a:ln>
            <a:noFill/>
          </a:ln>
        </p:spPr>
      </p:pic>
      <p:sp>
        <p:nvSpPr>
          <p:cNvPr id="1019" name="Google Shape;1019;g346a895f855_0_633"/>
          <p:cNvSpPr txBox="1"/>
          <p:nvPr/>
        </p:nvSpPr>
        <p:spPr>
          <a:xfrm flipH="1">
            <a:off x="11414700" y="47760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1020" name="Google Shape;1020;g346a895f855_0_633"/>
          <p:cNvSpPr txBox="1"/>
          <p:nvPr/>
        </p:nvSpPr>
        <p:spPr>
          <a:xfrm flipH="1">
            <a:off x="5354700" y="47760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024" name="Shape 1024"/>
        <p:cNvGrpSpPr/>
        <p:nvPr/>
      </p:nvGrpSpPr>
      <p:grpSpPr>
        <a:xfrm>
          <a:off x="0" y="0"/>
          <a:ext cx="0" cy="0"/>
          <a:chOff x="0" y="0"/>
          <a:chExt cx="0" cy="0"/>
        </a:xfrm>
      </p:grpSpPr>
      <p:sp>
        <p:nvSpPr>
          <p:cNvPr id="1025" name="Google Shape;1025;g346a895f855_0_648"/>
          <p:cNvSpPr txBox="1"/>
          <p:nvPr/>
        </p:nvSpPr>
        <p:spPr>
          <a:xfrm>
            <a:off x="4782450" y="154600"/>
            <a:ext cx="2627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Implementación digital</a:t>
            </a:r>
            <a:endParaRPr sz="1800">
              <a:solidFill>
                <a:schemeClr val="lt1"/>
              </a:solidFill>
              <a:latin typeface="Arial"/>
              <a:ea typeface="Arial"/>
              <a:cs typeface="Arial"/>
              <a:sym typeface="Arial"/>
            </a:endParaRPr>
          </a:p>
        </p:txBody>
      </p:sp>
      <p:sp>
        <p:nvSpPr>
          <p:cNvPr id="1026" name="Google Shape;1026;g346a895f855_0_648"/>
          <p:cNvSpPr txBox="1"/>
          <p:nvPr/>
        </p:nvSpPr>
        <p:spPr>
          <a:xfrm>
            <a:off x="699950" y="523900"/>
            <a:ext cx="6402000" cy="7143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SzPts val="1600"/>
              <a:buFont typeface="Calibri"/>
              <a:buChar char="●"/>
            </a:pPr>
            <a:r>
              <a:rPr lang="es-MX" sz="1600">
                <a:latin typeface="Calibri"/>
                <a:ea typeface="Calibri"/>
                <a:cs typeface="Calibri"/>
                <a:sym typeface="Calibri"/>
              </a:rPr>
              <a:t>Discretización del controlador PID para implementación digital</a:t>
            </a:r>
            <a:endParaRPr sz="1600">
              <a:latin typeface="Calibri"/>
              <a:ea typeface="Calibri"/>
              <a:cs typeface="Calibri"/>
              <a:sym typeface="Calibri"/>
            </a:endParaRPr>
          </a:p>
          <a:p>
            <a:pPr indent="-330200" lvl="0" marL="457200" rtl="0" algn="l">
              <a:lnSpc>
                <a:spcPct val="115000"/>
              </a:lnSpc>
              <a:spcBef>
                <a:spcPts val="0"/>
              </a:spcBef>
              <a:spcAft>
                <a:spcPts val="0"/>
              </a:spcAft>
              <a:buSzPts val="1600"/>
              <a:buFont typeface="Calibri"/>
              <a:buChar char="●"/>
            </a:pPr>
            <a:r>
              <a:rPr lang="es-MX" sz="1600">
                <a:latin typeface="Calibri"/>
                <a:ea typeface="Calibri"/>
                <a:cs typeface="Calibri"/>
                <a:sym typeface="Calibri"/>
              </a:rPr>
              <a:t>Función de transferencia equivalente del controlador PID </a:t>
            </a:r>
            <a:endParaRPr sz="1600">
              <a:latin typeface="Calibri"/>
              <a:ea typeface="Calibri"/>
              <a:cs typeface="Calibri"/>
              <a:sym typeface="Calibri"/>
            </a:endParaRPr>
          </a:p>
        </p:txBody>
      </p:sp>
      <p:pic>
        <p:nvPicPr>
          <p:cNvPr id="1027" name="Google Shape;1027;g346a895f855_0_648"/>
          <p:cNvPicPr preferRelativeResize="0"/>
          <p:nvPr/>
        </p:nvPicPr>
        <p:blipFill>
          <a:blip r:embed="rId3">
            <a:alphaModFix/>
          </a:blip>
          <a:stretch>
            <a:fillRect/>
          </a:stretch>
        </p:blipFill>
        <p:spPr>
          <a:xfrm>
            <a:off x="2839300" y="1276650"/>
            <a:ext cx="6513400" cy="1408550"/>
          </a:xfrm>
          <a:prstGeom prst="rect">
            <a:avLst/>
          </a:prstGeom>
          <a:noFill/>
          <a:ln>
            <a:noFill/>
          </a:ln>
        </p:spPr>
      </p:pic>
      <p:pic>
        <p:nvPicPr>
          <p:cNvPr id="1028" name="Google Shape;1028;g346a895f855_0_648"/>
          <p:cNvPicPr preferRelativeResize="0"/>
          <p:nvPr/>
        </p:nvPicPr>
        <p:blipFill>
          <a:blip r:embed="rId4">
            <a:alphaModFix/>
          </a:blip>
          <a:stretch>
            <a:fillRect/>
          </a:stretch>
        </p:blipFill>
        <p:spPr>
          <a:xfrm>
            <a:off x="2997513" y="2723650"/>
            <a:ext cx="6196975" cy="4012347"/>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032" name="Shape 1032"/>
        <p:cNvGrpSpPr/>
        <p:nvPr/>
      </p:nvGrpSpPr>
      <p:grpSpPr>
        <a:xfrm>
          <a:off x="0" y="0"/>
          <a:ext cx="0" cy="0"/>
          <a:chOff x="0" y="0"/>
          <a:chExt cx="0" cy="0"/>
        </a:xfrm>
      </p:grpSpPr>
      <p:pic>
        <p:nvPicPr>
          <p:cNvPr id="1033" name="Google Shape;1033;g346a895f855_0_655"/>
          <p:cNvPicPr preferRelativeResize="0"/>
          <p:nvPr/>
        </p:nvPicPr>
        <p:blipFill>
          <a:blip r:embed="rId3">
            <a:alphaModFix/>
          </a:blip>
          <a:stretch>
            <a:fillRect/>
          </a:stretch>
        </p:blipFill>
        <p:spPr>
          <a:xfrm>
            <a:off x="820000" y="4122250"/>
            <a:ext cx="9981700" cy="1045702"/>
          </a:xfrm>
          <a:prstGeom prst="rect">
            <a:avLst/>
          </a:prstGeom>
          <a:noFill/>
          <a:ln>
            <a:noFill/>
          </a:ln>
        </p:spPr>
      </p:pic>
      <p:sp>
        <p:nvSpPr>
          <p:cNvPr id="1034" name="Google Shape;1034;g346a895f855_0_655"/>
          <p:cNvSpPr txBox="1"/>
          <p:nvPr/>
        </p:nvSpPr>
        <p:spPr>
          <a:xfrm>
            <a:off x="5057550" y="154600"/>
            <a:ext cx="2076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Discretización PID</a:t>
            </a:r>
            <a:endParaRPr sz="1800">
              <a:solidFill>
                <a:schemeClr val="lt1"/>
              </a:solidFill>
              <a:latin typeface="Arial"/>
              <a:ea typeface="Arial"/>
              <a:cs typeface="Arial"/>
              <a:sym typeface="Arial"/>
            </a:endParaRPr>
          </a:p>
        </p:txBody>
      </p:sp>
      <p:sp>
        <p:nvSpPr>
          <p:cNvPr id="1035" name="Google Shape;1035;g346a895f855_0_655"/>
          <p:cNvSpPr txBox="1"/>
          <p:nvPr/>
        </p:nvSpPr>
        <p:spPr>
          <a:xfrm>
            <a:off x="699950" y="523900"/>
            <a:ext cx="6402000" cy="431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SzPts val="1600"/>
              <a:buFont typeface="Calibri"/>
              <a:buChar char="●"/>
            </a:pPr>
            <a:r>
              <a:rPr lang="es-MX" sz="1600">
                <a:latin typeface="Calibri"/>
                <a:ea typeface="Calibri"/>
                <a:cs typeface="Calibri"/>
                <a:sym typeface="Calibri"/>
              </a:rPr>
              <a:t>Método de Tustin.</a:t>
            </a:r>
            <a:endParaRPr sz="1600">
              <a:latin typeface="Calibri"/>
              <a:ea typeface="Calibri"/>
              <a:cs typeface="Calibri"/>
              <a:sym typeface="Calibri"/>
            </a:endParaRPr>
          </a:p>
        </p:txBody>
      </p:sp>
      <p:pic>
        <p:nvPicPr>
          <p:cNvPr id="1036" name="Google Shape;1036;g346a895f855_0_655"/>
          <p:cNvPicPr preferRelativeResize="0"/>
          <p:nvPr/>
        </p:nvPicPr>
        <p:blipFill>
          <a:blip r:embed="rId4">
            <a:alphaModFix/>
          </a:blip>
          <a:stretch>
            <a:fillRect/>
          </a:stretch>
        </p:blipFill>
        <p:spPr>
          <a:xfrm>
            <a:off x="820000" y="955000"/>
            <a:ext cx="2809875" cy="1162050"/>
          </a:xfrm>
          <a:prstGeom prst="rect">
            <a:avLst/>
          </a:prstGeom>
          <a:noFill/>
          <a:ln>
            <a:noFill/>
          </a:ln>
        </p:spPr>
      </p:pic>
      <p:sp>
        <p:nvSpPr>
          <p:cNvPr id="1037" name="Google Shape;1037;g346a895f855_0_655"/>
          <p:cNvSpPr txBox="1"/>
          <p:nvPr/>
        </p:nvSpPr>
        <p:spPr>
          <a:xfrm>
            <a:off x="820000" y="3710200"/>
            <a:ext cx="6402000" cy="431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SzPts val="1600"/>
              <a:buFont typeface="Calibri"/>
              <a:buChar char="●"/>
            </a:pPr>
            <a:r>
              <a:rPr lang="es-MX" sz="1600">
                <a:latin typeface="Calibri"/>
                <a:ea typeface="Calibri"/>
                <a:cs typeface="Calibri"/>
                <a:sym typeface="Calibri"/>
              </a:rPr>
              <a:t>Discretización de la función de transferencia del PID:</a:t>
            </a:r>
            <a:endParaRPr sz="1600">
              <a:latin typeface="Calibri"/>
              <a:ea typeface="Calibri"/>
              <a:cs typeface="Calibri"/>
              <a:sym typeface="Calibri"/>
            </a:endParaRPr>
          </a:p>
        </p:txBody>
      </p:sp>
      <p:sp>
        <p:nvSpPr>
          <p:cNvPr id="1038" name="Google Shape;1038;g346a895f855_0_655"/>
          <p:cNvSpPr txBox="1"/>
          <p:nvPr/>
        </p:nvSpPr>
        <p:spPr>
          <a:xfrm>
            <a:off x="820000" y="2117050"/>
            <a:ext cx="10611300" cy="431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SzPts val="1600"/>
              <a:buFont typeface="Calibri"/>
              <a:buChar char="●"/>
            </a:pPr>
            <a:r>
              <a:rPr lang="es-MX" sz="1600">
                <a:latin typeface="Calibri"/>
                <a:ea typeface="Calibri"/>
                <a:cs typeface="Calibri"/>
                <a:sym typeface="Calibri"/>
              </a:rPr>
              <a:t>Para la elección de la frecuencia de muestreo, tomamos como dinámica más rápida al lazo de corriente:</a:t>
            </a:r>
            <a:endParaRPr sz="1600">
              <a:latin typeface="Calibri"/>
              <a:ea typeface="Calibri"/>
              <a:cs typeface="Calibri"/>
              <a:sym typeface="Calibri"/>
            </a:endParaRPr>
          </a:p>
        </p:txBody>
      </p:sp>
      <p:pic>
        <p:nvPicPr>
          <p:cNvPr id="1039" name="Google Shape;1039;g346a895f855_0_655"/>
          <p:cNvPicPr preferRelativeResize="0"/>
          <p:nvPr/>
        </p:nvPicPr>
        <p:blipFill>
          <a:blip r:embed="rId5">
            <a:alphaModFix/>
          </a:blip>
          <a:stretch>
            <a:fillRect/>
          </a:stretch>
        </p:blipFill>
        <p:spPr>
          <a:xfrm>
            <a:off x="820000" y="2548150"/>
            <a:ext cx="3781425" cy="1143000"/>
          </a:xfrm>
          <a:prstGeom prst="rect">
            <a:avLst/>
          </a:prstGeom>
          <a:noFill/>
          <a:ln>
            <a:noFill/>
          </a:ln>
        </p:spPr>
      </p:pic>
      <p:pic>
        <p:nvPicPr>
          <p:cNvPr id="1040" name="Google Shape;1040;g346a895f855_0_655"/>
          <p:cNvPicPr preferRelativeResize="0"/>
          <p:nvPr/>
        </p:nvPicPr>
        <p:blipFill>
          <a:blip r:embed="rId6">
            <a:alphaModFix/>
          </a:blip>
          <a:stretch>
            <a:fillRect/>
          </a:stretch>
        </p:blipFill>
        <p:spPr>
          <a:xfrm>
            <a:off x="4805175" y="2548150"/>
            <a:ext cx="4153581" cy="1143000"/>
          </a:xfrm>
          <a:prstGeom prst="rect">
            <a:avLst/>
          </a:prstGeom>
          <a:noFill/>
          <a:ln>
            <a:noFill/>
          </a:ln>
        </p:spPr>
      </p:pic>
      <p:pic>
        <p:nvPicPr>
          <p:cNvPr id="1041" name="Google Shape;1041;g346a895f855_0_655"/>
          <p:cNvPicPr preferRelativeResize="0"/>
          <p:nvPr/>
        </p:nvPicPr>
        <p:blipFill>
          <a:blip r:embed="rId7">
            <a:alphaModFix/>
          </a:blip>
          <a:stretch>
            <a:fillRect/>
          </a:stretch>
        </p:blipFill>
        <p:spPr>
          <a:xfrm>
            <a:off x="9162500" y="2795802"/>
            <a:ext cx="2286000" cy="647700"/>
          </a:xfrm>
          <a:prstGeom prst="rect">
            <a:avLst/>
          </a:prstGeom>
          <a:noFill/>
          <a:ln>
            <a:noFill/>
          </a:ln>
        </p:spPr>
      </p:pic>
      <p:pic>
        <p:nvPicPr>
          <p:cNvPr id="1042" name="Google Shape;1042;g346a895f855_0_655"/>
          <p:cNvPicPr preferRelativeResize="0"/>
          <p:nvPr/>
        </p:nvPicPr>
        <p:blipFill>
          <a:blip r:embed="rId8">
            <a:alphaModFix/>
          </a:blip>
          <a:stretch>
            <a:fillRect/>
          </a:stretch>
        </p:blipFill>
        <p:spPr>
          <a:xfrm>
            <a:off x="820000" y="5239452"/>
            <a:ext cx="8115300" cy="1114425"/>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046" name="Shape 1046"/>
        <p:cNvGrpSpPr/>
        <p:nvPr/>
      </p:nvGrpSpPr>
      <p:grpSpPr>
        <a:xfrm>
          <a:off x="0" y="0"/>
          <a:ext cx="0" cy="0"/>
          <a:chOff x="0" y="0"/>
          <a:chExt cx="0" cy="0"/>
        </a:xfrm>
      </p:grpSpPr>
      <p:pic>
        <p:nvPicPr>
          <p:cNvPr id="1047" name="Google Shape;1047;g34155d50a00_0_192"/>
          <p:cNvPicPr preferRelativeResize="0"/>
          <p:nvPr/>
        </p:nvPicPr>
        <p:blipFill>
          <a:blip r:embed="rId3">
            <a:alphaModFix/>
          </a:blip>
          <a:stretch>
            <a:fillRect/>
          </a:stretch>
        </p:blipFill>
        <p:spPr>
          <a:xfrm>
            <a:off x="1738073" y="170700"/>
            <a:ext cx="8232975" cy="1457325"/>
          </a:xfrm>
          <a:prstGeom prst="rect">
            <a:avLst/>
          </a:prstGeom>
          <a:noFill/>
          <a:ln>
            <a:noFill/>
          </a:ln>
        </p:spPr>
      </p:pic>
      <p:pic>
        <p:nvPicPr>
          <p:cNvPr id="1048" name="Google Shape;1048;g34155d50a00_0_192"/>
          <p:cNvPicPr preferRelativeResize="0"/>
          <p:nvPr/>
        </p:nvPicPr>
        <p:blipFill>
          <a:blip r:embed="rId4">
            <a:alphaModFix/>
          </a:blip>
          <a:stretch>
            <a:fillRect/>
          </a:stretch>
        </p:blipFill>
        <p:spPr>
          <a:xfrm>
            <a:off x="2331963" y="1755275"/>
            <a:ext cx="7045150" cy="4973725"/>
          </a:xfrm>
          <a:prstGeom prst="rect">
            <a:avLst/>
          </a:prstGeom>
          <a:noFill/>
          <a:ln>
            <a:noFill/>
          </a:ln>
        </p:spPr>
      </p:pic>
      <p:sp>
        <p:nvSpPr>
          <p:cNvPr id="1049" name="Google Shape;1049;g34155d50a00_0_192"/>
          <p:cNvSpPr txBox="1"/>
          <p:nvPr/>
        </p:nvSpPr>
        <p:spPr>
          <a:xfrm flipH="1" rot="10800000">
            <a:off x="8935600" y="63288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053" name="Shape 1053"/>
        <p:cNvGrpSpPr/>
        <p:nvPr/>
      </p:nvGrpSpPr>
      <p:grpSpPr>
        <a:xfrm>
          <a:off x="0" y="0"/>
          <a:ext cx="0" cy="0"/>
          <a:chOff x="0" y="0"/>
          <a:chExt cx="0" cy="0"/>
        </a:xfrm>
      </p:grpSpPr>
      <p:pic>
        <p:nvPicPr>
          <p:cNvPr id="1054" name="Google Shape;1054;g34155d50a00_0_198"/>
          <p:cNvPicPr preferRelativeResize="0"/>
          <p:nvPr/>
        </p:nvPicPr>
        <p:blipFill rotWithShape="1">
          <a:blip r:embed="rId3">
            <a:alphaModFix/>
          </a:blip>
          <a:srcRect b="0" l="852" r="0" t="0"/>
          <a:stretch/>
        </p:blipFill>
        <p:spPr>
          <a:xfrm>
            <a:off x="185000" y="1927625"/>
            <a:ext cx="11822001" cy="4406900"/>
          </a:xfrm>
          <a:prstGeom prst="rect">
            <a:avLst/>
          </a:prstGeom>
          <a:noFill/>
          <a:ln>
            <a:noFill/>
          </a:ln>
        </p:spPr>
      </p:pic>
      <p:pic>
        <p:nvPicPr>
          <p:cNvPr id="1055" name="Google Shape;1055;g34155d50a00_0_198"/>
          <p:cNvPicPr preferRelativeResize="0"/>
          <p:nvPr/>
        </p:nvPicPr>
        <p:blipFill>
          <a:blip r:embed="rId4">
            <a:alphaModFix/>
          </a:blip>
          <a:stretch>
            <a:fillRect/>
          </a:stretch>
        </p:blipFill>
        <p:spPr>
          <a:xfrm>
            <a:off x="241350" y="523475"/>
            <a:ext cx="11765650" cy="117555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059" name="Shape 1059"/>
        <p:cNvGrpSpPr/>
        <p:nvPr/>
      </p:nvGrpSpPr>
      <p:grpSpPr>
        <a:xfrm>
          <a:off x="0" y="0"/>
          <a:ext cx="0" cy="0"/>
          <a:chOff x="0" y="0"/>
          <a:chExt cx="0" cy="0"/>
        </a:xfrm>
      </p:grpSpPr>
      <p:pic>
        <p:nvPicPr>
          <p:cNvPr id="1060" name="Google Shape;1060;g34155d50a00_0_204"/>
          <p:cNvPicPr preferRelativeResize="0"/>
          <p:nvPr/>
        </p:nvPicPr>
        <p:blipFill>
          <a:blip r:embed="rId3">
            <a:alphaModFix/>
          </a:blip>
          <a:stretch>
            <a:fillRect/>
          </a:stretch>
        </p:blipFill>
        <p:spPr>
          <a:xfrm>
            <a:off x="1104900" y="4769900"/>
            <a:ext cx="9699626" cy="1644400"/>
          </a:xfrm>
          <a:prstGeom prst="rect">
            <a:avLst/>
          </a:prstGeom>
          <a:noFill/>
          <a:ln>
            <a:noFill/>
          </a:ln>
        </p:spPr>
      </p:pic>
      <p:pic>
        <p:nvPicPr>
          <p:cNvPr id="1061" name="Google Shape;1061;g34155d50a00_0_204"/>
          <p:cNvPicPr preferRelativeResize="0"/>
          <p:nvPr/>
        </p:nvPicPr>
        <p:blipFill>
          <a:blip r:embed="rId4">
            <a:alphaModFix/>
          </a:blip>
          <a:stretch>
            <a:fillRect/>
          </a:stretch>
        </p:blipFill>
        <p:spPr>
          <a:xfrm>
            <a:off x="5488650" y="3393175"/>
            <a:ext cx="5315874" cy="1237700"/>
          </a:xfrm>
          <a:prstGeom prst="rect">
            <a:avLst/>
          </a:prstGeom>
          <a:noFill/>
          <a:ln>
            <a:noFill/>
          </a:ln>
        </p:spPr>
      </p:pic>
      <p:pic>
        <p:nvPicPr>
          <p:cNvPr id="1062" name="Google Shape;1062;g34155d50a00_0_204"/>
          <p:cNvPicPr preferRelativeResize="0"/>
          <p:nvPr/>
        </p:nvPicPr>
        <p:blipFill>
          <a:blip r:embed="rId5">
            <a:alphaModFix/>
          </a:blip>
          <a:stretch>
            <a:fillRect/>
          </a:stretch>
        </p:blipFill>
        <p:spPr>
          <a:xfrm>
            <a:off x="1104900" y="165100"/>
            <a:ext cx="9699625" cy="3089050"/>
          </a:xfrm>
          <a:prstGeom prst="rect">
            <a:avLst/>
          </a:prstGeom>
          <a:noFill/>
          <a:ln>
            <a:noFill/>
          </a:ln>
        </p:spPr>
      </p:pic>
      <p:pic>
        <p:nvPicPr>
          <p:cNvPr id="1063" name="Google Shape;1063;g34155d50a00_0_204"/>
          <p:cNvPicPr preferRelativeResize="0"/>
          <p:nvPr/>
        </p:nvPicPr>
        <p:blipFill>
          <a:blip r:embed="rId6">
            <a:alphaModFix/>
          </a:blip>
          <a:stretch>
            <a:fillRect/>
          </a:stretch>
        </p:blipFill>
        <p:spPr>
          <a:xfrm>
            <a:off x="1104900" y="3393175"/>
            <a:ext cx="4216401" cy="123770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067" name="Shape 1067"/>
        <p:cNvGrpSpPr/>
        <p:nvPr/>
      </p:nvGrpSpPr>
      <p:grpSpPr>
        <a:xfrm>
          <a:off x="0" y="0"/>
          <a:ext cx="0" cy="0"/>
          <a:chOff x="0" y="0"/>
          <a:chExt cx="0" cy="0"/>
        </a:xfrm>
      </p:grpSpPr>
      <p:pic>
        <p:nvPicPr>
          <p:cNvPr id="1068" name="Google Shape;1068;g34155d50a00_0_215"/>
          <p:cNvPicPr preferRelativeResize="0"/>
          <p:nvPr/>
        </p:nvPicPr>
        <p:blipFill>
          <a:blip r:embed="rId3">
            <a:alphaModFix/>
          </a:blip>
          <a:stretch>
            <a:fillRect/>
          </a:stretch>
        </p:blipFill>
        <p:spPr>
          <a:xfrm>
            <a:off x="2374900" y="474850"/>
            <a:ext cx="7337426" cy="3304175"/>
          </a:xfrm>
          <a:prstGeom prst="rect">
            <a:avLst/>
          </a:prstGeom>
          <a:noFill/>
          <a:ln>
            <a:noFill/>
          </a:ln>
        </p:spPr>
      </p:pic>
      <p:pic>
        <p:nvPicPr>
          <p:cNvPr id="1069" name="Google Shape;1069;g34155d50a00_0_215"/>
          <p:cNvPicPr preferRelativeResize="0"/>
          <p:nvPr/>
        </p:nvPicPr>
        <p:blipFill>
          <a:blip r:embed="rId4">
            <a:alphaModFix/>
          </a:blip>
          <a:stretch>
            <a:fillRect/>
          </a:stretch>
        </p:blipFill>
        <p:spPr>
          <a:xfrm>
            <a:off x="2374900" y="3982225"/>
            <a:ext cx="7337425" cy="2400925"/>
          </a:xfrm>
          <a:prstGeom prst="rect">
            <a:avLst/>
          </a:prstGeom>
          <a:noFill/>
          <a:ln>
            <a:noFill/>
          </a:ln>
        </p:spPr>
      </p:pic>
      <p:sp>
        <p:nvSpPr>
          <p:cNvPr id="1070" name="Google Shape;1070;g34155d50a00_0_215"/>
          <p:cNvSpPr txBox="1"/>
          <p:nvPr/>
        </p:nvSpPr>
        <p:spPr>
          <a:xfrm>
            <a:off x="3303000" y="63825"/>
            <a:ext cx="5586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Discretización del observador reducido de estados</a:t>
            </a:r>
            <a:endParaRPr sz="1800">
              <a:solidFill>
                <a:schemeClr val="lt1"/>
              </a:solidFill>
              <a:latin typeface="Arial"/>
              <a:ea typeface="Arial"/>
              <a:cs typeface="Arial"/>
              <a:sym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074" name="Shape 1074"/>
        <p:cNvGrpSpPr/>
        <p:nvPr/>
      </p:nvGrpSpPr>
      <p:grpSpPr>
        <a:xfrm>
          <a:off x="0" y="0"/>
          <a:ext cx="0" cy="0"/>
          <a:chOff x="0" y="0"/>
          <a:chExt cx="0" cy="0"/>
        </a:xfrm>
      </p:grpSpPr>
      <p:pic>
        <p:nvPicPr>
          <p:cNvPr id="1075" name="Google Shape;1075;g34155d50a00_0_222"/>
          <p:cNvPicPr preferRelativeResize="0"/>
          <p:nvPr/>
        </p:nvPicPr>
        <p:blipFill>
          <a:blip r:embed="rId3">
            <a:alphaModFix/>
          </a:blip>
          <a:stretch>
            <a:fillRect/>
          </a:stretch>
        </p:blipFill>
        <p:spPr>
          <a:xfrm>
            <a:off x="0" y="0"/>
            <a:ext cx="12192000" cy="685800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079" name="Shape 1079"/>
        <p:cNvGrpSpPr/>
        <p:nvPr/>
      </p:nvGrpSpPr>
      <p:grpSpPr>
        <a:xfrm>
          <a:off x="0" y="0"/>
          <a:ext cx="0" cy="0"/>
          <a:chOff x="0" y="0"/>
          <a:chExt cx="0" cy="0"/>
        </a:xfrm>
      </p:grpSpPr>
      <p:pic>
        <p:nvPicPr>
          <p:cNvPr id="1080" name="Google Shape;1080;g34155d50a00_0_227"/>
          <p:cNvPicPr preferRelativeResize="0"/>
          <p:nvPr/>
        </p:nvPicPr>
        <p:blipFill>
          <a:blip r:embed="rId3">
            <a:alphaModFix/>
          </a:blip>
          <a:stretch>
            <a:fillRect/>
          </a:stretch>
        </p:blipFill>
        <p:spPr>
          <a:xfrm>
            <a:off x="0" y="0"/>
            <a:ext cx="12265901" cy="685800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084" name="Shape 1084"/>
        <p:cNvGrpSpPr/>
        <p:nvPr/>
      </p:nvGrpSpPr>
      <p:grpSpPr>
        <a:xfrm>
          <a:off x="0" y="0"/>
          <a:ext cx="0" cy="0"/>
          <a:chOff x="0" y="0"/>
          <a:chExt cx="0" cy="0"/>
        </a:xfrm>
      </p:grpSpPr>
      <p:pic>
        <p:nvPicPr>
          <p:cNvPr id="1085" name="Google Shape;1085;g34155d50a00_0_232"/>
          <p:cNvPicPr preferRelativeResize="0"/>
          <p:nvPr/>
        </p:nvPicPr>
        <p:blipFill>
          <a:blip r:embed="rId3">
            <a:alphaModFix/>
          </a:blip>
          <a:stretch>
            <a:fillRect/>
          </a:stretch>
        </p:blipFill>
        <p:spPr>
          <a:xfrm>
            <a:off x="254000" y="1524000"/>
            <a:ext cx="5734050" cy="3457575"/>
          </a:xfrm>
          <a:prstGeom prst="rect">
            <a:avLst/>
          </a:prstGeom>
          <a:noFill/>
          <a:ln>
            <a:noFill/>
          </a:ln>
        </p:spPr>
      </p:pic>
      <p:pic>
        <p:nvPicPr>
          <p:cNvPr id="1086" name="Google Shape;1086;g34155d50a00_0_232"/>
          <p:cNvPicPr preferRelativeResize="0"/>
          <p:nvPr/>
        </p:nvPicPr>
        <p:blipFill>
          <a:blip r:embed="rId4">
            <a:alphaModFix/>
          </a:blip>
          <a:stretch>
            <a:fillRect/>
          </a:stretch>
        </p:blipFill>
        <p:spPr>
          <a:xfrm>
            <a:off x="6134100" y="1533525"/>
            <a:ext cx="5734050" cy="3438525"/>
          </a:xfrm>
          <a:prstGeom prst="rect">
            <a:avLst/>
          </a:prstGeom>
          <a:noFill/>
          <a:ln>
            <a:noFill/>
          </a:ln>
        </p:spPr>
      </p:pic>
      <p:sp>
        <p:nvSpPr>
          <p:cNvPr id="1087" name="Google Shape;1087;g34155d50a00_0_232"/>
          <p:cNvSpPr txBox="1"/>
          <p:nvPr/>
        </p:nvSpPr>
        <p:spPr>
          <a:xfrm>
            <a:off x="4109850" y="169550"/>
            <a:ext cx="39723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MX" sz="1800">
                <a:latin typeface="Cambria Math"/>
                <a:ea typeface="Cambria Math"/>
                <a:cs typeface="Cambria Math"/>
                <a:sym typeface="Cambria Math"/>
              </a:rPr>
              <a:t>Respuesta del sistema comparando controlador continuo y discreto</a:t>
            </a:r>
            <a:endParaRPr sz="1800">
              <a:solidFill>
                <a:schemeClr val="lt1"/>
              </a:solidFill>
              <a:latin typeface="Arial"/>
              <a:ea typeface="Arial"/>
              <a:cs typeface="Arial"/>
              <a:sym typeface="Arial"/>
            </a:endParaRPr>
          </a:p>
        </p:txBody>
      </p:sp>
      <p:sp>
        <p:nvSpPr>
          <p:cNvPr id="1088" name="Google Shape;1088;g34155d50a00_0_232"/>
          <p:cNvSpPr txBox="1"/>
          <p:nvPr/>
        </p:nvSpPr>
        <p:spPr>
          <a:xfrm>
            <a:off x="4624050" y="1092900"/>
            <a:ext cx="29439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600">
                <a:latin typeface="Calibri"/>
                <a:ea typeface="Calibri"/>
                <a:cs typeface="Calibri"/>
                <a:sym typeface="Calibri"/>
              </a:rPr>
              <a:t>Error en el controlador continuo:</a:t>
            </a:r>
            <a:endParaRPr sz="1800"/>
          </a:p>
        </p:txBody>
      </p:sp>
      <p:sp>
        <p:nvSpPr>
          <p:cNvPr id="1089" name="Google Shape;1089;g34155d50a00_0_232"/>
          <p:cNvSpPr txBox="1"/>
          <p:nvPr/>
        </p:nvSpPr>
        <p:spPr>
          <a:xfrm flipH="1" rot="10800000">
            <a:off x="11405025" y="46798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1090" name="Google Shape;1090;g34155d50a00_0_232"/>
          <p:cNvSpPr txBox="1"/>
          <p:nvPr/>
        </p:nvSpPr>
        <p:spPr>
          <a:xfrm flipH="1" rot="10800000">
            <a:off x="5492975" y="467980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094" name="Shape 1094"/>
        <p:cNvGrpSpPr/>
        <p:nvPr/>
      </p:nvGrpSpPr>
      <p:grpSpPr>
        <a:xfrm>
          <a:off x="0" y="0"/>
          <a:ext cx="0" cy="0"/>
          <a:chOff x="0" y="0"/>
          <a:chExt cx="0" cy="0"/>
        </a:xfrm>
      </p:grpSpPr>
      <p:pic>
        <p:nvPicPr>
          <p:cNvPr id="1095" name="Google Shape;1095;g34155d50a00_0_243"/>
          <p:cNvPicPr preferRelativeResize="0"/>
          <p:nvPr/>
        </p:nvPicPr>
        <p:blipFill>
          <a:blip r:embed="rId3">
            <a:alphaModFix/>
          </a:blip>
          <a:stretch>
            <a:fillRect/>
          </a:stretch>
        </p:blipFill>
        <p:spPr>
          <a:xfrm>
            <a:off x="1204149" y="585200"/>
            <a:ext cx="8838876" cy="5373825"/>
          </a:xfrm>
          <a:prstGeom prst="rect">
            <a:avLst/>
          </a:prstGeom>
          <a:noFill/>
          <a:ln>
            <a:noFill/>
          </a:ln>
        </p:spPr>
      </p:pic>
      <p:sp>
        <p:nvSpPr>
          <p:cNvPr id="1096" name="Google Shape;1096;g34155d50a00_0_243"/>
          <p:cNvSpPr txBox="1"/>
          <p:nvPr/>
        </p:nvSpPr>
        <p:spPr>
          <a:xfrm>
            <a:off x="451175" y="5959025"/>
            <a:ext cx="10845000" cy="9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600">
                <a:latin typeface="Calibri"/>
                <a:ea typeface="Calibri"/>
                <a:cs typeface="Calibri"/>
                <a:sym typeface="Calibri"/>
              </a:rPr>
              <a:t>Para ambos casos se continúa siguiendo correctamente el perfil de referencia. Debido a la digitalización, el error medido entre la posición de referencia con la posición medida por el encoder es mayor pero no deja de ser lo suficientemente pequeña para considerarse despreciable (error en el orden -5)</a:t>
            </a:r>
            <a:endParaRPr sz="1800"/>
          </a:p>
        </p:txBody>
      </p:sp>
      <p:sp>
        <p:nvSpPr>
          <p:cNvPr id="1097" name="Google Shape;1097;g34155d50a00_0_243"/>
          <p:cNvSpPr txBox="1"/>
          <p:nvPr/>
        </p:nvSpPr>
        <p:spPr>
          <a:xfrm>
            <a:off x="4046550" y="61925"/>
            <a:ext cx="29439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600">
                <a:latin typeface="Calibri"/>
                <a:ea typeface="Calibri"/>
                <a:cs typeface="Calibri"/>
                <a:sym typeface="Calibri"/>
              </a:rPr>
              <a:t>Error en el controlador discreto:</a:t>
            </a:r>
            <a:endParaRPr sz="1800"/>
          </a:p>
        </p:txBody>
      </p:sp>
      <p:sp>
        <p:nvSpPr>
          <p:cNvPr id="1098" name="Google Shape;1098;g34155d50a00_0_243"/>
          <p:cNvSpPr txBox="1"/>
          <p:nvPr/>
        </p:nvSpPr>
        <p:spPr>
          <a:xfrm flipH="1" rot="10800000">
            <a:off x="9737025" y="5558825"/>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102" name="Shape 1102"/>
        <p:cNvGrpSpPr/>
        <p:nvPr/>
      </p:nvGrpSpPr>
      <p:grpSpPr>
        <a:xfrm>
          <a:off x="0" y="0"/>
          <a:ext cx="0" cy="0"/>
          <a:chOff x="0" y="0"/>
          <a:chExt cx="0" cy="0"/>
        </a:xfrm>
      </p:grpSpPr>
      <p:pic>
        <p:nvPicPr>
          <p:cNvPr id="1103" name="Google Shape;1103;g34155d50a00_0_250"/>
          <p:cNvPicPr preferRelativeResize="0"/>
          <p:nvPr/>
        </p:nvPicPr>
        <p:blipFill>
          <a:blip r:embed="rId3">
            <a:alphaModFix/>
          </a:blip>
          <a:stretch>
            <a:fillRect/>
          </a:stretch>
        </p:blipFill>
        <p:spPr>
          <a:xfrm>
            <a:off x="159225" y="539863"/>
            <a:ext cx="5811625" cy="4102900"/>
          </a:xfrm>
          <a:prstGeom prst="rect">
            <a:avLst/>
          </a:prstGeom>
          <a:noFill/>
          <a:ln>
            <a:noFill/>
          </a:ln>
        </p:spPr>
      </p:pic>
      <p:pic>
        <p:nvPicPr>
          <p:cNvPr id="1104" name="Google Shape;1104;g34155d50a00_0_250"/>
          <p:cNvPicPr preferRelativeResize="0"/>
          <p:nvPr/>
        </p:nvPicPr>
        <p:blipFill>
          <a:blip r:embed="rId4">
            <a:alphaModFix/>
          </a:blip>
          <a:stretch>
            <a:fillRect/>
          </a:stretch>
        </p:blipFill>
        <p:spPr>
          <a:xfrm>
            <a:off x="6221150" y="539863"/>
            <a:ext cx="5811637" cy="4102900"/>
          </a:xfrm>
          <a:prstGeom prst="rect">
            <a:avLst/>
          </a:prstGeom>
          <a:noFill/>
          <a:ln>
            <a:noFill/>
          </a:ln>
        </p:spPr>
      </p:pic>
      <p:sp>
        <p:nvSpPr>
          <p:cNvPr id="1105" name="Google Shape;1105;g34155d50a00_0_250"/>
          <p:cNvSpPr txBox="1"/>
          <p:nvPr/>
        </p:nvSpPr>
        <p:spPr>
          <a:xfrm>
            <a:off x="159225" y="4786413"/>
            <a:ext cx="9654600" cy="7143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SzPts val="1600"/>
              <a:buFont typeface="Calibri"/>
              <a:buChar char="●"/>
            </a:pPr>
            <a:r>
              <a:rPr lang="es-MX" sz="1600">
                <a:latin typeface="Calibri"/>
                <a:ea typeface="Calibri"/>
                <a:cs typeface="Calibri"/>
                <a:sym typeface="Calibri"/>
              </a:rPr>
              <a:t>Si achicamos aún más el período de muestreo, el error se reduce, ya que de esa forma nos estamos acercando al caso ideal continuo donde Ts tiende a 0</a:t>
            </a:r>
            <a:endParaRPr sz="1800"/>
          </a:p>
        </p:txBody>
      </p:sp>
      <p:sp>
        <p:nvSpPr>
          <p:cNvPr id="1106" name="Google Shape;1106;g34155d50a00_0_250"/>
          <p:cNvSpPr txBox="1"/>
          <p:nvPr/>
        </p:nvSpPr>
        <p:spPr>
          <a:xfrm>
            <a:off x="159225" y="5400238"/>
            <a:ext cx="11768700" cy="9975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SzPts val="1600"/>
              <a:buFont typeface="Calibri"/>
              <a:buChar char="●"/>
            </a:pPr>
            <a:r>
              <a:rPr lang="es-MX" sz="1600">
                <a:latin typeface="Calibri"/>
                <a:ea typeface="Calibri"/>
                <a:cs typeface="Calibri"/>
                <a:sym typeface="Calibri"/>
              </a:rPr>
              <a:t>El error de forma trapezoidal se debe a que dentro del controlador discreto, el observador de estado reducido tiene una diferencia comparada con la consiga No sigue perfectamente la referencia debido a la discretización, además de tener los integradores discretos con configuración trapezoidal (tustin). Además la referencia de velocidad de entrada está discretizada mediante el ZOH</a:t>
            </a:r>
            <a:endParaRPr sz="1800"/>
          </a:p>
        </p:txBody>
      </p:sp>
      <p:sp>
        <p:nvSpPr>
          <p:cNvPr id="1107" name="Google Shape;1107;g34155d50a00_0_250"/>
          <p:cNvSpPr txBox="1"/>
          <p:nvPr/>
        </p:nvSpPr>
        <p:spPr>
          <a:xfrm>
            <a:off x="159225" y="460263"/>
            <a:ext cx="672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rad/s</a:t>
            </a:r>
            <a:endParaRPr/>
          </a:p>
        </p:txBody>
      </p:sp>
      <p:sp>
        <p:nvSpPr>
          <p:cNvPr id="1108" name="Google Shape;1108;g34155d50a00_0_250"/>
          <p:cNvSpPr txBox="1"/>
          <p:nvPr/>
        </p:nvSpPr>
        <p:spPr>
          <a:xfrm>
            <a:off x="6221150" y="460263"/>
            <a:ext cx="672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rad/s</a:t>
            </a:r>
            <a:endParaRPr/>
          </a:p>
        </p:txBody>
      </p:sp>
      <p:sp>
        <p:nvSpPr>
          <p:cNvPr id="1109" name="Google Shape;1109;g34155d50a00_0_250"/>
          <p:cNvSpPr txBox="1"/>
          <p:nvPr/>
        </p:nvSpPr>
        <p:spPr>
          <a:xfrm>
            <a:off x="5250300" y="4242563"/>
            <a:ext cx="269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1110" name="Google Shape;1110;g34155d50a00_0_250"/>
          <p:cNvSpPr txBox="1"/>
          <p:nvPr/>
        </p:nvSpPr>
        <p:spPr>
          <a:xfrm flipH="1" rot="10800000">
            <a:off x="11233725" y="4310438"/>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
        <p:nvSpPr>
          <p:cNvPr id="1111" name="Google Shape;1111;g34155d50a00_0_250"/>
          <p:cNvSpPr/>
          <p:nvPr/>
        </p:nvSpPr>
        <p:spPr>
          <a:xfrm>
            <a:off x="1566550" y="784863"/>
            <a:ext cx="1910700" cy="1623900"/>
          </a:xfrm>
          <a:prstGeom prst="donut">
            <a:avLst>
              <a:gd fmla="val 31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12" name="Google Shape;1112;g34155d50a00_0_250"/>
          <p:cNvSpPr/>
          <p:nvPr/>
        </p:nvSpPr>
        <p:spPr>
          <a:xfrm flipH="1" rot="-10799186">
            <a:off x="2541300" y="2386338"/>
            <a:ext cx="5064900" cy="874200"/>
          </a:xfrm>
          <a:prstGeom prst="bentArrow">
            <a:avLst>
              <a:gd fmla="val 5670" name="adj1"/>
              <a:gd fmla="val 18881"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116" name="Shape 1116"/>
        <p:cNvGrpSpPr/>
        <p:nvPr/>
      </p:nvGrpSpPr>
      <p:grpSpPr>
        <a:xfrm>
          <a:off x="0" y="0"/>
          <a:ext cx="0" cy="0"/>
          <a:chOff x="0" y="0"/>
          <a:chExt cx="0" cy="0"/>
        </a:xfrm>
      </p:grpSpPr>
      <p:pic>
        <p:nvPicPr>
          <p:cNvPr id="1117" name="Google Shape;1117;g343505fcc5c_1_0"/>
          <p:cNvPicPr preferRelativeResize="0"/>
          <p:nvPr/>
        </p:nvPicPr>
        <p:blipFill>
          <a:blip r:embed="rId3">
            <a:alphaModFix/>
          </a:blip>
          <a:stretch>
            <a:fillRect/>
          </a:stretch>
        </p:blipFill>
        <p:spPr>
          <a:xfrm>
            <a:off x="1052637" y="744875"/>
            <a:ext cx="10086725" cy="5368250"/>
          </a:xfrm>
          <a:prstGeom prst="rect">
            <a:avLst/>
          </a:prstGeom>
          <a:noFill/>
          <a:ln>
            <a:noFill/>
          </a:ln>
        </p:spPr>
      </p:pic>
      <p:sp>
        <p:nvSpPr>
          <p:cNvPr id="1118" name="Google Shape;1118;g343505fcc5c_1_0"/>
          <p:cNvSpPr txBox="1"/>
          <p:nvPr/>
        </p:nvSpPr>
        <p:spPr>
          <a:xfrm>
            <a:off x="2917800" y="0"/>
            <a:ext cx="6356400" cy="681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s-MX" sz="1500">
                <a:latin typeface="Cambria Math"/>
                <a:ea typeface="Cambria Math"/>
                <a:cs typeface="Cambria Math"/>
                <a:sym typeface="Cambria Math"/>
              </a:rPr>
              <a:t>Respuesta del sistema con controlador discreto en el dominio del tiempo (representación para programar </a:t>
            </a:r>
            <a:r>
              <a:rPr b="1" lang="es-MX"/>
              <a:t>en</a:t>
            </a:r>
            <a:r>
              <a:rPr b="1" lang="es-MX" sz="1500">
                <a:latin typeface="Cambria Math"/>
                <a:ea typeface="Cambria Math"/>
                <a:cs typeface="Cambria Math"/>
                <a:sym typeface="Cambria Math"/>
              </a:rPr>
              <a:t> la realidad)</a:t>
            </a:r>
            <a:endParaRPr sz="1700"/>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122" name="Shape 1122"/>
        <p:cNvGrpSpPr/>
        <p:nvPr/>
      </p:nvGrpSpPr>
      <p:grpSpPr>
        <a:xfrm>
          <a:off x="0" y="0"/>
          <a:ext cx="0" cy="0"/>
          <a:chOff x="0" y="0"/>
          <a:chExt cx="0" cy="0"/>
        </a:xfrm>
      </p:grpSpPr>
      <p:pic>
        <p:nvPicPr>
          <p:cNvPr id="1123" name="Google Shape;1123;g343505fcc5c_1_4"/>
          <p:cNvPicPr preferRelativeResize="0"/>
          <p:nvPr/>
        </p:nvPicPr>
        <p:blipFill>
          <a:blip r:embed="rId3">
            <a:alphaModFix/>
          </a:blip>
          <a:stretch>
            <a:fillRect/>
          </a:stretch>
        </p:blipFill>
        <p:spPr>
          <a:xfrm>
            <a:off x="184213" y="2520525"/>
            <a:ext cx="11823575" cy="3397800"/>
          </a:xfrm>
          <a:prstGeom prst="rect">
            <a:avLst/>
          </a:prstGeom>
          <a:noFill/>
          <a:ln>
            <a:noFill/>
          </a:ln>
        </p:spPr>
      </p:pic>
      <p:pic>
        <p:nvPicPr>
          <p:cNvPr id="1124" name="Google Shape;1124;g343505fcc5c_1_4"/>
          <p:cNvPicPr preferRelativeResize="0"/>
          <p:nvPr/>
        </p:nvPicPr>
        <p:blipFill>
          <a:blip r:embed="rId4">
            <a:alphaModFix/>
          </a:blip>
          <a:stretch>
            <a:fillRect/>
          </a:stretch>
        </p:blipFill>
        <p:spPr>
          <a:xfrm>
            <a:off x="184225" y="939675"/>
            <a:ext cx="11823550" cy="1297706"/>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128" name="Shape 1128"/>
        <p:cNvGrpSpPr/>
        <p:nvPr/>
      </p:nvGrpSpPr>
      <p:grpSpPr>
        <a:xfrm>
          <a:off x="0" y="0"/>
          <a:ext cx="0" cy="0"/>
          <a:chOff x="0" y="0"/>
          <a:chExt cx="0" cy="0"/>
        </a:xfrm>
      </p:grpSpPr>
      <p:pic>
        <p:nvPicPr>
          <p:cNvPr id="1129" name="Google Shape;1129;g343505fcc5c_1_28"/>
          <p:cNvPicPr preferRelativeResize="0"/>
          <p:nvPr/>
        </p:nvPicPr>
        <p:blipFill rotWithShape="1">
          <a:blip r:embed="rId3">
            <a:alphaModFix/>
          </a:blip>
          <a:srcRect b="0" l="0" r="0" t="15290"/>
          <a:stretch/>
        </p:blipFill>
        <p:spPr>
          <a:xfrm>
            <a:off x="578563" y="749675"/>
            <a:ext cx="11034875" cy="5900200"/>
          </a:xfrm>
          <a:prstGeom prst="rect">
            <a:avLst/>
          </a:prstGeom>
          <a:noFill/>
          <a:ln>
            <a:noFill/>
          </a:ln>
        </p:spPr>
      </p:pic>
      <p:sp>
        <p:nvSpPr>
          <p:cNvPr id="1130" name="Google Shape;1130;g343505fcc5c_1_28"/>
          <p:cNvSpPr txBox="1"/>
          <p:nvPr/>
        </p:nvSpPr>
        <p:spPr>
          <a:xfrm>
            <a:off x="2917800" y="0"/>
            <a:ext cx="6356400" cy="415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s-MX" sz="1500">
                <a:latin typeface="Cambria Math"/>
                <a:ea typeface="Cambria Math"/>
                <a:cs typeface="Cambria Math"/>
                <a:sym typeface="Cambria Math"/>
              </a:rPr>
              <a:t>Ecuación en diferencias finitas (Dominio del tiempo)</a:t>
            </a:r>
            <a:endParaRPr sz="1700"/>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134" name="Shape 1134"/>
        <p:cNvGrpSpPr/>
        <p:nvPr/>
      </p:nvGrpSpPr>
      <p:grpSpPr>
        <a:xfrm>
          <a:off x="0" y="0"/>
          <a:ext cx="0" cy="0"/>
          <a:chOff x="0" y="0"/>
          <a:chExt cx="0" cy="0"/>
        </a:xfrm>
      </p:grpSpPr>
      <p:pic>
        <p:nvPicPr>
          <p:cNvPr id="1135" name="Google Shape;1135;g343505fcc5c_1_11"/>
          <p:cNvPicPr preferRelativeResize="0"/>
          <p:nvPr/>
        </p:nvPicPr>
        <p:blipFill>
          <a:blip r:embed="rId3">
            <a:alphaModFix/>
          </a:blip>
          <a:stretch>
            <a:fillRect/>
          </a:stretch>
        </p:blipFill>
        <p:spPr>
          <a:xfrm>
            <a:off x="185513" y="2393738"/>
            <a:ext cx="11820974" cy="4162875"/>
          </a:xfrm>
          <a:prstGeom prst="rect">
            <a:avLst/>
          </a:prstGeom>
          <a:noFill/>
          <a:ln>
            <a:noFill/>
          </a:ln>
        </p:spPr>
      </p:pic>
      <p:pic>
        <p:nvPicPr>
          <p:cNvPr id="1136" name="Google Shape;1136;g343505fcc5c_1_11"/>
          <p:cNvPicPr preferRelativeResize="0"/>
          <p:nvPr/>
        </p:nvPicPr>
        <p:blipFill>
          <a:blip r:embed="rId4">
            <a:alphaModFix/>
          </a:blip>
          <a:stretch>
            <a:fillRect/>
          </a:stretch>
        </p:blipFill>
        <p:spPr>
          <a:xfrm>
            <a:off x="4927975" y="0"/>
            <a:ext cx="2336050" cy="2132925"/>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140" name="Shape 1140"/>
        <p:cNvGrpSpPr/>
        <p:nvPr/>
      </p:nvGrpSpPr>
      <p:grpSpPr>
        <a:xfrm>
          <a:off x="0" y="0"/>
          <a:ext cx="0" cy="0"/>
          <a:chOff x="0" y="0"/>
          <a:chExt cx="0" cy="0"/>
        </a:xfrm>
      </p:grpSpPr>
      <p:pic>
        <p:nvPicPr>
          <p:cNvPr id="1141" name="Google Shape;1141;g343505fcc5c_1_16"/>
          <p:cNvPicPr preferRelativeResize="0"/>
          <p:nvPr/>
        </p:nvPicPr>
        <p:blipFill>
          <a:blip r:embed="rId3">
            <a:alphaModFix/>
          </a:blip>
          <a:stretch>
            <a:fillRect/>
          </a:stretch>
        </p:blipFill>
        <p:spPr>
          <a:xfrm>
            <a:off x="727950" y="76200"/>
            <a:ext cx="10736094" cy="67056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145" name="Shape 1145"/>
        <p:cNvGrpSpPr/>
        <p:nvPr/>
      </p:nvGrpSpPr>
      <p:grpSpPr>
        <a:xfrm>
          <a:off x="0" y="0"/>
          <a:ext cx="0" cy="0"/>
          <a:chOff x="0" y="0"/>
          <a:chExt cx="0" cy="0"/>
        </a:xfrm>
      </p:grpSpPr>
      <p:sp>
        <p:nvSpPr>
          <p:cNvPr id="1146" name="Google Shape;1146;g343505fcc5c_1_23"/>
          <p:cNvSpPr txBox="1"/>
          <p:nvPr/>
        </p:nvSpPr>
        <p:spPr>
          <a:xfrm>
            <a:off x="5440950" y="281075"/>
            <a:ext cx="13101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sz="1200">
                <a:latin typeface="Calibri"/>
                <a:ea typeface="Calibri"/>
                <a:cs typeface="Calibri"/>
                <a:sym typeface="Calibri"/>
              </a:rPr>
              <a:t>Resultados:</a:t>
            </a:r>
            <a:endParaRPr/>
          </a:p>
        </p:txBody>
      </p:sp>
      <p:pic>
        <p:nvPicPr>
          <p:cNvPr id="1147" name="Google Shape;1147;g343505fcc5c_1_23"/>
          <p:cNvPicPr preferRelativeResize="0"/>
          <p:nvPr/>
        </p:nvPicPr>
        <p:blipFill>
          <a:blip r:embed="rId3">
            <a:alphaModFix/>
          </a:blip>
          <a:stretch>
            <a:fillRect/>
          </a:stretch>
        </p:blipFill>
        <p:spPr>
          <a:xfrm>
            <a:off x="76775" y="650375"/>
            <a:ext cx="12004723" cy="6141074"/>
          </a:xfrm>
          <a:prstGeom prst="rect">
            <a:avLst/>
          </a:prstGeom>
          <a:noFill/>
          <a:ln>
            <a:noFill/>
          </a:ln>
        </p:spPr>
      </p:pic>
      <p:sp>
        <p:nvSpPr>
          <p:cNvPr id="1148" name="Google Shape;1148;g343505fcc5c_1_23"/>
          <p:cNvSpPr txBox="1"/>
          <p:nvPr/>
        </p:nvSpPr>
        <p:spPr>
          <a:xfrm flipH="1" rot="10800000">
            <a:off x="11520975" y="6391250"/>
            <a:ext cx="306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MX"/>
              <a:t>s</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152" name="Shape 1152"/>
        <p:cNvGrpSpPr/>
        <p:nvPr/>
      </p:nvGrpSpPr>
      <p:grpSpPr>
        <a:xfrm>
          <a:off x="0" y="0"/>
          <a:ext cx="0" cy="0"/>
          <a:chOff x="0" y="0"/>
          <a:chExt cx="0" cy="0"/>
        </a:xfrm>
      </p:grpSpPr>
      <p:sp>
        <p:nvSpPr>
          <p:cNvPr id="1153" name="Google Shape;1153;g34155d50a00_0_274"/>
          <p:cNvSpPr txBox="1"/>
          <p:nvPr/>
        </p:nvSpPr>
        <p:spPr>
          <a:xfrm>
            <a:off x="48750" y="144950"/>
            <a:ext cx="12094500" cy="625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200">
              <a:latin typeface="Calibri"/>
              <a:ea typeface="Calibri"/>
              <a:cs typeface="Calibri"/>
              <a:sym typeface="Calibri"/>
            </a:endParaRPr>
          </a:p>
          <a:p>
            <a:pPr indent="0" lvl="0" marL="0" rtl="0" algn="l">
              <a:lnSpc>
                <a:spcPct val="115000"/>
              </a:lnSpc>
              <a:spcBef>
                <a:spcPts val="1200"/>
              </a:spcBef>
              <a:spcAft>
                <a:spcPts val="0"/>
              </a:spcAft>
              <a:buNone/>
            </a:pPr>
            <a:r>
              <a:rPr lang="es-MX" sz="1200">
                <a:latin typeface="Calibri"/>
                <a:ea typeface="Calibri"/>
                <a:cs typeface="Calibri"/>
                <a:sym typeface="Calibri"/>
              </a:rPr>
              <a:t>El desarrollo de este proyecto permitió analizar, modelar y diseñar un sistema de control para un motor sincrónico de imanes permanentes (PMSM) utilizado en un accionamiento de CA. </a:t>
            </a:r>
            <a:endParaRPr sz="1200">
              <a:latin typeface="Calibri"/>
              <a:ea typeface="Calibri"/>
              <a:cs typeface="Calibri"/>
              <a:sym typeface="Calibri"/>
            </a:endParaRPr>
          </a:p>
          <a:p>
            <a:pPr indent="0" lvl="0" marL="0" rtl="0" algn="l">
              <a:lnSpc>
                <a:spcPct val="115000"/>
              </a:lnSpc>
              <a:spcBef>
                <a:spcPts val="1200"/>
              </a:spcBef>
              <a:spcAft>
                <a:spcPts val="0"/>
              </a:spcAft>
              <a:buNone/>
            </a:pPr>
            <a:r>
              <a:rPr lang="es-MX" sz="1200">
                <a:latin typeface="Calibri"/>
                <a:ea typeface="Calibri"/>
                <a:cs typeface="Calibri"/>
                <a:sym typeface="Calibri"/>
              </a:rPr>
              <a:t>Se llevaron a cabo todas las etapas necesarias para la implementación de un controlador eficiente, desde el modelado matemático del sistema hasta la implementación digital en Simulink y la evaluación del desempeño en la simulación.</a:t>
            </a:r>
            <a:endParaRPr sz="1200">
              <a:latin typeface="Calibri"/>
              <a:ea typeface="Calibri"/>
              <a:cs typeface="Calibri"/>
              <a:sym typeface="Calibri"/>
            </a:endParaRPr>
          </a:p>
          <a:p>
            <a:pPr indent="0" lvl="0" marL="0" rtl="0" algn="l">
              <a:lnSpc>
                <a:spcPct val="115000"/>
              </a:lnSpc>
              <a:spcBef>
                <a:spcPts val="1200"/>
              </a:spcBef>
              <a:spcAft>
                <a:spcPts val="0"/>
              </a:spcAft>
              <a:buNone/>
            </a:pPr>
            <a:r>
              <a:rPr lang="es-MX" sz="1200">
                <a:latin typeface="Calibri"/>
                <a:ea typeface="Calibri"/>
                <a:cs typeface="Calibri"/>
                <a:sym typeface="Calibri"/>
              </a:rPr>
              <a:t>La implementación de un control en cascada con lazos de corriente, velocidad y posición permitió mejorar la estabilidad y garantizar un desempeño robusto del sistema en diferentes condiciones de operación.</a:t>
            </a:r>
            <a:endParaRPr sz="1200">
              <a:latin typeface="Calibri"/>
              <a:ea typeface="Calibri"/>
              <a:cs typeface="Calibri"/>
              <a:sym typeface="Calibri"/>
            </a:endParaRPr>
          </a:p>
          <a:p>
            <a:pPr indent="0" lvl="0" marL="0" rtl="0" algn="l">
              <a:lnSpc>
                <a:spcPct val="115000"/>
              </a:lnSpc>
              <a:spcBef>
                <a:spcPts val="1200"/>
              </a:spcBef>
              <a:spcAft>
                <a:spcPts val="0"/>
              </a:spcAft>
              <a:buNone/>
            </a:pPr>
            <a:r>
              <a:rPr lang="es-MX" sz="1200">
                <a:latin typeface="Calibri"/>
                <a:ea typeface="Calibri"/>
                <a:cs typeface="Calibri"/>
                <a:sym typeface="Calibri"/>
              </a:rPr>
              <a:t>El análisis a lazo abierto evidenció que el sistema, en ausencia de control, no es capaz de mantener un funcionamiento constante, ya que su dinámica mecánica y eléctrica no garantizan una respuesta adecuada frente a perturbaciones o cambios de referencia.</a:t>
            </a:r>
            <a:endParaRPr sz="1200">
              <a:latin typeface="Calibri"/>
              <a:ea typeface="Calibri"/>
              <a:cs typeface="Calibri"/>
              <a:sym typeface="Calibri"/>
            </a:endParaRPr>
          </a:p>
          <a:p>
            <a:pPr indent="0" lvl="0" marL="0" rtl="0" algn="l">
              <a:lnSpc>
                <a:spcPct val="115000"/>
              </a:lnSpc>
              <a:spcBef>
                <a:spcPts val="1200"/>
              </a:spcBef>
              <a:spcAft>
                <a:spcPts val="0"/>
              </a:spcAft>
              <a:buNone/>
            </a:pPr>
            <a:r>
              <a:rPr lang="es-MX" sz="1200">
                <a:latin typeface="Calibri"/>
                <a:ea typeface="Calibri"/>
                <a:cs typeface="Calibri"/>
                <a:sym typeface="Calibri"/>
              </a:rPr>
              <a:t>Mediante la realimentación con el controlador PID, se logró regular la velocidad y la posición del rotor, obteniendo una respuesta rápida y precisa con error en estado estacionario prácticamente nulo.</a:t>
            </a:r>
            <a:endParaRPr sz="1200">
              <a:latin typeface="Calibri"/>
              <a:ea typeface="Calibri"/>
              <a:cs typeface="Calibri"/>
              <a:sym typeface="Calibri"/>
            </a:endParaRPr>
          </a:p>
          <a:p>
            <a:pPr indent="0" lvl="0" marL="0" rtl="0" algn="l">
              <a:lnSpc>
                <a:spcPct val="115000"/>
              </a:lnSpc>
              <a:spcBef>
                <a:spcPts val="1200"/>
              </a:spcBef>
              <a:spcAft>
                <a:spcPts val="0"/>
              </a:spcAft>
              <a:buNone/>
            </a:pPr>
            <a:r>
              <a:rPr lang="es-MX" sz="1200">
                <a:latin typeface="Calibri"/>
                <a:ea typeface="Calibri"/>
                <a:cs typeface="Calibri"/>
                <a:sym typeface="Calibri"/>
              </a:rPr>
              <a:t>La implementación de un observador de estados reducido permitió estimar la velocidad del rotor correctamente, sin la necesidad de un sensor físico, lo que representa una reducción de costos y una economización en la implementación del sistema en la realidad.</a:t>
            </a:r>
            <a:endParaRPr sz="1200">
              <a:latin typeface="Calibri"/>
              <a:ea typeface="Calibri"/>
              <a:cs typeface="Calibri"/>
              <a:sym typeface="Calibri"/>
            </a:endParaRPr>
          </a:p>
          <a:p>
            <a:pPr indent="0" lvl="0" marL="0" rtl="0" algn="l">
              <a:lnSpc>
                <a:spcPct val="115000"/>
              </a:lnSpc>
              <a:spcBef>
                <a:spcPts val="1200"/>
              </a:spcBef>
              <a:spcAft>
                <a:spcPts val="0"/>
              </a:spcAft>
              <a:buNone/>
            </a:pPr>
            <a:r>
              <a:rPr lang="es-MX" sz="1200">
                <a:latin typeface="Calibri"/>
                <a:ea typeface="Calibri"/>
                <a:cs typeface="Calibri"/>
                <a:sym typeface="Calibri"/>
              </a:rPr>
              <a:t>La correcta ubicación de los polos del observador aseguró una estimación confiable, rápida y eficiente, reduciendo el error de estimación, convergiendo al valor real rápidamente aún en presencia de perturbación externa (observador de estado mejorado con acción integral).</a:t>
            </a:r>
            <a:endParaRPr sz="1200">
              <a:latin typeface="Calibri"/>
              <a:ea typeface="Calibri"/>
              <a:cs typeface="Calibri"/>
              <a:sym typeface="Calibri"/>
            </a:endParaRPr>
          </a:p>
          <a:p>
            <a:pPr indent="0" lvl="0" marL="0" rtl="0" algn="l">
              <a:lnSpc>
                <a:spcPct val="115000"/>
              </a:lnSpc>
              <a:spcBef>
                <a:spcPts val="1200"/>
              </a:spcBef>
              <a:spcAft>
                <a:spcPts val="0"/>
              </a:spcAft>
              <a:buNone/>
            </a:pPr>
            <a:r>
              <a:rPr lang="es-MX" sz="1200">
                <a:latin typeface="Calibri"/>
                <a:ea typeface="Calibri"/>
                <a:cs typeface="Calibri"/>
                <a:sym typeface="Calibri"/>
              </a:rPr>
              <a:t>En términos de desempeño dinámico, se observó que:</a:t>
            </a:r>
            <a:endParaRPr sz="1200">
              <a:latin typeface="Calibri"/>
              <a:ea typeface="Calibri"/>
              <a:cs typeface="Calibri"/>
              <a:sym typeface="Calibri"/>
            </a:endParaRPr>
          </a:p>
          <a:p>
            <a:pPr indent="0" lvl="0" marL="0" rtl="0" algn="l">
              <a:lnSpc>
                <a:spcPct val="115000"/>
              </a:lnSpc>
              <a:spcBef>
                <a:spcPts val="1200"/>
              </a:spcBef>
              <a:spcAft>
                <a:spcPts val="0"/>
              </a:spcAft>
              <a:buNone/>
            </a:pPr>
            <a:r>
              <a:rPr lang="es-MX" sz="1200">
                <a:latin typeface="Calibri"/>
                <a:ea typeface="Calibri"/>
                <a:cs typeface="Calibri"/>
                <a:sym typeface="Calibri"/>
              </a:rPr>
              <a:t>-El sistema controlado alcanzó la referencia en tiempos de establecimiento reducidos, sin sobreimpulso significativo.</a:t>
            </a:r>
            <a:endParaRPr sz="1200">
              <a:latin typeface="Calibri"/>
              <a:ea typeface="Calibri"/>
              <a:cs typeface="Calibri"/>
              <a:sym typeface="Calibri"/>
            </a:endParaRPr>
          </a:p>
          <a:p>
            <a:pPr indent="0" lvl="0" marL="0" rtl="0" algn="l">
              <a:lnSpc>
                <a:spcPct val="115000"/>
              </a:lnSpc>
              <a:spcBef>
                <a:spcPts val="1200"/>
              </a:spcBef>
              <a:spcAft>
                <a:spcPts val="0"/>
              </a:spcAft>
              <a:buNone/>
            </a:pPr>
            <a:r>
              <a:rPr lang="es-MX" sz="1200">
                <a:latin typeface="Calibri"/>
                <a:ea typeface="Calibri"/>
                <a:cs typeface="Calibri"/>
                <a:sym typeface="Calibri"/>
              </a:rPr>
              <a:t>-La respuesta al considerar perturbaciones mostró un rechazo efectivo de torques de carga, permitiendo al motor mantener la velocidad deseada con mínima variación.</a:t>
            </a:r>
            <a:endParaRPr sz="1200">
              <a:latin typeface="Calibri"/>
              <a:ea typeface="Calibri"/>
              <a:cs typeface="Calibri"/>
              <a:sym typeface="Calibri"/>
            </a:endParaRPr>
          </a:p>
          <a:p>
            <a:pPr indent="0" lvl="0" marL="0" rtl="0" algn="l">
              <a:lnSpc>
                <a:spcPct val="115000"/>
              </a:lnSpc>
              <a:spcBef>
                <a:spcPts val="1200"/>
              </a:spcBef>
              <a:spcAft>
                <a:spcPts val="0"/>
              </a:spcAft>
              <a:buNone/>
            </a:pPr>
            <a:r>
              <a:rPr lang="es-MX" sz="1200">
                <a:latin typeface="Calibri"/>
                <a:ea typeface="Calibri"/>
                <a:cs typeface="Calibri"/>
                <a:sym typeface="Calibri"/>
              </a:rPr>
              <a:t>-La estabilidad del sistema fue confirmada a través del análisis de polos (ubicación y migración con variación de parámetros), asegurando un comportamiento estable y robusto.</a:t>
            </a:r>
            <a:endParaRPr sz="1200">
              <a:latin typeface="Calibri"/>
              <a:ea typeface="Calibri"/>
              <a:cs typeface="Calibri"/>
              <a:sym typeface="Calibri"/>
            </a:endParaRPr>
          </a:p>
          <a:p>
            <a:pPr indent="0" lvl="0" marL="0" rtl="0" algn="l">
              <a:lnSpc>
                <a:spcPct val="115000"/>
              </a:lnSpc>
              <a:spcBef>
                <a:spcPts val="1200"/>
              </a:spcBef>
              <a:spcAft>
                <a:spcPts val="1200"/>
              </a:spcAft>
              <a:buNone/>
            </a:pPr>
            <a:r>
              <a:rPr lang="es-MX" sz="1200">
                <a:latin typeface="Calibri"/>
                <a:ea typeface="Calibri"/>
                <a:cs typeface="Calibri"/>
                <a:sym typeface="Calibri"/>
              </a:rPr>
              <a:t>Se verificó que el uso de un control PID bien seleccionado con sus constantes, permitió obtener un sistema con buena respuesta transitoria y precisión en estado estacionario. Los resultados obtenidos en la simulación validan la estrategia de control propuesta y demuestran que la implementación digital en hardware también es viable sin diferencias de error significativas.</a:t>
            </a:r>
            <a:endParaRPr sz="1200">
              <a:latin typeface="Calibri"/>
              <a:ea typeface="Calibri"/>
              <a:cs typeface="Calibri"/>
              <a:sym typeface="Calibri"/>
            </a:endParaRPr>
          </a:p>
        </p:txBody>
      </p:sp>
      <p:sp>
        <p:nvSpPr>
          <p:cNvPr id="1154" name="Google Shape;1154;g34155d50a00_0_274"/>
          <p:cNvSpPr txBox="1"/>
          <p:nvPr/>
        </p:nvSpPr>
        <p:spPr>
          <a:xfrm>
            <a:off x="5286600" y="221625"/>
            <a:ext cx="1618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Conclusiones</a:t>
            </a:r>
            <a:endParaRPr sz="1800">
              <a:solidFill>
                <a:schemeClr val="lt1"/>
              </a:solidFill>
              <a:latin typeface="Arial"/>
              <a:ea typeface="Arial"/>
              <a:cs typeface="Arial"/>
              <a:sym typeface="Arial"/>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158" name="Shape 1158"/>
        <p:cNvGrpSpPr/>
        <p:nvPr/>
      </p:nvGrpSpPr>
      <p:grpSpPr>
        <a:xfrm>
          <a:off x="0" y="0"/>
          <a:ext cx="0" cy="0"/>
          <a:chOff x="0" y="0"/>
          <a:chExt cx="0" cy="0"/>
        </a:xfrm>
      </p:grpSpPr>
      <p:sp>
        <p:nvSpPr>
          <p:cNvPr id="1159" name="Google Shape;1159;g34155d50a00_0_288"/>
          <p:cNvSpPr txBox="1"/>
          <p:nvPr/>
        </p:nvSpPr>
        <p:spPr>
          <a:xfrm>
            <a:off x="0" y="623400"/>
            <a:ext cx="12053100" cy="630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MX">
                <a:latin typeface="Calibri"/>
                <a:ea typeface="Calibri"/>
                <a:cs typeface="Calibri"/>
                <a:sym typeface="Calibri"/>
              </a:rPr>
              <a:t>El presente trabajo permitió realizar un análisis completo del sistema de control de un motor PMSM en un accionamiento de CA, desde el modelado matemático, pasando por el diseño y simulación del control, hasta la validación de la respuesta del sistema en diferentes.</a:t>
            </a:r>
            <a:endParaRPr>
              <a:latin typeface="Calibri"/>
              <a:ea typeface="Calibri"/>
              <a:cs typeface="Calibri"/>
              <a:sym typeface="Calibri"/>
            </a:endParaRPr>
          </a:p>
          <a:p>
            <a:pPr indent="0" lvl="0" marL="0" rtl="0" algn="l">
              <a:lnSpc>
                <a:spcPct val="115000"/>
              </a:lnSpc>
              <a:spcBef>
                <a:spcPts val="1200"/>
              </a:spcBef>
              <a:spcAft>
                <a:spcPts val="0"/>
              </a:spcAft>
              <a:buNone/>
            </a:pPr>
            <a:r>
              <a:rPr lang="es-MX">
                <a:latin typeface="Calibri"/>
                <a:ea typeface="Calibri"/>
                <a:cs typeface="Calibri"/>
                <a:sym typeface="Calibri"/>
              </a:rPr>
              <a:t>El control en cascada permite regular el sistema con un perfil de referencia deseado de forma precisa.</a:t>
            </a:r>
            <a:endParaRPr>
              <a:latin typeface="Calibri"/>
              <a:ea typeface="Calibri"/>
              <a:cs typeface="Calibri"/>
              <a:sym typeface="Calibri"/>
            </a:endParaRPr>
          </a:p>
          <a:p>
            <a:pPr indent="0" lvl="0" marL="0" rtl="0" algn="l">
              <a:lnSpc>
                <a:spcPct val="115000"/>
              </a:lnSpc>
              <a:spcBef>
                <a:spcPts val="1200"/>
              </a:spcBef>
              <a:spcAft>
                <a:spcPts val="0"/>
              </a:spcAft>
              <a:buNone/>
            </a:pPr>
            <a:r>
              <a:rPr lang="es-MX">
                <a:latin typeface="Calibri"/>
                <a:ea typeface="Calibri"/>
                <a:cs typeface="Calibri"/>
                <a:sym typeface="Calibri"/>
              </a:rPr>
              <a:t>Los resultados obtenidos confirman que la estrategia de control en cascada propuesta es eficaz.</a:t>
            </a:r>
            <a:endParaRPr>
              <a:latin typeface="Calibri"/>
              <a:ea typeface="Calibri"/>
              <a:cs typeface="Calibri"/>
              <a:sym typeface="Calibri"/>
            </a:endParaRPr>
          </a:p>
          <a:p>
            <a:pPr indent="0" lvl="0" marL="0" rtl="0" algn="l">
              <a:lnSpc>
                <a:spcPct val="115000"/>
              </a:lnSpc>
              <a:spcBef>
                <a:spcPts val="1200"/>
              </a:spcBef>
              <a:spcAft>
                <a:spcPts val="0"/>
              </a:spcAft>
              <a:buNone/>
            </a:pPr>
            <a:r>
              <a:rPr lang="es-MX">
                <a:latin typeface="Calibri"/>
                <a:ea typeface="Calibri"/>
                <a:cs typeface="Calibri"/>
                <a:sym typeface="Calibri"/>
              </a:rPr>
              <a:t>El observador de estados reemplaza con éxito el sensor físico de velocidad.</a:t>
            </a:r>
            <a:endParaRPr>
              <a:latin typeface="Calibri"/>
              <a:ea typeface="Calibri"/>
              <a:cs typeface="Calibri"/>
              <a:sym typeface="Calibri"/>
            </a:endParaRPr>
          </a:p>
          <a:p>
            <a:pPr indent="0" lvl="0" marL="0" rtl="0" algn="l">
              <a:lnSpc>
                <a:spcPct val="115000"/>
              </a:lnSpc>
              <a:spcBef>
                <a:spcPts val="1200"/>
              </a:spcBef>
              <a:spcAft>
                <a:spcPts val="0"/>
              </a:spcAft>
              <a:buNone/>
            </a:pPr>
            <a:r>
              <a:rPr lang="es-MX">
                <a:latin typeface="Calibri"/>
                <a:ea typeface="Calibri"/>
                <a:cs typeface="Calibri"/>
                <a:sym typeface="Calibri"/>
              </a:rPr>
              <a:t>El rechazo de perturbaciones es efectivo, eliminando variaciones de carga.</a:t>
            </a:r>
            <a:endParaRPr>
              <a:latin typeface="Calibri"/>
              <a:ea typeface="Calibri"/>
              <a:cs typeface="Calibri"/>
              <a:sym typeface="Calibri"/>
            </a:endParaRPr>
          </a:p>
          <a:p>
            <a:pPr indent="0" lvl="0" marL="0" rtl="0" algn="l">
              <a:lnSpc>
                <a:spcPct val="115000"/>
              </a:lnSpc>
              <a:spcBef>
                <a:spcPts val="1200"/>
              </a:spcBef>
              <a:spcAft>
                <a:spcPts val="0"/>
              </a:spcAft>
              <a:buNone/>
            </a:pPr>
            <a:r>
              <a:rPr lang="es-MX">
                <a:latin typeface="Calibri"/>
                <a:ea typeface="Calibri"/>
                <a:cs typeface="Calibri"/>
                <a:sym typeface="Calibri"/>
              </a:rPr>
              <a:t>El sistema controlado es estable y robusto frente a perturbaciones externas.</a:t>
            </a:r>
            <a:endParaRPr>
              <a:latin typeface="Calibri"/>
              <a:ea typeface="Calibri"/>
              <a:cs typeface="Calibri"/>
              <a:sym typeface="Calibri"/>
            </a:endParaRPr>
          </a:p>
          <a:p>
            <a:pPr indent="0" lvl="0" marL="0" rtl="0" algn="l">
              <a:lnSpc>
                <a:spcPct val="115000"/>
              </a:lnSpc>
              <a:spcBef>
                <a:spcPts val="1200"/>
              </a:spcBef>
              <a:spcAft>
                <a:spcPts val="0"/>
              </a:spcAft>
              <a:buNone/>
            </a:pPr>
            <a:r>
              <a:rPr lang="es-MX">
                <a:latin typeface="Calibri"/>
                <a:ea typeface="Calibri"/>
                <a:cs typeface="Calibri"/>
                <a:sym typeface="Calibri"/>
              </a:rPr>
              <a:t>Tiene un control preciso de velocidad y posición con tiempos de establecimiento reducidos (dinámica rápida, y con ello rápida respuesta).</a:t>
            </a:r>
            <a:endParaRPr>
              <a:latin typeface="Calibri"/>
              <a:ea typeface="Calibri"/>
              <a:cs typeface="Calibri"/>
              <a:sym typeface="Calibri"/>
            </a:endParaRPr>
          </a:p>
          <a:p>
            <a:pPr indent="0" lvl="0" marL="0" rtl="0" algn="l">
              <a:lnSpc>
                <a:spcPct val="115000"/>
              </a:lnSpc>
              <a:spcBef>
                <a:spcPts val="1200"/>
              </a:spcBef>
              <a:spcAft>
                <a:spcPts val="0"/>
              </a:spcAft>
              <a:buNone/>
            </a:pPr>
            <a:r>
              <a:rPr lang="es-MX">
                <a:latin typeface="Calibri"/>
                <a:ea typeface="Calibri"/>
                <a:cs typeface="Calibri"/>
                <a:sym typeface="Calibri"/>
              </a:rPr>
              <a:t>Se garantiza la eliminación del error en estado estacionario gracias al uso de controladores integrales (agregado de acción integral).</a:t>
            </a:r>
            <a:endParaRPr>
              <a:latin typeface="Calibri"/>
              <a:ea typeface="Calibri"/>
              <a:cs typeface="Calibri"/>
              <a:sym typeface="Calibri"/>
            </a:endParaRPr>
          </a:p>
          <a:p>
            <a:pPr indent="0" lvl="0" marL="0" rtl="0" algn="l">
              <a:lnSpc>
                <a:spcPct val="115000"/>
              </a:lnSpc>
              <a:spcBef>
                <a:spcPts val="1200"/>
              </a:spcBef>
              <a:spcAft>
                <a:spcPts val="0"/>
              </a:spcAft>
              <a:buNone/>
            </a:pPr>
            <a:r>
              <a:rPr lang="es-MX">
                <a:latin typeface="Calibri"/>
                <a:ea typeface="Calibri"/>
                <a:cs typeface="Calibri"/>
                <a:sym typeface="Calibri"/>
              </a:rPr>
              <a:t>Se garantiza la viabilidad de la implementación digital, con la posibilidad de trasladar el modelo a hardware embebido para futuras aplicaciones de control de motor PMSM con raspberry pi o arduino por ejemplo.</a:t>
            </a:r>
            <a:endParaRPr>
              <a:latin typeface="Calibri"/>
              <a:ea typeface="Calibri"/>
              <a:cs typeface="Calibri"/>
              <a:sym typeface="Calibri"/>
            </a:endParaRPr>
          </a:p>
          <a:p>
            <a:pPr indent="0" lvl="0" marL="0" rtl="0" algn="l">
              <a:lnSpc>
                <a:spcPct val="115000"/>
              </a:lnSpc>
              <a:spcBef>
                <a:spcPts val="1200"/>
              </a:spcBef>
              <a:spcAft>
                <a:spcPts val="0"/>
              </a:spcAft>
              <a:buNone/>
            </a:pPr>
            <a:r>
              <a:rPr lang="es-MX">
                <a:latin typeface="Calibri"/>
                <a:ea typeface="Calibri"/>
                <a:cs typeface="Calibri"/>
                <a:sym typeface="Calibri"/>
              </a:rPr>
              <a:t>El desarrollo de este proyecto representa un avance en el diseño de sistemas de control avanzados para motores PMSM, con aplicaciones en diversas áreas de la industria y la tecnología. </a:t>
            </a:r>
            <a:endParaRPr>
              <a:latin typeface="Calibri"/>
              <a:ea typeface="Calibri"/>
              <a:cs typeface="Calibri"/>
              <a:sym typeface="Calibri"/>
            </a:endParaRPr>
          </a:p>
          <a:p>
            <a:pPr indent="0" lvl="0" marL="0" rtl="0" algn="l">
              <a:lnSpc>
                <a:spcPct val="115000"/>
              </a:lnSpc>
              <a:spcBef>
                <a:spcPts val="1200"/>
              </a:spcBef>
              <a:spcAft>
                <a:spcPts val="0"/>
              </a:spcAft>
              <a:buNone/>
            </a:pPr>
            <a:r>
              <a:rPr lang="es-MX">
                <a:latin typeface="Calibri"/>
                <a:ea typeface="Calibri"/>
                <a:cs typeface="Calibri"/>
                <a:sym typeface="Calibri"/>
              </a:rPr>
              <a:t>La implementación de futuras mejoras y la optimización del control permitirán continuar explorando nuevas estrategias para mejorar la eficiencia y el desempeño del sistema.</a:t>
            </a:r>
            <a:endParaRPr>
              <a:latin typeface="Calibri"/>
              <a:ea typeface="Calibri"/>
              <a:cs typeface="Calibri"/>
              <a:sym typeface="Calibri"/>
            </a:endParaRPr>
          </a:p>
          <a:p>
            <a:pPr indent="0" lvl="0" marL="0" rtl="0" algn="l">
              <a:lnSpc>
                <a:spcPct val="115000"/>
              </a:lnSpc>
              <a:spcBef>
                <a:spcPts val="1200"/>
              </a:spcBef>
              <a:spcAft>
                <a:spcPts val="1200"/>
              </a:spcAft>
              <a:buNone/>
            </a:pPr>
            <a:r>
              <a:rPr lang="es-MX">
                <a:latin typeface="Calibri"/>
                <a:ea typeface="Calibri"/>
                <a:cs typeface="Calibri"/>
                <a:sym typeface="Calibri"/>
              </a:rPr>
              <a:t>Este informe detalla de manera completa el diseño, implementación y análisis del sistema de control para un accionamiento de CA con motor PMSM, abarcando desde el modelado hasta la evaluación de resultados en simulación. Con las mejoras sugeridas, se podrá avanzar en la implementación en hardware real y en la optimización de los algoritmos de control.</a:t>
            </a:r>
            <a:endParaRPr>
              <a:latin typeface="Calibri"/>
              <a:ea typeface="Calibri"/>
              <a:cs typeface="Calibri"/>
              <a:sym typeface="Calibri"/>
            </a:endParaRPr>
          </a:p>
        </p:txBody>
      </p:sp>
      <p:sp>
        <p:nvSpPr>
          <p:cNvPr id="1160" name="Google Shape;1160;g34155d50a00_0_288"/>
          <p:cNvSpPr txBox="1"/>
          <p:nvPr/>
        </p:nvSpPr>
        <p:spPr>
          <a:xfrm>
            <a:off x="5185350" y="149375"/>
            <a:ext cx="1821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Conclusión final</a:t>
            </a:r>
            <a:endParaRPr sz="1800">
              <a:solidFill>
                <a:schemeClr val="lt1"/>
              </a:solidFill>
              <a:latin typeface="Arial"/>
              <a:ea typeface="Arial"/>
              <a:cs typeface="Arial"/>
              <a:sym typeface="Arial"/>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164" name="Shape 1164"/>
        <p:cNvGrpSpPr/>
        <p:nvPr/>
      </p:nvGrpSpPr>
      <p:grpSpPr>
        <a:xfrm>
          <a:off x="0" y="0"/>
          <a:ext cx="0" cy="0"/>
          <a:chOff x="0" y="0"/>
          <a:chExt cx="0" cy="0"/>
        </a:xfrm>
      </p:grpSpPr>
      <p:sp>
        <p:nvSpPr>
          <p:cNvPr id="1165" name="Google Shape;1165;g34155d50a00_0_279"/>
          <p:cNvSpPr txBox="1"/>
          <p:nvPr/>
        </p:nvSpPr>
        <p:spPr>
          <a:xfrm>
            <a:off x="0" y="429725"/>
            <a:ext cx="11825400" cy="705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MX" sz="1500">
                <a:latin typeface="Calibri"/>
                <a:ea typeface="Calibri"/>
                <a:cs typeface="Calibri"/>
                <a:sym typeface="Calibri"/>
              </a:rPr>
              <a:t>Si bien los resultados obtenidos son satisfactorios, existen diversas mejoras que pueden realizarse para optimizar aún más el desempeño del sistema:</a:t>
            </a:r>
            <a:endParaRPr sz="1500">
              <a:latin typeface="Calibri"/>
              <a:ea typeface="Calibri"/>
              <a:cs typeface="Calibri"/>
              <a:sym typeface="Calibri"/>
            </a:endParaRPr>
          </a:p>
          <a:p>
            <a:pPr indent="-323850" lvl="0" marL="457200" rtl="0" algn="l">
              <a:lnSpc>
                <a:spcPct val="115000"/>
              </a:lnSpc>
              <a:spcBef>
                <a:spcPts val="1200"/>
              </a:spcBef>
              <a:spcAft>
                <a:spcPts val="0"/>
              </a:spcAft>
              <a:buSzPts val="1500"/>
              <a:buFont typeface="Calibri"/>
              <a:buChar char="●"/>
            </a:pPr>
            <a:r>
              <a:rPr lang="es-MX" sz="1500">
                <a:latin typeface="Calibri"/>
                <a:ea typeface="Calibri"/>
                <a:cs typeface="Calibri"/>
                <a:sym typeface="Calibri"/>
              </a:rPr>
              <a:t>Se podría utilizar un motor de mayor potencia, ya que inclusive para el caso cuando ml = 0 kg, el motor trabaja cerca de la corriente nominal, y cuando ml = 1.5 kg, se la supera, pero </a:t>
            </a:r>
            <a:r>
              <a:rPr lang="es-MX" sz="1500">
                <a:latin typeface="Calibri"/>
                <a:ea typeface="Calibri"/>
                <a:cs typeface="Calibri"/>
                <a:sym typeface="Calibri"/>
              </a:rPr>
              <a:t>manteniéndose</a:t>
            </a:r>
            <a:r>
              <a:rPr lang="es-MX" sz="1500">
                <a:latin typeface="Calibri"/>
                <a:ea typeface="Calibri"/>
                <a:cs typeface="Calibri"/>
                <a:sym typeface="Calibri"/>
              </a:rPr>
              <a:t> por debajo del valor máximo.</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Se podría implementar un algoritmo de ajuste automático de los parámetros PID/PI para mejorar la respuesta en diferentes condiciones de carga.</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Se recomienda trasladar la simulación a una implementación práctica en una plataforma de control embebido, como un microcontrolador DSP o FPGA, que permita verificar la viabilidad del control en tiempo real.</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Explorar el uso de control basado en modelos predictivos (MPC) para mejorar la respuesta en presencia de restricciones y perturbaciones más complejas.</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A</a:t>
            </a:r>
            <a:r>
              <a:rPr lang="es-MX" sz="1500">
                <a:latin typeface="Calibri"/>
                <a:ea typeface="Calibri"/>
                <a:cs typeface="Calibri"/>
                <a:sym typeface="Calibri"/>
              </a:rPr>
              <a:t>mpliar el análisis para considerar condiciones de carga más complejas, como cargas tipo rampa, parábolas o sinusoidales con armónicos. O incluso también con saltos bruscos en la referencia de velocidad, ya que en la realidad se pueden llegar a dar situaciones donde sea estrictamente necesario seguir un perfil con cambios bruscos</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Análisis control / regulación de temperatura y eficiencia energética: Se podría evaluar el impacto de agregar un enfriador, ventilador o disipadores de calor para refrigerar el sistema si este toma temperaturas altas (aplicaciones en motores de alta potencia), para evitar sobrecalentamiento y no sobrepasar los límites operativos si estos son más exigentes (por ejemplo 50°C). Además, con esta nueva implementación, se podría disminuir el valor de la resistencia estatórica variable con la temperatura para aumentar la eficiencia y rendimiento del motor al bajar las pérdidas por efecto Joule. Entonces, pensado en futuras mejoras, podría integrarse un modelo térmico más avanzado que prediga el calentamiento en función de la corriente y que optimice la disipación de calor.</a:t>
            </a:r>
            <a:endParaRPr sz="1500">
              <a:latin typeface="Calibri"/>
              <a:ea typeface="Calibri"/>
              <a:cs typeface="Calibri"/>
              <a:sym typeface="Calibri"/>
            </a:endParaRPr>
          </a:p>
          <a:p>
            <a:pPr indent="-323850" lvl="0" marL="457200" rtl="0" algn="l">
              <a:lnSpc>
                <a:spcPct val="115000"/>
              </a:lnSpc>
              <a:spcBef>
                <a:spcPts val="0"/>
              </a:spcBef>
              <a:spcAft>
                <a:spcPts val="0"/>
              </a:spcAft>
              <a:buSzPts val="1500"/>
              <a:buFont typeface="Calibri"/>
              <a:buChar char="●"/>
            </a:pPr>
            <a:r>
              <a:rPr lang="es-MX" sz="1500">
                <a:latin typeface="Calibri"/>
                <a:ea typeface="Calibri"/>
                <a:cs typeface="Calibri"/>
                <a:sym typeface="Calibri"/>
              </a:rPr>
              <a:t>También se podría evaluar el impacto del control en el consumo de energía del sistema y potencia entregada para así optimizar estrategias de control para mejorar la eficiencia.</a:t>
            </a:r>
            <a:endParaRPr sz="1700"/>
          </a:p>
          <a:p>
            <a:pPr indent="0" lvl="0" marL="0" rtl="0" algn="l">
              <a:lnSpc>
                <a:spcPct val="115000"/>
              </a:lnSpc>
              <a:spcBef>
                <a:spcPts val="1200"/>
              </a:spcBef>
              <a:spcAft>
                <a:spcPts val="0"/>
              </a:spcAft>
              <a:buNone/>
            </a:pPr>
            <a:r>
              <a:t/>
            </a:r>
            <a:endParaRPr sz="1500">
              <a:latin typeface="Calibri"/>
              <a:ea typeface="Calibri"/>
              <a:cs typeface="Calibri"/>
              <a:sym typeface="Calibri"/>
            </a:endParaRPr>
          </a:p>
          <a:p>
            <a:pPr indent="0" lvl="0" marL="0" rtl="0" algn="l">
              <a:lnSpc>
                <a:spcPct val="115000"/>
              </a:lnSpc>
              <a:spcBef>
                <a:spcPts val="1200"/>
              </a:spcBef>
              <a:spcAft>
                <a:spcPts val="0"/>
              </a:spcAft>
              <a:buNone/>
            </a:pPr>
            <a:r>
              <a:t/>
            </a:r>
            <a:endParaRPr sz="1500">
              <a:latin typeface="Calibri"/>
              <a:ea typeface="Calibri"/>
              <a:cs typeface="Calibri"/>
              <a:sym typeface="Calibri"/>
            </a:endParaRPr>
          </a:p>
          <a:p>
            <a:pPr indent="0" lvl="0" marL="0" rtl="0" algn="l">
              <a:spcBef>
                <a:spcPts val="1200"/>
              </a:spcBef>
              <a:spcAft>
                <a:spcPts val="0"/>
              </a:spcAft>
              <a:buNone/>
            </a:pPr>
            <a:r>
              <a:t/>
            </a:r>
            <a:endParaRPr sz="2700">
              <a:solidFill>
                <a:schemeClr val="dk1"/>
              </a:solidFill>
              <a:latin typeface="Lato"/>
              <a:ea typeface="Lato"/>
              <a:cs typeface="Lato"/>
              <a:sym typeface="Lato"/>
            </a:endParaRPr>
          </a:p>
        </p:txBody>
      </p:sp>
      <p:sp>
        <p:nvSpPr>
          <p:cNvPr id="1166" name="Google Shape;1166;g34155d50a00_0_279"/>
          <p:cNvSpPr txBox="1"/>
          <p:nvPr/>
        </p:nvSpPr>
        <p:spPr>
          <a:xfrm>
            <a:off x="4691250" y="123000"/>
            <a:ext cx="2809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1800">
                <a:latin typeface="Cambria Math"/>
                <a:ea typeface="Cambria Math"/>
                <a:cs typeface="Cambria Math"/>
                <a:sym typeface="Cambria Math"/>
              </a:rPr>
              <a:t>Recomendaciones futuras</a:t>
            </a:r>
            <a:endParaRPr sz="1800">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ue &amp; Gold">
  <a:themeElements>
    <a:clrScheme name="Blue &amp; Gold">
      <a:dk1>
        <a:srgbClr val="FFFFFF"/>
      </a:dk1>
      <a:lt1>
        <a:srgbClr val="01AFD1"/>
      </a:lt1>
      <a:dk2>
        <a:srgbClr val="1E2D31"/>
      </a:dk2>
      <a:lt2>
        <a:srgbClr val="BFC7CA"/>
      </a:lt2>
      <a:accent1>
        <a:srgbClr val="006F85"/>
      </a:accent1>
      <a:accent2>
        <a:srgbClr val="AF4345"/>
      </a:accent2>
      <a:accent3>
        <a:srgbClr val="47D06A"/>
      </a:accent3>
      <a:accent4>
        <a:srgbClr val="F58F8F"/>
      </a:accent4>
      <a:accent5>
        <a:srgbClr val="F6CD4C"/>
      </a:accent5>
      <a:accent6>
        <a:srgbClr val="F8E71C"/>
      </a:accent6>
      <a:hlink>
        <a:srgbClr val="F6CD4C"/>
      </a:hlink>
      <a:folHlink>
        <a:srgbClr val="F6CD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2025-03-17T01:08:50Z</dcterms:created>
  <dc:creator>Gustavo</dc:creator>
</cp:coreProperties>
</file>